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4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5.xml" ContentType="application/vnd.openxmlformats-officedocument.presentationml.notesSlide+xml"/>
  <Override PartName="/ppt/tags/tag63.xml" ContentType="application/vnd.openxmlformats-officedocument.presentationml.tags+xml"/>
  <Override PartName="/ppt/notesSlides/notesSlide6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147477714" r:id="rId3"/>
    <p:sldId id="2147477719" r:id="rId4"/>
    <p:sldId id="2147477725" r:id="rId5"/>
    <p:sldId id="2147477727" r:id="rId6"/>
    <p:sldId id="2147477637" r:id="rId7"/>
    <p:sldId id="2147477614" r:id="rId8"/>
    <p:sldId id="2147477724" r:id="rId9"/>
    <p:sldId id="2147477726" r:id="rId10"/>
    <p:sldId id="2147477715" r:id="rId11"/>
    <p:sldId id="2147477728" r:id="rId12"/>
    <p:sldId id="2147477716" r:id="rId13"/>
    <p:sldId id="2147477723" r:id="rId14"/>
    <p:sldId id="2147477846" r:id="rId15"/>
    <p:sldId id="2147477717" r:id="rId16"/>
    <p:sldId id="2147477845" r:id="rId17"/>
    <p:sldId id="2147477844" r:id="rId18"/>
    <p:sldId id="2147477848" r:id="rId19"/>
    <p:sldId id="2147477850" r:id="rId20"/>
    <p:sldId id="2147477847" r:id="rId21"/>
    <p:sldId id="2147477700" r:id="rId22"/>
  </p:sldIdLst>
  <p:sldSz cx="12192000" cy="6858000"/>
  <p:notesSz cx="7102475" cy="9388475"/>
  <p:embeddedFontLs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Hammersmith One" panose="02010703030501060504" pitchFamily="2" charset="0"/>
      <p:regular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Quattrocento Sans" panose="020B0502050000020003" pitchFamily="34" charset="0"/>
      <p:regular r:id="rId33"/>
      <p:bold r:id="rId34"/>
      <p:italic r:id="rId35"/>
      <p:boldItalic r:id="rId36"/>
    </p:embeddedFont>
  </p:embeddedFontLst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Frontmatter" id="{E6A41653-B5F3-4257-B94E-8CC2B4E2EF0A}">
          <p14:sldIdLst>
            <p14:sldId id="256"/>
          </p14:sldIdLst>
        </p14:section>
        <p14:section name="Introdução do Instituto Reditus&#10;" id="{A37643A1-9A99-4BC6-9713-31034D08CCFD}">
          <p14:sldIdLst>
            <p14:sldId id="2147477714"/>
            <p14:sldId id="2147477719"/>
            <p14:sldId id="2147477725"/>
            <p14:sldId id="2147477727"/>
            <p14:sldId id="2147477637"/>
            <p14:sldId id="2147477614"/>
            <p14:sldId id="2147477724"/>
            <p14:sldId id="2147477726"/>
          </p14:sldIdLst>
        </p14:section>
        <p14:section name="Painel | Projetos apoiados&#10;" id="{5486177C-67CC-4FAF-8DC1-31486FF96A49}">
          <p14:sldIdLst>
            <p14:sldId id="2147477715"/>
            <p14:sldId id="2147477728"/>
          </p14:sldIdLst>
        </p14:section>
        <p14:section name="Painel | Guilherme Benchimol" id="{11BA1B06-54D0-4BB0-9008-801DB9C40046}">
          <p14:sldIdLst>
            <p14:sldId id="2147477716"/>
            <p14:sldId id="2147477723"/>
            <p14:sldId id="2147477846"/>
            <p14:sldId id="2147477717"/>
          </p14:sldIdLst>
        </p14:section>
        <p14:section name="Sobre Mes de Doar em si" id="{D8F81391-3B0F-4EA1-AD92-2B73E0CF921C}">
          <p14:sldIdLst>
            <p14:sldId id="2147477845"/>
            <p14:sldId id="2147477844"/>
            <p14:sldId id="2147477848"/>
            <p14:sldId id="2147477850"/>
            <p14:sldId id="2147477847"/>
            <p14:sldId id="2147477700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9" roundtripDataSignature="AMtx7mhbukWdAtafgicc9xJ3a7s1AdCL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B6F"/>
    <a:srgbClr val="0C172D"/>
    <a:srgbClr val="002060"/>
    <a:srgbClr val="0A182D"/>
    <a:srgbClr val="000000"/>
    <a:srgbClr val="051C2C"/>
    <a:srgbClr val="D6EBFA"/>
    <a:srgbClr val="F5F5F5"/>
    <a:srgbClr val="7F7F7F"/>
    <a:srgbClr val="205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744" autoAdjust="0"/>
  </p:normalViewPr>
  <p:slideViewPr>
    <p:cSldViewPr snapToGrid="0">
      <p:cViewPr>
        <p:scale>
          <a:sx n="81" d="100"/>
          <a:sy n="81" d="100"/>
        </p:scale>
        <p:origin x="-99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gs" Target="tags/tag1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5204678362573099E-2"/>
          <c:y val="2.7822364901016586E-2"/>
          <c:w val="0.96959064327485378"/>
          <c:h val="0.9443552701979668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C6-447F-A1BB-AA7A197B56C5}"/>
            </c:ext>
          </c:extLst>
        </c:ser>
        <c:ser>
          <c:idx val="2"/>
          <c:order val="1"/>
          <c:spPr>
            <a:solidFill>
              <a:schemeClr val="accent2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pattFill prst="pct10">
                <a:fgClr>
                  <a:schemeClr val="tx1"/>
                </a:fgClr>
                <a:bgClr>
                  <a:schemeClr val="bg1"/>
                </a:bgClr>
              </a:patt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9CC6-447F-A1BB-AA7A197B56C5}"/>
              </c:ext>
            </c:extLst>
          </c:dPt>
          <c:val>
            <c:numRef>
              <c:f>Sheet1!$A$3:$B$3</c:f>
              <c:numCache>
                <c:formatCode>General</c:formatCode>
                <c:ptCount val="2"/>
                <c:pt idx="0">
                  <c:v>0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C6-447F-A1BB-AA7A197B56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141810816"/>
        <c:axId val="1"/>
      </c:barChart>
      <c:catAx>
        <c:axId val="2141810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41810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47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0" tIns="47100" rIns="94225" bIns="471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47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14400" bIns="471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35013" y="563563"/>
            <a:ext cx="5632450" cy="3168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ftr" idx="11"/>
          </p:nvPr>
        </p:nvSpPr>
        <p:spPr>
          <a:xfrm>
            <a:off x="0" y="8917422"/>
            <a:ext cx="3077739" cy="47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0" tIns="47100" rIns="94225" bIns="471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14400" bIns="471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 txBox="1">
            <a:spLocks noGrp="1"/>
          </p:cNvSpPr>
          <p:nvPr>
            <p:ph type="body" idx="1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―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›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pt-BR"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4298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7C6E80C3-7FB4-EFF0-390D-F059E54B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6:notes">
            <a:extLst>
              <a:ext uri="{FF2B5EF4-FFF2-40B4-BE49-F238E27FC236}">
                <a16:creationId xmlns:a16="http://schemas.microsoft.com/office/drawing/2014/main" id="{3DDFD5D8-BA6F-D854-1858-DC32ABB26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pt-PT"/>
              <a:t>Levy – Chairman da Valid; Brito ABI; Pandolfi; Talita Amazon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pt-PT"/>
              <a:t>Spilberg – sócio do Bahia asset e criador da corrente que o raphael falou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pt-PT"/>
              <a:t>Raphael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pt-PT"/>
              <a:t>Paulo – bolsista da fundação estudar, fundador de uma startup que revolucionou como os alunos estudam pra calculo e física</a:t>
            </a:r>
            <a:endParaRPr/>
          </a:p>
          <a:p>
            <a:pPr marL="171450" lvl="0" indent="-952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pt-PT"/>
              <a:t>Natalie Witte – direito UFRJ – focada em direito empresarial pra empresas de tech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pt-PT"/>
              <a:t>Gabriela Sabino – ex-SPX, atualmente no Itaú</a:t>
            </a:r>
            <a:endParaRPr/>
          </a:p>
          <a:p>
            <a:pPr marL="171450" lvl="0" indent="-952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pt-PT"/>
              <a:t>Pedro – 3G radar, sócio fundador; Fernando Gonçalves Itau vinci jgp e Eduardo Cardoso Pactual e Vinland</a:t>
            </a:r>
            <a:endParaRPr/>
          </a:p>
          <a:p>
            <a:pPr marL="171450" lvl="0" indent="-952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89" name="Google Shape;489;p16:notes">
            <a:extLst>
              <a:ext uri="{FF2B5EF4-FFF2-40B4-BE49-F238E27FC236}">
                <a16:creationId xmlns:a16="http://schemas.microsoft.com/office/drawing/2014/main" id="{BBD9413D-DE1A-B79B-BB40-DB6A7A7665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3961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F20F-BDEA-5126-5AB3-B03E93D9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807D57-6CF1-FCE6-F0A5-12A4AF270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D490E4-DF8E-9B46-67A4-B4A3CAFB6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F68FBA-1882-C0B7-38E0-8D85207342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t>29 October 2026</a:t>
            </a:fld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393594-1BA0-B908-A376-2580B5943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24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>
          <a:extLst>
            <a:ext uri="{FF2B5EF4-FFF2-40B4-BE49-F238E27FC236}">
              <a16:creationId xmlns:a16="http://schemas.microsoft.com/office/drawing/2014/main" id="{FCB894BB-9F96-BA5E-73F3-C91A2596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5:notes">
            <a:extLst>
              <a:ext uri="{FF2B5EF4-FFF2-40B4-BE49-F238E27FC236}">
                <a16:creationId xmlns:a16="http://schemas.microsoft.com/office/drawing/2014/main" id="{AAEE3908-C615-0C9E-7274-D609CD02E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5:notes">
            <a:extLst>
              <a:ext uri="{FF2B5EF4-FFF2-40B4-BE49-F238E27FC236}">
                <a16:creationId xmlns:a16="http://schemas.microsoft.com/office/drawing/2014/main" id="{58618214-A7EE-8014-713B-25E1506FC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197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4D86653-86B6-6ED7-AC86-A442DD41E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250AFD19-DC02-E7A5-D9D8-98EDC39EC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59C8893B-1DE4-1AC8-B26E-B0FADB206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0161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3.png"/><Relationship Id="rId5" Type="http://schemas.openxmlformats.org/officeDocument/2006/relationships/tags" Target="../tags/tag7.xml"/><Relationship Id="rId10" Type="http://schemas.openxmlformats.org/officeDocument/2006/relationships/image" Target="../media/image5.emf"/><Relationship Id="rId4" Type="http://schemas.openxmlformats.org/officeDocument/2006/relationships/tags" Target="../tags/tag6.xml"/><Relationship Id="rId9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>
            <a:spLocks noGrp="1"/>
          </p:cNvSpPr>
          <p:nvPr>
            <p:ph type="body" idx="1"/>
          </p:nvPr>
        </p:nvSpPr>
        <p:spPr>
          <a:xfrm>
            <a:off x="554736" y="4510168"/>
            <a:ext cx="601675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sp>
        <p:nvSpPr>
          <p:cNvPr id="15" name="Google Shape;15;p36"/>
          <p:cNvSpPr txBox="1">
            <a:spLocks noGrp="1"/>
          </p:cNvSpPr>
          <p:nvPr>
            <p:ph type="subTitle" idx="2"/>
          </p:nvPr>
        </p:nvSpPr>
        <p:spPr>
          <a:xfrm>
            <a:off x="551942" y="4092559"/>
            <a:ext cx="60167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36"/>
          <p:cNvSpPr txBox="1">
            <a:spLocks noGrp="1"/>
          </p:cNvSpPr>
          <p:nvPr>
            <p:ph type="title"/>
          </p:nvPr>
        </p:nvSpPr>
        <p:spPr>
          <a:xfrm>
            <a:off x="551942" y="2049805"/>
            <a:ext cx="6016752" cy="1921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6"/>
          <p:cNvSpPr/>
          <p:nvPr/>
        </p:nvSpPr>
        <p:spPr>
          <a:xfrm>
            <a:off x="551942" y="6190488"/>
            <a:ext cx="411480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informações aqui tratadas são confidenciais, de uso exclusivo do Instituto Reditus e seus parceiros, e não podem ser compartilhadas sem autorização por escrito do Instituto Reditus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36"/>
          <p:cNvPicPr preferRelativeResize="0"/>
          <p:nvPr/>
        </p:nvPicPr>
        <p:blipFill rotWithShape="1">
          <a:blip r:embed="rId2">
            <a:alphaModFix/>
          </a:blip>
          <a:srcRect l="23759" r="17201" b="15314"/>
          <a:stretch/>
        </p:blipFill>
        <p:spPr>
          <a:xfrm>
            <a:off x="7844589" y="1504118"/>
            <a:ext cx="3049459" cy="4021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">
  <p:cSld name="1_Title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1"/>
          <p:cNvSpPr txBox="1">
            <a:spLocks noGrp="1"/>
          </p:cNvSpPr>
          <p:nvPr>
            <p:ph type="body" idx="1"/>
          </p:nvPr>
        </p:nvSpPr>
        <p:spPr>
          <a:xfrm>
            <a:off x="554736" y="3429000"/>
            <a:ext cx="601675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sp>
        <p:nvSpPr>
          <p:cNvPr id="41" name="Google Shape;41;p41"/>
          <p:cNvSpPr txBox="1">
            <a:spLocks noGrp="1"/>
          </p:cNvSpPr>
          <p:nvPr>
            <p:ph type="subTitle" idx="2"/>
          </p:nvPr>
        </p:nvSpPr>
        <p:spPr>
          <a:xfrm>
            <a:off x="551942" y="3011391"/>
            <a:ext cx="60167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title"/>
          </p:nvPr>
        </p:nvSpPr>
        <p:spPr>
          <a:xfrm>
            <a:off x="551942" y="968637"/>
            <a:ext cx="6016752" cy="1921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1"/>
          <p:cNvSpPr/>
          <p:nvPr/>
        </p:nvSpPr>
        <p:spPr>
          <a:xfrm>
            <a:off x="551942" y="6190488"/>
            <a:ext cx="411480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informações aqui tratadas são confidenciais, de uso exclusivo do Instituto Reditus e seus parceiros, e não podem ser compartilhadas sem autorização por escrito do Instituto Reditus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41"/>
          <p:cNvPicPr preferRelativeResize="0"/>
          <p:nvPr/>
        </p:nvPicPr>
        <p:blipFill rotWithShape="1">
          <a:blip r:embed="rId2">
            <a:alphaModFix/>
          </a:blip>
          <a:srcRect l="23759" r="17201" b="15314"/>
          <a:stretch/>
        </p:blipFill>
        <p:spPr>
          <a:xfrm>
            <a:off x="409431" y="3857823"/>
            <a:ext cx="1621083" cy="2137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 Left">
  <p:cSld name="Top Left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>
            <a:spLocks noGrp="1"/>
          </p:cNvSpPr>
          <p:nvPr>
            <p:ph type="title"/>
          </p:nvPr>
        </p:nvSpPr>
        <p:spPr>
          <a:xfrm>
            <a:off x="554736" y="1706563"/>
            <a:ext cx="3813048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body" idx="1"/>
          </p:nvPr>
        </p:nvSpPr>
        <p:spPr>
          <a:xfrm>
            <a:off x="7159752" y="78768"/>
            <a:ext cx="44805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794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Char char="​"/>
              <a:defRPr sz="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ftr" idx="11"/>
          </p:nvPr>
        </p:nvSpPr>
        <p:spPr>
          <a:xfrm>
            <a:off x="553974" y="6356350"/>
            <a:ext cx="110825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2"/>
          <p:cNvSpPr/>
          <p:nvPr/>
        </p:nvSpPr>
        <p:spPr>
          <a:xfrm>
            <a:off x="11312525" y="6498754"/>
            <a:ext cx="325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8721" y="6415802"/>
            <a:ext cx="493804" cy="23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3"/>
          <p:cNvSpPr txBox="1">
            <a:spLocks noGrp="1"/>
          </p:cNvSpPr>
          <p:nvPr>
            <p:ph type="title"/>
          </p:nvPr>
        </p:nvSpPr>
        <p:spPr>
          <a:xfrm>
            <a:off x="554736" y="4580468"/>
            <a:ext cx="1108252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body" idx="1"/>
          </p:nvPr>
        </p:nvSpPr>
        <p:spPr>
          <a:xfrm>
            <a:off x="7159752" y="78768"/>
            <a:ext cx="44805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794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Char char="​"/>
              <a:defRPr sz="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sp>
        <p:nvSpPr>
          <p:cNvPr id="54" name="Google Shape;54;p43"/>
          <p:cNvSpPr txBox="1">
            <a:spLocks noGrp="1"/>
          </p:cNvSpPr>
          <p:nvPr>
            <p:ph type="ftr" idx="11"/>
          </p:nvPr>
        </p:nvSpPr>
        <p:spPr>
          <a:xfrm>
            <a:off x="553974" y="6356350"/>
            <a:ext cx="110825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3"/>
          <p:cNvSpPr/>
          <p:nvPr/>
        </p:nvSpPr>
        <p:spPr>
          <a:xfrm>
            <a:off x="11312525" y="6498754"/>
            <a:ext cx="325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8721" y="6415802"/>
            <a:ext cx="493804" cy="23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4"/>
          <p:cNvSpPr txBox="1">
            <a:spLocks noGrp="1"/>
          </p:cNvSpPr>
          <p:nvPr>
            <p:ph type="title"/>
          </p:nvPr>
        </p:nvSpPr>
        <p:spPr>
          <a:xfrm>
            <a:off x="1505712" y="3592841"/>
            <a:ext cx="9180576" cy="48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subTitle" idx="1"/>
          </p:nvPr>
        </p:nvSpPr>
        <p:spPr>
          <a:xfrm>
            <a:off x="1505712" y="4284630"/>
            <a:ext cx="91805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body" idx="2"/>
          </p:nvPr>
        </p:nvSpPr>
        <p:spPr>
          <a:xfrm>
            <a:off x="7159752" y="78768"/>
            <a:ext cx="44805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794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Char char="​"/>
              <a:defRPr sz="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sp>
        <p:nvSpPr>
          <p:cNvPr id="61" name="Google Shape;61;p44"/>
          <p:cNvSpPr txBox="1">
            <a:spLocks noGrp="1"/>
          </p:cNvSpPr>
          <p:nvPr>
            <p:ph type="ftr" idx="11"/>
          </p:nvPr>
        </p:nvSpPr>
        <p:spPr>
          <a:xfrm>
            <a:off x="553974" y="6356350"/>
            <a:ext cx="110825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4"/>
          <p:cNvSpPr/>
          <p:nvPr/>
        </p:nvSpPr>
        <p:spPr>
          <a:xfrm>
            <a:off x="11312525" y="6498754"/>
            <a:ext cx="325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8721" y="6415802"/>
            <a:ext cx="493804" cy="23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4">
  <p:cSld name="1/4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/>
          <p:nvPr/>
        </p:nvSpPr>
        <p:spPr>
          <a:xfrm>
            <a:off x="3413760" y="0"/>
            <a:ext cx="877824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5"/>
          <p:cNvSpPr/>
          <p:nvPr/>
        </p:nvSpPr>
        <p:spPr>
          <a:xfrm>
            <a:off x="11312525" y="6498754"/>
            <a:ext cx="325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5"/>
          <p:cNvSpPr txBox="1"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5"/>
          <p:cNvSpPr txBox="1">
            <a:spLocks noGrp="1"/>
          </p:cNvSpPr>
          <p:nvPr>
            <p:ph type="subTitle" idx="1"/>
          </p:nvPr>
        </p:nvSpPr>
        <p:spPr>
          <a:xfrm>
            <a:off x="554736" y="3659644"/>
            <a:ext cx="2514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9" name="Google Shape;69;p45"/>
          <p:cNvSpPr txBox="1">
            <a:spLocks noGrp="1"/>
          </p:cNvSpPr>
          <p:nvPr>
            <p:ph type="body" idx="2"/>
          </p:nvPr>
        </p:nvSpPr>
        <p:spPr>
          <a:xfrm>
            <a:off x="7159752" y="78768"/>
            <a:ext cx="44805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794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Char char="​"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pic>
        <p:nvPicPr>
          <p:cNvPr id="70" name="Google Shape;70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8721" y="6415802"/>
            <a:ext cx="493804" cy="23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3">
  <p:cSld name="1/3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6"/>
          <p:cNvSpPr/>
          <p:nvPr/>
        </p:nvSpPr>
        <p:spPr>
          <a:xfrm>
            <a:off x="4364736" y="0"/>
            <a:ext cx="782726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0F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6"/>
          <p:cNvSpPr/>
          <p:nvPr/>
        </p:nvSpPr>
        <p:spPr>
          <a:xfrm>
            <a:off x="11312525" y="6498754"/>
            <a:ext cx="325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6"/>
          <p:cNvSpPr txBox="1"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6"/>
          <p:cNvSpPr txBox="1"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6" name="Google Shape;76;p46"/>
          <p:cNvSpPr txBox="1">
            <a:spLocks noGrp="1"/>
          </p:cNvSpPr>
          <p:nvPr>
            <p:ph type="body" idx="2"/>
          </p:nvPr>
        </p:nvSpPr>
        <p:spPr>
          <a:xfrm>
            <a:off x="7159752" y="78768"/>
            <a:ext cx="44805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794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Char char="​"/>
              <a:defRPr sz="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pic>
        <p:nvPicPr>
          <p:cNvPr id="77" name="Google Shape;7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8721" y="6415802"/>
            <a:ext cx="493804" cy="23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2">
  <p:cSld name="1/2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/>
          <p:nvPr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0F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7"/>
          <p:cNvSpPr/>
          <p:nvPr/>
        </p:nvSpPr>
        <p:spPr>
          <a:xfrm>
            <a:off x="11312525" y="6498754"/>
            <a:ext cx="325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47"/>
          <p:cNvCxnSpPr/>
          <p:nvPr/>
        </p:nvCxnSpPr>
        <p:spPr>
          <a:xfrm>
            <a:off x="554736" y="1181906"/>
            <a:ext cx="506577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" name="Google Shape;82;p47"/>
          <p:cNvSpPr txBox="1">
            <a:spLocks noGrp="1"/>
          </p:cNvSpPr>
          <p:nvPr>
            <p:ph type="body" idx="1"/>
          </p:nvPr>
        </p:nvSpPr>
        <p:spPr>
          <a:xfrm>
            <a:off x="7159752" y="78768"/>
            <a:ext cx="44805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794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Char char="​"/>
              <a:defRPr sz="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sp>
        <p:nvSpPr>
          <p:cNvPr id="83" name="Google Shape;83;p47"/>
          <p:cNvSpPr txBox="1">
            <a:spLocks noGrp="1"/>
          </p:cNvSpPr>
          <p:nvPr>
            <p:ph type="title"/>
          </p:nvPr>
        </p:nvSpPr>
        <p:spPr>
          <a:xfrm>
            <a:off x="554736" y="182372"/>
            <a:ext cx="506577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7"/>
          <p:cNvSpPr txBox="1">
            <a:spLocks noGrp="1"/>
          </p:cNvSpPr>
          <p:nvPr>
            <p:ph type="subTitle" idx="2"/>
          </p:nvPr>
        </p:nvSpPr>
        <p:spPr>
          <a:xfrm>
            <a:off x="554736" y="903861"/>
            <a:ext cx="50657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pic>
        <p:nvPicPr>
          <p:cNvPr id="85" name="Google Shape;85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8721" y="6415802"/>
            <a:ext cx="493804" cy="23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/3">
  <p:cSld name="2/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8"/>
          <p:cNvSpPr/>
          <p:nvPr/>
        </p:nvSpPr>
        <p:spPr>
          <a:xfrm>
            <a:off x="7830312" y="0"/>
            <a:ext cx="436168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0F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8"/>
          <p:cNvSpPr/>
          <p:nvPr/>
        </p:nvSpPr>
        <p:spPr>
          <a:xfrm>
            <a:off x="11312525" y="6498754"/>
            <a:ext cx="325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48"/>
          <p:cNvCxnSpPr/>
          <p:nvPr/>
        </p:nvCxnSpPr>
        <p:spPr>
          <a:xfrm>
            <a:off x="554736" y="1181906"/>
            <a:ext cx="696772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0" name="Google Shape;90;p48"/>
          <p:cNvSpPr txBox="1">
            <a:spLocks noGrp="1"/>
          </p:cNvSpPr>
          <p:nvPr>
            <p:ph type="title"/>
          </p:nvPr>
        </p:nvSpPr>
        <p:spPr>
          <a:xfrm>
            <a:off x="554736" y="182372"/>
            <a:ext cx="69677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8"/>
          <p:cNvSpPr txBox="1">
            <a:spLocks noGrp="1"/>
          </p:cNvSpPr>
          <p:nvPr>
            <p:ph type="subTitle" idx="1"/>
          </p:nvPr>
        </p:nvSpPr>
        <p:spPr>
          <a:xfrm>
            <a:off x="554736" y="903861"/>
            <a:ext cx="69677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sp>
        <p:nvSpPr>
          <p:cNvPr id="92" name="Google Shape;92;p48"/>
          <p:cNvSpPr txBox="1">
            <a:spLocks noGrp="1"/>
          </p:cNvSpPr>
          <p:nvPr>
            <p:ph type="body" idx="2"/>
          </p:nvPr>
        </p:nvSpPr>
        <p:spPr>
          <a:xfrm>
            <a:off x="8173370" y="78768"/>
            <a:ext cx="346694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794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Char char="​"/>
              <a:defRPr sz="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pic>
        <p:nvPicPr>
          <p:cNvPr id="93" name="Google Shape;9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8721" y="6415802"/>
            <a:ext cx="493804" cy="23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-line">
  <p:cSld name="3-lin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9"/>
          <p:cNvSpPr/>
          <p:nvPr/>
        </p:nvSpPr>
        <p:spPr>
          <a:xfrm>
            <a:off x="11312525" y="6498754"/>
            <a:ext cx="325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9"/>
          <p:cNvSpPr txBox="1">
            <a:spLocks noGrp="1"/>
          </p:cNvSpPr>
          <p:nvPr>
            <p:ph type="title"/>
          </p:nvPr>
        </p:nvSpPr>
        <p:spPr>
          <a:xfrm>
            <a:off x="554736" y="175171"/>
            <a:ext cx="11082528" cy="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9"/>
          <p:cNvSpPr txBox="1">
            <a:spLocks noGrp="1"/>
          </p:cNvSpPr>
          <p:nvPr>
            <p:ph type="body" idx="1"/>
          </p:nvPr>
        </p:nvSpPr>
        <p:spPr>
          <a:xfrm>
            <a:off x="7159752" y="78768"/>
            <a:ext cx="44805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794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Char char="​"/>
              <a:defRPr sz="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▫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Char char="▫"/>
              <a:defRPr/>
            </a:lvl9pPr>
          </a:lstStyle>
          <a:p>
            <a:endParaRPr/>
          </a:p>
        </p:txBody>
      </p:sp>
      <p:pic>
        <p:nvPicPr>
          <p:cNvPr id="98" name="Google Shape;98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8721" y="6415802"/>
            <a:ext cx="493804" cy="23083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9"/>
          <p:cNvSpPr txBox="1">
            <a:spLocks noGrp="1"/>
          </p:cNvSpPr>
          <p:nvPr>
            <p:ph type="ftr" idx="11"/>
          </p:nvPr>
        </p:nvSpPr>
        <p:spPr>
          <a:xfrm>
            <a:off x="553974" y="6356350"/>
            <a:ext cx="110825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0" imgH="0" progId="TCLayout.ActiveDocument.1">
                  <p:embed/>
                </p:oleObj>
              </mc:Choice>
              <mc:Fallback>
                <p:oleObj name="thinkcell Slide" r:id="rId9" imgW="0" imgH="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SzTx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SzTx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SzTx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SzTx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SzTx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5B03CA-7464-B033-3A58-308E4B25211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53974" y="6356350"/>
            <a:ext cx="11082528" cy="365125"/>
          </a:xfrm>
        </p:spPr>
        <p:txBody>
          <a:bodyPr anchor="b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>
                <a:ea typeface="Open Sans" pitchFamily="2" charset="0"/>
                <a:cs typeface="Arial" panose="020B0604020202020204" pitchFamily="34" charset="0"/>
              </a:rPr>
              <a:t>As informações aqui tratadas são confidenciais, de uso exclusivo do Instituto Reditus e seus parceiros, e não podem ser compartilhadas sem autorização por escrito do Instituto Reditus.</a:t>
            </a:r>
            <a:endParaRPr lang="pt-BR" sz="80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B9EDD4D-F91E-320E-B5F3-EE21FD3698CF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ct val="0"/>
              </a:spcBef>
              <a:spcAft>
                <a:spcPct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Picture 17">
            <a:extLst>
              <a:ext uri="{FF2B5EF4-FFF2-40B4-BE49-F238E27FC236}">
                <a16:creationId xmlns:a16="http://schemas.microsoft.com/office/drawing/2014/main" id="{4DAD4DC7-3A87-8083-8AC3-88F46886BA4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721" y="6415802"/>
            <a:ext cx="493804" cy="23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0007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831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478632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938BEC4-DFE1-0CDD-4874-CB10E6D86A9C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661066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6" imgW="425" imgH="424" progId="TCLayout.ActiveDocument.1">
                  <p:embed/>
                </p:oleObj>
              </mc:Choice>
              <mc:Fallback>
                <p:oleObj name="thinkcell Slide" r:id="rId16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38BEC4-DFE1-0CDD-4874-CB10E6D86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554736" y="172212"/>
            <a:ext cx="110825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2" orient="horz" pos="3912">
          <p15:clr>
            <a:srgbClr val="5ACBF0"/>
          </p15:clr>
        </p15:guide>
        <p15:guide id="3" orient="horz" pos="1075">
          <p15:clr>
            <a:srgbClr val="F26B43"/>
          </p15:clr>
        </p15:guide>
        <p15:guide id="4" pos="7329">
          <p15:clr>
            <a:srgbClr val="F26B43"/>
          </p15:clr>
        </p15:guide>
        <p15:guide id="5" pos="345">
          <p15:clr>
            <a:srgbClr val="F26B43"/>
          </p15:clr>
        </p15:guide>
        <p15:guide id="6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chart" Target="../charts/chart1.xml"/><Relationship Id="rId39" Type="http://schemas.openxmlformats.org/officeDocument/2006/relationships/image" Target="../media/image19.svg"/><Relationship Id="rId21" Type="http://schemas.openxmlformats.org/officeDocument/2006/relationships/tags" Target="../tags/tag32.xml"/><Relationship Id="rId34" Type="http://schemas.openxmlformats.org/officeDocument/2006/relationships/image" Target="../media/image14.png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image" Target="../media/image6.emf"/><Relationship Id="rId33" Type="http://schemas.openxmlformats.org/officeDocument/2006/relationships/image" Target="../media/image13.svg"/><Relationship Id="rId38" Type="http://schemas.openxmlformats.org/officeDocument/2006/relationships/image" Target="../media/image18.png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29" Type="http://schemas.openxmlformats.org/officeDocument/2006/relationships/image" Target="../media/image9.emf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oleObject" Target="../embeddings/oleObject3.bin"/><Relationship Id="rId32" Type="http://schemas.openxmlformats.org/officeDocument/2006/relationships/image" Target="../media/image12.png"/><Relationship Id="rId37" Type="http://schemas.openxmlformats.org/officeDocument/2006/relationships/image" Target="../media/image17.svg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notesSlide" Target="../notesSlides/notesSlide2.xml"/><Relationship Id="rId28" Type="http://schemas.openxmlformats.org/officeDocument/2006/relationships/image" Target="../media/image8.emf"/><Relationship Id="rId36" Type="http://schemas.openxmlformats.org/officeDocument/2006/relationships/image" Target="../media/image16.png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image" Target="../media/image11.emf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slideLayout" Target="../slideLayouts/slideLayout11.xml"/><Relationship Id="rId27" Type="http://schemas.openxmlformats.org/officeDocument/2006/relationships/image" Target="../media/image7.emf"/><Relationship Id="rId30" Type="http://schemas.openxmlformats.org/officeDocument/2006/relationships/image" Target="../media/image10.emf"/><Relationship Id="rId35" Type="http://schemas.openxmlformats.org/officeDocument/2006/relationships/image" Target="../media/image15.svg"/><Relationship Id="rId8" Type="http://schemas.openxmlformats.org/officeDocument/2006/relationships/tags" Target="../tags/tag19.xml"/><Relationship Id="rId3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jpeg"/><Relationship Id="rId18" Type="http://schemas.openxmlformats.org/officeDocument/2006/relationships/image" Target="../media/image42.png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45.png"/><Relationship Id="rId7" Type="http://schemas.openxmlformats.org/officeDocument/2006/relationships/image" Target="../media/image31.jpe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tags" Target="../tags/tag34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jpe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4.png"/><Relationship Id="rId12" Type="http://schemas.openxmlformats.org/officeDocument/2006/relationships/image" Target="../media/image52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48.png"/><Relationship Id="rId11" Type="http://schemas.microsoft.com/office/2007/relationships/hdphoto" Target="../media/hdphoto1.wdp"/><Relationship Id="rId5" Type="http://schemas.openxmlformats.org/officeDocument/2006/relationships/image" Target="../media/image6.emf"/><Relationship Id="rId10" Type="http://schemas.openxmlformats.org/officeDocument/2006/relationships/image" Target="../media/image5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image" Target="../media/image60.png"/><Relationship Id="rId18" Type="http://schemas.openxmlformats.org/officeDocument/2006/relationships/image" Target="../media/image65.svg"/><Relationship Id="rId3" Type="http://schemas.openxmlformats.org/officeDocument/2006/relationships/tags" Target="../tags/tag39.xml"/><Relationship Id="rId7" Type="http://schemas.openxmlformats.org/officeDocument/2006/relationships/image" Target="../media/image54.emf"/><Relationship Id="rId12" Type="http://schemas.openxmlformats.org/officeDocument/2006/relationships/image" Target="../media/image59.svg"/><Relationship Id="rId17" Type="http://schemas.openxmlformats.org/officeDocument/2006/relationships/image" Target="../media/image64.png"/><Relationship Id="rId2" Type="http://schemas.openxmlformats.org/officeDocument/2006/relationships/tags" Target="../tags/tag38.xml"/><Relationship Id="rId16" Type="http://schemas.openxmlformats.org/officeDocument/2006/relationships/image" Target="../media/image63.svg"/><Relationship Id="rId20" Type="http://schemas.openxmlformats.org/officeDocument/2006/relationships/image" Target="../media/image67.svg"/><Relationship Id="rId1" Type="http://schemas.openxmlformats.org/officeDocument/2006/relationships/tags" Target="../tags/tag37.xml"/><Relationship Id="rId6" Type="http://schemas.openxmlformats.org/officeDocument/2006/relationships/image" Target="../media/image53.emf"/><Relationship Id="rId11" Type="http://schemas.openxmlformats.org/officeDocument/2006/relationships/image" Target="../media/image58.png"/><Relationship Id="rId5" Type="http://schemas.openxmlformats.org/officeDocument/2006/relationships/oleObject" Target="../embeddings/oleObject5.bin"/><Relationship Id="rId15" Type="http://schemas.openxmlformats.org/officeDocument/2006/relationships/image" Target="../media/image62.png"/><Relationship Id="rId10" Type="http://schemas.openxmlformats.org/officeDocument/2006/relationships/image" Target="../media/image57.svg"/><Relationship Id="rId19" Type="http://schemas.openxmlformats.org/officeDocument/2006/relationships/image" Target="../media/image6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56.png"/><Relationship Id="rId14" Type="http://schemas.openxmlformats.org/officeDocument/2006/relationships/image" Target="../media/image6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0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1.xml"/><Relationship Id="rId6" Type="http://schemas.openxmlformats.org/officeDocument/2006/relationships/image" Target="../media/image48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g"/><Relationship Id="rId13" Type="http://schemas.openxmlformats.org/officeDocument/2006/relationships/image" Target="../media/image80.jpg"/><Relationship Id="rId3" Type="http://schemas.openxmlformats.org/officeDocument/2006/relationships/tags" Target="../tags/tag45.xml"/><Relationship Id="rId7" Type="http://schemas.openxmlformats.org/officeDocument/2006/relationships/image" Target="../media/image74.jpg"/><Relationship Id="rId12" Type="http://schemas.openxmlformats.org/officeDocument/2006/relationships/image" Target="../media/image79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73.emf"/><Relationship Id="rId11" Type="http://schemas.openxmlformats.org/officeDocument/2006/relationships/image" Target="../media/image78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77.pn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7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tags" Target="../tags/tag49.xml"/><Relationship Id="rId7" Type="http://schemas.openxmlformats.org/officeDocument/2006/relationships/image" Target="../media/image77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83.jpe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8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notesSlide" Target="../notesSlides/notesSlide4.xml"/><Relationship Id="rId18" Type="http://schemas.openxmlformats.org/officeDocument/2006/relationships/image" Target="../media/image86.svg"/><Relationship Id="rId26" Type="http://schemas.openxmlformats.org/officeDocument/2006/relationships/image" Target="../media/image92.jpeg"/><Relationship Id="rId3" Type="http://schemas.openxmlformats.org/officeDocument/2006/relationships/tags" Target="../tags/tag52.xml"/><Relationship Id="rId21" Type="http://schemas.openxmlformats.org/officeDocument/2006/relationships/image" Target="../media/image89.png"/><Relationship Id="rId7" Type="http://schemas.openxmlformats.org/officeDocument/2006/relationships/tags" Target="../tags/tag56.xml"/><Relationship Id="rId12" Type="http://schemas.openxmlformats.org/officeDocument/2006/relationships/slideLayout" Target="../slideLayouts/slideLayout11.xml"/><Relationship Id="rId17" Type="http://schemas.openxmlformats.org/officeDocument/2006/relationships/image" Target="../media/image85.png"/><Relationship Id="rId25" Type="http://schemas.openxmlformats.org/officeDocument/2006/relationships/image" Target="../media/image67.svg"/><Relationship Id="rId2" Type="http://schemas.openxmlformats.org/officeDocument/2006/relationships/tags" Target="../tags/tag51.xml"/><Relationship Id="rId16" Type="http://schemas.openxmlformats.org/officeDocument/2006/relationships/image" Target="../media/image84.jpeg"/><Relationship Id="rId20" Type="http://schemas.openxmlformats.org/officeDocument/2006/relationships/image" Target="../media/image88.sv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image" Target="../media/image66.png"/><Relationship Id="rId5" Type="http://schemas.openxmlformats.org/officeDocument/2006/relationships/tags" Target="../tags/tag54.xml"/><Relationship Id="rId15" Type="http://schemas.openxmlformats.org/officeDocument/2006/relationships/image" Target="../media/image73.emf"/><Relationship Id="rId23" Type="http://schemas.openxmlformats.org/officeDocument/2006/relationships/image" Target="../media/image91.svg"/><Relationship Id="rId28" Type="http://schemas.openxmlformats.org/officeDocument/2006/relationships/image" Target="../media/image94.svg"/><Relationship Id="rId10" Type="http://schemas.openxmlformats.org/officeDocument/2006/relationships/tags" Target="../tags/tag59.xml"/><Relationship Id="rId19" Type="http://schemas.openxmlformats.org/officeDocument/2006/relationships/image" Target="../media/image87.pn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oleObject" Target="../embeddings/oleObject8.bin"/><Relationship Id="rId22" Type="http://schemas.openxmlformats.org/officeDocument/2006/relationships/image" Target="../media/image90.png"/><Relationship Id="rId27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jpe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.emf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5.png"/><Relationship Id="rId4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99.png"/><Relationship Id="rId3" Type="http://schemas.openxmlformats.org/officeDocument/2006/relationships/tags" Target="../tags/tag66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91.sv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90.png"/><Relationship Id="rId5" Type="http://schemas.openxmlformats.org/officeDocument/2006/relationships/tags" Target="../tags/tag68.xml"/><Relationship Id="rId15" Type="http://schemas.openxmlformats.org/officeDocument/2006/relationships/image" Target="../media/image88.svg"/><Relationship Id="rId10" Type="http://schemas.openxmlformats.org/officeDocument/2006/relationships/image" Target="../media/image98.png"/><Relationship Id="rId4" Type="http://schemas.openxmlformats.org/officeDocument/2006/relationships/tags" Target="../tags/tag67.xml"/><Relationship Id="rId9" Type="http://schemas.openxmlformats.org/officeDocument/2006/relationships/image" Target="../media/image97.emf"/><Relationship Id="rId14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99.png"/><Relationship Id="rId3" Type="http://schemas.openxmlformats.org/officeDocument/2006/relationships/tags" Target="../tags/tag72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91.sv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90.png"/><Relationship Id="rId5" Type="http://schemas.openxmlformats.org/officeDocument/2006/relationships/tags" Target="../tags/tag74.xml"/><Relationship Id="rId15" Type="http://schemas.openxmlformats.org/officeDocument/2006/relationships/image" Target="../media/image88.svg"/><Relationship Id="rId10" Type="http://schemas.openxmlformats.org/officeDocument/2006/relationships/image" Target="../media/image98.png"/><Relationship Id="rId4" Type="http://schemas.openxmlformats.org/officeDocument/2006/relationships/tags" Target="../tags/tag73.xml"/><Relationship Id="rId9" Type="http://schemas.openxmlformats.org/officeDocument/2006/relationships/image" Target="../media/image97.emf"/><Relationship Id="rId14" Type="http://schemas.openxmlformats.org/officeDocument/2006/relationships/image" Target="../media/image8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99.png"/><Relationship Id="rId3" Type="http://schemas.openxmlformats.org/officeDocument/2006/relationships/tags" Target="../tags/tag78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91.sv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image" Target="../media/image90.png"/><Relationship Id="rId5" Type="http://schemas.openxmlformats.org/officeDocument/2006/relationships/tags" Target="../tags/tag80.xml"/><Relationship Id="rId15" Type="http://schemas.openxmlformats.org/officeDocument/2006/relationships/image" Target="../media/image88.svg"/><Relationship Id="rId10" Type="http://schemas.openxmlformats.org/officeDocument/2006/relationships/image" Target="../media/image98.png"/><Relationship Id="rId4" Type="http://schemas.openxmlformats.org/officeDocument/2006/relationships/tags" Target="../tags/tag79.xml"/><Relationship Id="rId9" Type="http://schemas.openxmlformats.org/officeDocument/2006/relationships/image" Target="../media/image97.emf"/><Relationship Id="rId14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88.svg"/><Relationship Id="rId3" Type="http://schemas.openxmlformats.org/officeDocument/2006/relationships/tags" Target="../tags/tag84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87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91.svg"/><Relationship Id="rId5" Type="http://schemas.openxmlformats.org/officeDocument/2006/relationships/tags" Target="../tags/tag86.xml"/><Relationship Id="rId15" Type="http://schemas.openxmlformats.org/officeDocument/2006/relationships/image" Target="../media/image98.png"/><Relationship Id="rId10" Type="http://schemas.openxmlformats.org/officeDocument/2006/relationships/image" Target="../media/image90.png"/><Relationship Id="rId4" Type="http://schemas.openxmlformats.org/officeDocument/2006/relationships/tags" Target="../tags/tag85.xml"/><Relationship Id="rId9" Type="http://schemas.openxmlformats.org/officeDocument/2006/relationships/image" Target="../media/image97.emf"/><Relationship Id="rId14" Type="http://schemas.openxmlformats.org/officeDocument/2006/relationships/image" Target="../media/image9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91.svg"/><Relationship Id="rId18" Type="http://schemas.openxmlformats.org/officeDocument/2006/relationships/image" Target="../media/image101.svg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90.png"/><Relationship Id="rId17" Type="http://schemas.openxmlformats.org/officeDocument/2006/relationships/image" Target="../media/image100.png"/><Relationship Id="rId2" Type="http://schemas.openxmlformats.org/officeDocument/2006/relationships/tags" Target="../tags/tag89.xml"/><Relationship Id="rId16" Type="http://schemas.openxmlformats.org/officeDocument/2006/relationships/image" Target="../media/image99.png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97.emf"/><Relationship Id="rId5" Type="http://schemas.openxmlformats.org/officeDocument/2006/relationships/tags" Target="../tags/tag92.xml"/><Relationship Id="rId15" Type="http://schemas.openxmlformats.org/officeDocument/2006/relationships/image" Target="../media/image88.svg"/><Relationship Id="rId10" Type="http://schemas.openxmlformats.org/officeDocument/2006/relationships/oleObject" Target="../embeddings/oleObject11.bin"/><Relationship Id="rId4" Type="http://schemas.openxmlformats.org/officeDocument/2006/relationships/tags" Target="../tags/tag91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tfpColumnIndicatorGroup2">
            <a:extLst>
              <a:ext uri="{FF2B5EF4-FFF2-40B4-BE49-F238E27FC236}">
                <a16:creationId xmlns:a16="http://schemas.microsoft.com/office/drawing/2014/main" id="{A02E9784-15B1-E026-A495-4DFC543A60C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9" name="btfpColumnGapBlocker403277">
              <a:extLst>
                <a:ext uri="{FF2B5EF4-FFF2-40B4-BE49-F238E27FC236}">
                  <a16:creationId xmlns:a16="http://schemas.microsoft.com/office/drawing/2014/main" id="{790B0EE4-3B92-4FD9-E281-CEF06BCA2BEC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btfpColumnGapBlocker650445">
              <a:extLst>
                <a:ext uri="{FF2B5EF4-FFF2-40B4-BE49-F238E27FC236}">
                  <a16:creationId xmlns:a16="http://schemas.microsoft.com/office/drawing/2014/main" id="{6198E6B7-8761-EFE6-29F4-2DF7582D502D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" name="btfpColumnIndicator781726">
              <a:extLst>
                <a:ext uri="{FF2B5EF4-FFF2-40B4-BE49-F238E27FC236}">
                  <a16:creationId xmlns:a16="http://schemas.microsoft.com/office/drawing/2014/main" id="{D9D53005-0E4A-228B-B1C9-592533E338EA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706610">
              <a:extLst>
                <a:ext uri="{FF2B5EF4-FFF2-40B4-BE49-F238E27FC236}">
                  <a16:creationId xmlns:a16="http://schemas.microsoft.com/office/drawing/2014/main" id="{77C7ACC9-3D78-24FC-6EAE-D3B62447EB99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btfpColumnIndicatorGroup1">
            <a:extLst>
              <a:ext uri="{FF2B5EF4-FFF2-40B4-BE49-F238E27FC236}">
                <a16:creationId xmlns:a16="http://schemas.microsoft.com/office/drawing/2014/main" id="{A6FE84B4-A862-5917-D6E8-49B7A0196B5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" name="btfpColumnGapBlocker127935">
              <a:extLst>
                <a:ext uri="{FF2B5EF4-FFF2-40B4-BE49-F238E27FC236}">
                  <a16:creationId xmlns:a16="http://schemas.microsoft.com/office/drawing/2014/main" id="{0BBE8CD0-852B-8962-560A-97619FA82A5A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btfpColumnGapBlocker647450">
              <a:extLst>
                <a:ext uri="{FF2B5EF4-FFF2-40B4-BE49-F238E27FC236}">
                  <a16:creationId xmlns:a16="http://schemas.microsoft.com/office/drawing/2014/main" id="{D07BB906-02DF-0F85-AE61-ECA55742614D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" name="btfpColumnIndicator560358">
              <a:extLst>
                <a:ext uri="{FF2B5EF4-FFF2-40B4-BE49-F238E27FC236}">
                  <a16:creationId xmlns:a16="http://schemas.microsoft.com/office/drawing/2014/main" id="{C71A2BB4-FA35-78B0-4E03-1FFC529B7740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665454">
              <a:extLst>
                <a:ext uri="{FF2B5EF4-FFF2-40B4-BE49-F238E27FC236}">
                  <a16:creationId xmlns:a16="http://schemas.microsoft.com/office/drawing/2014/main" id="{DA9597B7-2324-5342-ED2A-3A5A03977695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Google Shape;104;p1"/>
          <p:cNvSpPr txBox="1">
            <a:spLocks noGrp="1"/>
          </p:cNvSpPr>
          <p:nvPr>
            <p:ph type="body" idx="1"/>
          </p:nvPr>
        </p:nvSpPr>
        <p:spPr>
          <a:xfrm>
            <a:off x="546099" y="2836530"/>
            <a:ext cx="5549893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3600" b="1" dirty="0">
                <a:solidFill>
                  <a:srgbClr val="0C172D"/>
                </a:solidFill>
              </a:rPr>
              <a:t>Reditus </a:t>
            </a:r>
            <a:r>
              <a:rPr lang="pt-BR" sz="3600" b="1" dirty="0" err="1">
                <a:solidFill>
                  <a:srgbClr val="0C172D"/>
                </a:solidFill>
              </a:rPr>
              <a:t>Talks</a:t>
            </a:r>
            <a:endParaRPr sz="3600" b="1" dirty="0">
              <a:solidFill>
                <a:srgbClr val="0C172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3600" b="1" dirty="0">
                <a:solidFill>
                  <a:srgbClr val="0C172D"/>
                </a:solidFill>
              </a:rPr>
              <a:t>2026</a:t>
            </a:r>
            <a:endParaRPr sz="3600" b="1" dirty="0">
              <a:solidFill>
                <a:srgbClr val="0C172D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1282142-965A-070A-8B59-15F6ED27162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53117">
              <a:extLst>
                <a:ext uri="{FF2B5EF4-FFF2-40B4-BE49-F238E27FC236}">
                  <a16:creationId xmlns:a16="http://schemas.microsoft.com/office/drawing/2014/main" id="{47981262-1CBD-4845-BA5D-1D2346BC6B9D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btfpColumnGapBlocker814187">
              <a:extLst>
                <a:ext uri="{FF2B5EF4-FFF2-40B4-BE49-F238E27FC236}">
                  <a16:creationId xmlns:a16="http://schemas.microsoft.com/office/drawing/2014/main" id="{C9EAA37E-7D23-21FD-08A0-268861142B0D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" name="btfpColumnIndicator133573">
              <a:extLst>
                <a:ext uri="{FF2B5EF4-FFF2-40B4-BE49-F238E27FC236}">
                  <a16:creationId xmlns:a16="http://schemas.microsoft.com/office/drawing/2014/main" id="{62EDBAD8-0AF6-627F-1637-F035762F7E92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104002">
              <a:extLst>
                <a:ext uri="{FF2B5EF4-FFF2-40B4-BE49-F238E27FC236}">
                  <a16:creationId xmlns:a16="http://schemas.microsoft.com/office/drawing/2014/main" id="{8A897C8B-85CB-F93A-97CB-1F52D51A21CD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B3579119-1D64-65C7-58F9-6B97BF74F8F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32345">
              <a:extLst>
                <a:ext uri="{FF2B5EF4-FFF2-40B4-BE49-F238E27FC236}">
                  <a16:creationId xmlns:a16="http://schemas.microsoft.com/office/drawing/2014/main" id="{0F72F23B-1BC4-8C87-A4E2-44E82550908B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858371">
              <a:extLst>
                <a:ext uri="{FF2B5EF4-FFF2-40B4-BE49-F238E27FC236}">
                  <a16:creationId xmlns:a16="http://schemas.microsoft.com/office/drawing/2014/main" id="{2BDABC54-8317-9869-A849-8E666683659C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btfpColumnIndicator384938">
              <a:extLst>
                <a:ext uri="{FF2B5EF4-FFF2-40B4-BE49-F238E27FC236}">
                  <a16:creationId xmlns:a16="http://schemas.microsoft.com/office/drawing/2014/main" id="{2F8267DF-2997-5F7D-EC0E-F389EA568BDC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505793">
              <a:extLst>
                <a:ext uri="{FF2B5EF4-FFF2-40B4-BE49-F238E27FC236}">
                  <a16:creationId xmlns:a16="http://schemas.microsoft.com/office/drawing/2014/main" id="{187E6B12-2721-3805-7022-0A608D2CE418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55CFA27A-26BA-A9D2-1F71-B2E4A3EF2650}"/>
              </a:ext>
            </a:extLst>
          </p:cNvPr>
          <p:cNvCxnSpPr/>
          <p:nvPr/>
        </p:nvCxnSpPr>
        <p:spPr>
          <a:xfrm>
            <a:off x="1832881" y="1701800"/>
            <a:ext cx="0" cy="474980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gendaTitle">
            <a:extLst>
              <a:ext uri="{FF2B5EF4-FFF2-40B4-BE49-F238E27FC236}">
                <a16:creationId xmlns:a16="http://schemas.microsoft.com/office/drawing/2014/main" id="{1D2F9EA3-6F2F-4CB3-E03D-015F09CF18BC}"/>
              </a:ext>
            </a:extLst>
          </p:cNvPr>
          <p:cNvSpPr txBox="1"/>
          <p:nvPr/>
        </p:nvSpPr>
        <p:spPr>
          <a:xfrm>
            <a:off x="546100" y="1778000"/>
            <a:ext cx="10160000" cy="235611"/>
          </a:xfrm>
          <a:prstGeom prst="rect">
            <a:avLst/>
          </a:prstGeom>
          <a:noFill/>
        </p:spPr>
        <p:txBody>
          <a:bodyPr vert="horz" lIns="18136" tIns="25226" rIns="72073" bIns="25226" rtlCol="0">
            <a:spAutoFit/>
          </a:bodyPr>
          <a:lstStyle/>
          <a:p>
            <a:r>
              <a:rPr lang="pt-BR" sz="1200" b="1" cap="all" spc="450" dirty="0">
                <a:solidFill>
                  <a:srgbClr val="0C172D"/>
                </a:solidFill>
              </a:rPr>
              <a:t>Agenda</a:t>
            </a:r>
          </a:p>
        </p:txBody>
      </p:sp>
      <p:sp>
        <p:nvSpPr>
          <p:cNvPr id="32" name="AgendaEmphasisBar">
            <a:extLst>
              <a:ext uri="{FF2B5EF4-FFF2-40B4-BE49-F238E27FC236}">
                <a16:creationId xmlns:a16="http://schemas.microsoft.com/office/drawing/2014/main" id="{DDBBEAC3-5B5A-CF39-6F31-7EF4EEB71D7A}"/>
              </a:ext>
            </a:extLst>
          </p:cNvPr>
          <p:cNvSpPr/>
          <p:nvPr/>
        </p:nvSpPr>
        <p:spPr>
          <a:xfrm>
            <a:off x="1832881" y="1988821"/>
            <a:ext cx="127000" cy="74317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FFFF"/>
              </a:solidFill>
            </a:endParaRPr>
          </a:p>
        </p:txBody>
      </p:sp>
      <p:grpSp>
        <p:nvGrpSpPr>
          <p:cNvPr id="33" name="Agenda">
            <a:extLst>
              <a:ext uri="{FF2B5EF4-FFF2-40B4-BE49-F238E27FC236}">
                <a16:creationId xmlns:a16="http://schemas.microsoft.com/office/drawing/2014/main" id="{A5B34631-18AA-8B92-1991-EB763D11A11E}"/>
              </a:ext>
            </a:extLst>
          </p:cNvPr>
          <p:cNvGrpSpPr/>
          <p:nvPr/>
        </p:nvGrpSpPr>
        <p:grpSpPr>
          <a:xfrm>
            <a:off x="2186652" y="2171700"/>
            <a:ext cx="9446547" cy="4279900"/>
            <a:chOff x="2186652" y="2171700"/>
            <a:chExt cx="9446547" cy="4279900"/>
          </a:xfrm>
        </p:grpSpPr>
        <p:sp>
          <p:nvSpPr>
            <p:cNvPr id="34" name="AgendaTextBox">
              <a:extLst>
                <a:ext uri="{FF2B5EF4-FFF2-40B4-BE49-F238E27FC236}">
                  <a16:creationId xmlns:a16="http://schemas.microsoft.com/office/drawing/2014/main" id="{DF5D1E35-A0DB-04F4-1E9E-39AFDC268FB9}"/>
                </a:ext>
              </a:extLst>
            </p:cNvPr>
            <p:cNvSpPr txBox="1"/>
            <p:nvPr/>
          </p:nvSpPr>
          <p:spPr>
            <a:xfrm>
              <a:off x="2250152" y="2171700"/>
              <a:ext cx="9383047" cy="4279900"/>
            </a:xfrm>
            <a:prstGeom prst="rect">
              <a:avLst/>
            </a:prstGeom>
            <a:noFill/>
          </p:spPr>
          <p:txBody>
            <a:bodyPr vert="horz" wrap="square" rtlCol="0">
              <a:noAutofit/>
            </a:bodyPr>
            <a:lstStyle/>
            <a:p>
              <a:pPr>
                <a:spcBef>
                  <a:spcPts val="3600"/>
                </a:spcBef>
              </a:pPr>
              <a:r>
                <a:rPr lang="en-US" sz="2000" b="1" dirty="0" err="1">
                  <a:solidFill>
                    <a:srgbClr val="0C172D"/>
                  </a:solidFill>
                </a:rPr>
                <a:t>Introdu</a:t>
              </a:r>
              <a:r>
                <a:rPr lang="pt-BR" sz="2000" b="1" dirty="0" err="1">
                  <a:solidFill>
                    <a:srgbClr val="0C172D"/>
                  </a:solidFill>
                </a:rPr>
                <a:t>ção</a:t>
              </a:r>
              <a:r>
                <a:rPr lang="pt-BR" sz="2000" b="1" dirty="0">
                  <a:solidFill>
                    <a:srgbClr val="0C172D"/>
                  </a:solidFill>
                </a:rPr>
                <a:t> do Instituto Reditus</a:t>
              </a:r>
              <a:endParaRPr lang="en-US" sz="2000" b="1" dirty="0">
                <a:solidFill>
                  <a:srgbClr val="0C172D"/>
                </a:solidFill>
              </a:endParaRPr>
            </a:p>
            <a:p>
              <a:pPr>
                <a:spcBef>
                  <a:spcPts val="3600"/>
                </a:spcBef>
              </a:pPr>
              <a:r>
                <a:rPr lang="en-US" sz="2000" dirty="0" err="1">
                  <a:solidFill>
                    <a:srgbClr val="0C172D"/>
                  </a:solidFill>
                </a:rPr>
                <a:t>Painel</a:t>
              </a:r>
              <a:r>
                <a:rPr lang="en-US" sz="2000" dirty="0">
                  <a:solidFill>
                    <a:srgbClr val="0C172D"/>
                  </a:solidFill>
                </a:rPr>
                <a:t> | </a:t>
              </a:r>
              <a:r>
                <a:rPr lang="pt-BR" sz="2000" dirty="0">
                  <a:solidFill>
                    <a:srgbClr val="0C172D"/>
                  </a:solidFill>
                </a:rPr>
                <a:t>Projetos apoiados</a:t>
              </a:r>
              <a:endParaRPr lang="en-US" sz="2000" dirty="0">
                <a:solidFill>
                  <a:srgbClr val="0C172D"/>
                </a:solidFill>
              </a:endParaRPr>
            </a:p>
            <a:p>
              <a:pPr>
                <a:spcBef>
                  <a:spcPts val="3600"/>
                </a:spcBef>
              </a:pPr>
              <a:r>
                <a:rPr lang="pt-BR" sz="2000" dirty="0">
                  <a:solidFill>
                    <a:srgbClr val="0C172D"/>
                  </a:solidFill>
                </a:rPr>
                <a:t>Empreendedorismo, terceiro setor e perspectivas para o </a:t>
              </a:r>
              <a:br>
                <a:rPr lang="pt-BR" sz="2000" dirty="0">
                  <a:solidFill>
                    <a:srgbClr val="0C172D"/>
                  </a:solidFill>
                </a:rPr>
              </a:br>
              <a:r>
                <a:rPr lang="pt-BR" sz="2000" dirty="0">
                  <a:solidFill>
                    <a:srgbClr val="0C172D"/>
                  </a:solidFill>
                </a:rPr>
                <a:t>futuro brasileiro</a:t>
              </a:r>
              <a:r>
                <a:rPr lang="en-US" sz="2000" dirty="0">
                  <a:solidFill>
                    <a:srgbClr val="0C172D"/>
                  </a:solidFill>
                </a:rPr>
                <a:t> | Guilherme Benchimol</a:t>
              </a:r>
              <a:endParaRPr lang="pt-BR" sz="2000" dirty="0">
                <a:solidFill>
                  <a:srgbClr val="0C172D"/>
                </a:solidFill>
              </a:endParaRPr>
            </a:p>
          </p:txBody>
        </p:sp>
        <p:cxnSp>
          <p:nvCxnSpPr>
            <p:cNvPr id="35" name="AgendaSeparator1">
              <a:extLst>
                <a:ext uri="{FF2B5EF4-FFF2-40B4-BE49-F238E27FC236}">
                  <a16:creationId xmlns:a16="http://schemas.microsoft.com/office/drawing/2014/main" id="{4FC217CC-B6FC-FE5F-4631-99F550B0EA4B}"/>
                </a:ext>
              </a:extLst>
            </p:cNvPr>
            <p:cNvCxnSpPr/>
            <p:nvPr/>
          </p:nvCxnSpPr>
          <p:spPr>
            <a:xfrm>
              <a:off x="2186652" y="2750820"/>
              <a:ext cx="4916552" cy="0"/>
            </a:xfrm>
            <a:prstGeom prst="line">
              <a:avLst/>
            </a:prstGeom>
            <a:ln w="9525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AgendaSeparator2">
              <a:extLst>
                <a:ext uri="{FF2B5EF4-FFF2-40B4-BE49-F238E27FC236}">
                  <a16:creationId xmlns:a16="http://schemas.microsoft.com/office/drawing/2014/main" id="{8DB4945E-DA3B-19CA-F954-447E46995A45}"/>
                </a:ext>
              </a:extLst>
            </p:cNvPr>
            <p:cNvCxnSpPr/>
            <p:nvPr/>
          </p:nvCxnSpPr>
          <p:spPr>
            <a:xfrm>
              <a:off x="2186652" y="3512820"/>
              <a:ext cx="4916552" cy="0"/>
            </a:xfrm>
            <a:prstGeom prst="line">
              <a:avLst/>
            </a:prstGeom>
            <a:ln w="9525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0101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2C8EB1-97A0-E946-7695-BE3755AB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ounded Rectangle 63">
            <a:extLst>
              <a:ext uri="{FF2B5EF4-FFF2-40B4-BE49-F238E27FC236}">
                <a16:creationId xmlns:a16="http://schemas.microsoft.com/office/drawing/2014/main" id="{E3BFEBB9-04D2-3452-4482-24BDE0F7FFCA}"/>
              </a:ext>
            </a:extLst>
          </p:cNvPr>
          <p:cNvSpPr>
            <a:spLocks/>
          </p:cNvSpPr>
          <p:nvPr/>
        </p:nvSpPr>
        <p:spPr>
          <a:xfrm rot="10800000" flipV="1">
            <a:off x="6755039" y="1198566"/>
            <a:ext cx="5680800" cy="1244625"/>
          </a:xfrm>
          <a:prstGeom prst="roundRect">
            <a:avLst>
              <a:gd name="adj" fmla="val 15001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>
              <a:buClr>
                <a:srgbClr val="FF6D00"/>
              </a:buClr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51" name="Rounded Rectangle 63">
            <a:extLst>
              <a:ext uri="{FF2B5EF4-FFF2-40B4-BE49-F238E27FC236}">
                <a16:creationId xmlns:a16="http://schemas.microsoft.com/office/drawing/2014/main" id="{718D4634-9976-AC30-4ADA-11C24DE6C63C}"/>
              </a:ext>
            </a:extLst>
          </p:cNvPr>
          <p:cNvSpPr>
            <a:spLocks/>
          </p:cNvSpPr>
          <p:nvPr/>
        </p:nvSpPr>
        <p:spPr>
          <a:xfrm rot="10800000" flipV="1">
            <a:off x="-423513" y="1198566"/>
            <a:ext cx="6255591" cy="1244625"/>
          </a:xfrm>
          <a:prstGeom prst="roundRect">
            <a:avLst>
              <a:gd name="adj" fmla="val 15001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>
              <a:buClr>
                <a:srgbClr val="FF6D00"/>
              </a:buClr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46" name="Rounded Rectangle 63">
            <a:extLst>
              <a:ext uri="{FF2B5EF4-FFF2-40B4-BE49-F238E27FC236}">
                <a16:creationId xmlns:a16="http://schemas.microsoft.com/office/drawing/2014/main" id="{325D1D23-54F2-0F68-73EC-D90732A894EE}"/>
              </a:ext>
            </a:extLst>
          </p:cNvPr>
          <p:cNvSpPr>
            <a:spLocks/>
          </p:cNvSpPr>
          <p:nvPr/>
        </p:nvSpPr>
        <p:spPr>
          <a:xfrm rot="10800000" flipV="1">
            <a:off x="6821263" y="2633484"/>
            <a:ext cx="4261598" cy="1260089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45" name="Rounded Rectangle 63">
            <a:extLst>
              <a:ext uri="{FF2B5EF4-FFF2-40B4-BE49-F238E27FC236}">
                <a16:creationId xmlns:a16="http://schemas.microsoft.com/office/drawing/2014/main" id="{6BD514F9-5DCE-BDD5-150D-304927575792}"/>
              </a:ext>
            </a:extLst>
          </p:cNvPr>
          <p:cNvSpPr>
            <a:spLocks/>
          </p:cNvSpPr>
          <p:nvPr/>
        </p:nvSpPr>
        <p:spPr>
          <a:xfrm rot="10800000" flipV="1">
            <a:off x="6755040" y="3067957"/>
            <a:ext cx="5680799" cy="3611676"/>
          </a:xfrm>
          <a:prstGeom prst="roundRect">
            <a:avLst>
              <a:gd name="adj" fmla="val 5721"/>
            </a:avLst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>
              <a:buClr>
                <a:srgbClr val="FF6D00"/>
              </a:buClr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42" name="Rounded Rectangle 63">
            <a:extLst>
              <a:ext uri="{FF2B5EF4-FFF2-40B4-BE49-F238E27FC236}">
                <a16:creationId xmlns:a16="http://schemas.microsoft.com/office/drawing/2014/main" id="{38AB4167-2927-5B0B-E14C-C79515B57BB9}"/>
              </a:ext>
            </a:extLst>
          </p:cNvPr>
          <p:cNvSpPr>
            <a:spLocks/>
          </p:cNvSpPr>
          <p:nvPr/>
        </p:nvSpPr>
        <p:spPr>
          <a:xfrm rot="10800000" flipV="1">
            <a:off x="554735" y="2633484"/>
            <a:ext cx="4491396" cy="1260089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41" name="Rounded Rectangle 63">
            <a:extLst>
              <a:ext uri="{FF2B5EF4-FFF2-40B4-BE49-F238E27FC236}">
                <a16:creationId xmlns:a16="http://schemas.microsoft.com/office/drawing/2014/main" id="{6C5E30D5-F33F-7C8A-63E0-57A5ADFFDA93}"/>
              </a:ext>
            </a:extLst>
          </p:cNvPr>
          <p:cNvSpPr>
            <a:spLocks/>
          </p:cNvSpPr>
          <p:nvPr/>
        </p:nvSpPr>
        <p:spPr>
          <a:xfrm rot="10800000" flipV="1">
            <a:off x="-1155098" y="3067957"/>
            <a:ext cx="7298133" cy="3611676"/>
          </a:xfrm>
          <a:prstGeom prst="roundRect">
            <a:avLst>
              <a:gd name="adj" fmla="val 5721"/>
            </a:avLst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>
              <a:buClr>
                <a:srgbClr val="FF6D00"/>
              </a:buClr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graphicFrame>
        <p:nvGraphicFramePr>
          <p:cNvPr id="57" name="think-cell data - do not delete" hidden="1">
            <a:extLst>
              <a:ext uri="{FF2B5EF4-FFF2-40B4-BE49-F238E27FC236}">
                <a16:creationId xmlns:a16="http://schemas.microsoft.com/office/drawing/2014/main" id="{226C5A8D-733E-8C28-E5F6-DF558822C29F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6780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24" imgW="425" imgH="424" progId="TCLayout.ActiveDocument.1">
                  <p:embed/>
                </p:oleObj>
              </mc:Choice>
              <mc:Fallback>
                <p:oleObj name="thinkcell Slide" r:id="rId24" imgW="425" imgH="424" progId="TCLayout.ActiveDocument.1">
                  <p:embed/>
                  <p:pic>
                    <p:nvPicPr>
                      <p:cNvPr id="5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6C5A8D-733E-8C28-E5F6-DF558822C2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7" name="btfpColumnIndicatorGroup2">
            <a:extLst>
              <a:ext uri="{FF2B5EF4-FFF2-40B4-BE49-F238E27FC236}">
                <a16:creationId xmlns:a16="http://schemas.microsoft.com/office/drawing/2014/main" id="{CEF51CB7-B6ED-2C3F-2D57-74EF4156E3D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55" name="btfpColumnGapBlocker276973">
              <a:extLst>
                <a:ext uri="{FF2B5EF4-FFF2-40B4-BE49-F238E27FC236}">
                  <a16:creationId xmlns:a16="http://schemas.microsoft.com/office/drawing/2014/main" id="{7A1F7286-06E2-DCDA-EFE8-6075432BDA0E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3" name="btfpColumnGapBlocker382677">
              <a:extLst>
                <a:ext uri="{FF2B5EF4-FFF2-40B4-BE49-F238E27FC236}">
                  <a16:creationId xmlns:a16="http://schemas.microsoft.com/office/drawing/2014/main" id="{B1435A36-3A61-A06A-666F-A3100DEAC27C}"/>
                </a:ext>
              </a:extLst>
            </p:cNvPr>
            <p:cNvSpPr/>
            <p:nvPr/>
          </p:nvSpPr>
          <p:spPr>
            <a:xfrm>
              <a:off x="581937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51" name="btfpColumnIndicator287393">
              <a:extLst>
                <a:ext uri="{FF2B5EF4-FFF2-40B4-BE49-F238E27FC236}">
                  <a16:creationId xmlns:a16="http://schemas.microsoft.com/office/drawing/2014/main" id="{ECB834B6-5610-6AFD-96DF-A8861274DDAA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btfpColumnIndicator756613">
              <a:extLst>
                <a:ext uri="{FF2B5EF4-FFF2-40B4-BE49-F238E27FC236}">
                  <a16:creationId xmlns:a16="http://schemas.microsoft.com/office/drawing/2014/main" id="{DE3C6E9D-6EED-3B43-63CA-B18CE71B1DDA}"/>
                </a:ext>
              </a:extLst>
            </p:cNvPr>
            <p:cNvCxnSpPr/>
            <p:nvPr/>
          </p:nvCxnSpPr>
          <p:spPr>
            <a:xfrm flipV="1">
              <a:off x="635992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btfpColumnGapBlocker596455">
              <a:extLst>
                <a:ext uri="{FF2B5EF4-FFF2-40B4-BE49-F238E27FC236}">
                  <a16:creationId xmlns:a16="http://schemas.microsoft.com/office/drawing/2014/main" id="{0924E6DC-DB39-1BF4-E3E9-B97B637A7D5D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39" name="btfpColumnIndicator541180">
              <a:extLst>
                <a:ext uri="{FF2B5EF4-FFF2-40B4-BE49-F238E27FC236}">
                  <a16:creationId xmlns:a16="http://schemas.microsoft.com/office/drawing/2014/main" id="{2A20131F-A6E2-3AB4-356A-745814FA5E1F}"/>
                </a:ext>
              </a:extLst>
            </p:cNvPr>
            <p:cNvCxnSpPr/>
            <p:nvPr/>
          </p:nvCxnSpPr>
          <p:spPr>
            <a:xfrm flipV="1">
              <a:off x="581937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btfpColumnIndicator418857">
              <a:extLst>
                <a:ext uri="{FF2B5EF4-FFF2-40B4-BE49-F238E27FC236}">
                  <a16:creationId xmlns:a16="http://schemas.microsoft.com/office/drawing/2014/main" id="{CD865BC0-2988-6525-130E-00CE607ABE9B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6" name="btfpColumnIndicatorGroup1">
            <a:extLst>
              <a:ext uri="{FF2B5EF4-FFF2-40B4-BE49-F238E27FC236}">
                <a16:creationId xmlns:a16="http://schemas.microsoft.com/office/drawing/2014/main" id="{640B3DF8-868A-6ADA-1954-9D9D9673D12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54" name="btfpColumnGapBlocker416937">
              <a:extLst>
                <a:ext uri="{FF2B5EF4-FFF2-40B4-BE49-F238E27FC236}">
                  <a16:creationId xmlns:a16="http://schemas.microsoft.com/office/drawing/2014/main" id="{8CB149DA-90AE-06A0-E0B8-93F4A46FAC5D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2" name="btfpColumnGapBlocker340394">
              <a:extLst>
                <a:ext uri="{FF2B5EF4-FFF2-40B4-BE49-F238E27FC236}">
                  <a16:creationId xmlns:a16="http://schemas.microsoft.com/office/drawing/2014/main" id="{C6C38869-439B-B0E7-4DBE-8114AE3238BD}"/>
                </a:ext>
              </a:extLst>
            </p:cNvPr>
            <p:cNvSpPr/>
            <p:nvPr/>
          </p:nvSpPr>
          <p:spPr>
            <a:xfrm>
              <a:off x="581937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50" name="btfpColumnIndicator527328">
              <a:extLst>
                <a:ext uri="{FF2B5EF4-FFF2-40B4-BE49-F238E27FC236}">
                  <a16:creationId xmlns:a16="http://schemas.microsoft.com/office/drawing/2014/main" id="{0D6D1BBA-5147-8AB0-4E8F-17588279D418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btfpColumnIndicator146338">
              <a:extLst>
                <a:ext uri="{FF2B5EF4-FFF2-40B4-BE49-F238E27FC236}">
                  <a16:creationId xmlns:a16="http://schemas.microsoft.com/office/drawing/2014/main" id="{06B65222-729F-6F1A-8C2A-2082B4BF2EB3}"/>
                </a:ext>
              </a:extLst>
            </p:cNvPr>
            <p:cNvCxnSpPr/>
            <p:nvPr/>
          </p:nvCxnSpPr>
          <p:spPr>
            <a:xfrm flipV="1">
              <a:off x="635992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0" name="btfpColumnGapBlocker129962">
              <a:extLst>
                <a:ext uri="{FF2B5EF4-FFF2-40B4-BE49-F238E27FC236}">
                  <a16:creationId xmlns:a16="http://schemas.microsoft.com/office/drawing/2014/main" id="{A0422AF5-7717-A437-9620-6ACCE585E8F8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30" name="btfpColumnIndicator863712">
              <a:extLst>
                <a:ext uri="{FF2B5EF4-FFF2-40B4-BE49-F238E27FC236}">
                  <a16:creationId xmlns:a16="http://schemas.microsoft.com/office/drawing/2014/main" id="{D50C9B58-4FCB-FD5E-83D9-7EDAF8C3841D}"/>
                </a:ext>
              </a:extLst>
            </p:cNvPr>
            <p:cNvCxnSpPr/>
            <p:nvPr/>
          </p:nvCxnSpPr>
          <p:spPr>
            <a:xfrm flipV="1">
              <a:off x="581937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btfpColumnIndicator260345">
              <a:extLst>
                <a:ext uri="{FF2B5EF4-FFF2-40B4-BE49-F238E27FC236}">
                  <a16:creationId xmlns:a16="http://schemas.microsoft.com/office/drawing/2014/main" id="{D3102786-B821-2A6A-F16B-0484A42E1299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E504F6A-5DE4-E50F-8DBF-F5DEC33E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pt-BR" sz="3200" dirty="0">
                <a:solidFill>
                  <a:srgbClr val="0C172D"/>
                </a:solidFill>
              </a:rPr>
              <a:t>O que é o Instituto Reditus?</a:t>
            </a:r>
            <a:endParaRPr lang="en-US" sz="3200" dirty="0">
              <a:solidFill>
                <a:srgbClr val="0C172D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BF41BC-7620-0C2A-A087-46D56C35D7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4475302-65F9-89B0-0253-2A8BF43722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440" name="Chart 1439">
            <a:extLst>
              <a:ext uri="{FF2B5EF4-FFF2-40B4-BE49-F238E27FC236}">
                <a16:creationId xmlns:a16="http://schemas.microsoft.com/office/drawing/2014/main" id="{26872CA7-7654-0BA0-5BDA-4D536744CE9D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52684011"/>
              </p:ext>
            </p:extLst>
          </p:nvPr>
        </p:nvGraphicFramePr>
        <p:xfrm>
          <a:off x="468313" y="3209734"/>
          <a:ext cx="3195637" cy="3109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167" name="Google Shape;11;p35">
            <a:extLst>
              <a:ext uri="{FF2B5EF4-FFF2-40B4-BE49-F238E27FC236}">
                <a16:creationId xmlns:a16="http://schemas.microsoft.com/office/drawing/2014/main" id="{D50017A0-AF63-EB57-5C7B-1990CBF8194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977900" y="4831797"/>
            <a:ext cx="584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spcFirstLastPara="1" vert="horz" wrap="none" lIns="22225" tIns="0" rIns="222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12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Valor</a:t>
            </a:r>
          </a:p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12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captado</a:t>
            </a:r>
            <a:endParaRPr lang="pt-BR" sz="12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23" name="btfpBulletedList367283">
            <a:extLst>
              <a:ext uri="{FF2B5EF4-FFF2-40B4-BE49-F238E27FC236}">
                <a16:creationId xmlns:a16="http://schemas.microsoft.com/office/drawing/2014/main" id="{7EDDE887-6909-848F-6F45-0BBFFA9B1058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1562099" y="1277830"/>
            <a:ext cx="4269979" cy="1077218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</a:rPr>
              <a:t>Fundos de </a:t>
            </a:r>
            <a:r>
              <a:rPr lang="pt-BR" sz="1600" b="1" i="1" dirty="0" err="1">
                <a:solidFill>
                  <a:schemeClr val="bg1"/>
                </a:solidFill>
              </a:rPr>
              <a:t>Endowment</a:t>
            </a:r>
            <a:r>
              <a:rPr lang="pt-BR" sz="1600" b="1" dirty="0">
                <a:solidFill>
                  <a:schemeClr val="bg1"/>
                </a:solidFill>
              </a:rPr>
              <a:t> captam recursos</a:t>
            </a:r>
            <a:r>
              <a:rPr lang="pt-BR" sz="1600" dirty="0">
                <a:solidFill>
                  <a:schemeClr val="bg1"/>
                </a:solidFill>
              </a:rPr>
              <a:t>, os investem, e utilizam o </a:t>
            </a:r>
            <a:r>
              <a:rPr lang="pt-BR" sz="1600" b="1" dirty="0">
                <a:solidFill>
                  <a:schemeClr val="bg1"/>
                </a:solidFill>
              </a:rPr>
              <a:t>rendimento nominal</a:t>
            </a:r>
            <a:r>
              <a:rPr lang="pt-BR" sz="1600" dirty="0">
                <a:solidFill>
                  <a:schemeClr val="bg1"/>
                </a:solidFill>
              </a:rPr>
              <a:t> para compensar a inflação, destinando o excedente para </a:t>
            </a:r>
            <a:r>
              <a:rPr lang="pt-BR" sz="1600" b="1" dirty="0">
                <a:solidFill>
                  <a:schemeClr val="bg1"/>
                </a:solidFill>
              </a:rPr>
              <a:t>projetos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09" name="btfpBulletedList367283">
            <a:extLst>
              <a:ext uri="{FF2B5EF4-FFF2-40B4-BE49-F238E27FC236}">
                <a16:creationId xmlns:a16="http://schemas.microsoft.com/office/drawing/2014/main" id="{1EC3E760-2AEE-B276-3795-411282AB6C5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7763294" y="1316330"/>
            <a:ext cx="3869906" cy="1077218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O </a:t>
            </a:r>
            <a:r>
              <a:rPr lang="pt-BR" sz="1600" b="1" dirty="0">
                <a:solidFill>
                  <a:schemeClr val="bg1"/>
                </a:solidFill>
              </a:rPr>
              <a:t>Reditus nasceu com o propósito de gerar impacto positivo na comunidade da UFRJ</a:t>
            </a:r>
            <a:r>
              <a:rPr lang="pt-BR" sz="1600" dirty="0">
                <a:solidFill>
                  <a:schemeClr val="bg1"/>
                </a:solidFill>
              </a:rPr>
              <a:t>, e ao longo de seus 7 anos tem alcançado </a:t>
            </a:r>
            <a:r>
              <a:rPr lang="pt-BR" sz="1600" b="1" dirty="0">
                <a:solidFill>
                  <a:schemeClr val="bg1"/>
                </a:solidFill>
              </a:rPr>
              <a:t>importantes conquistas</a:t>
            </a:r>
            <a:endParaRPr lang="pt-BR" b="1" dirty="0">
              <a:solidFill>
                <a:schemeClr val="bg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9E0A63E-0160-5E1D-5603-B46ED966F8BE}"/>
              </a:ext>
            </a:extLst>
          </p:cNvPr>
          <p:cNvGrpSpPr/>
          <p:nvPr/>
        </p:nvGrpSpPr>
        <p:grpSpPr>
          <a:xfrm>
            <a:off x="6825588" y="5932309"/>
            <a:ext cx="5274868" cy="610245"/>
            <a:chOff x="6825588" y="5787928"/>
            <a:chExt cx="5274868" cy="610245"/>
          </a:xfrm>
        </p:grpSpPr>
        <p:sp>
          <p:nvSpPr>
            <p:cNvPr id="1297" name="Google Shape;257;p4">
              <a:extLst>
                <a:ext uri="{FF2B5EF4-FFF2-40B4-BE49-F238E27FC236}">
                  <a16:creationId xmlns:a16="http://schemas.microsoft.com/office/drawing/2014/main" id="{6AE61FEF-4718-01EF-1E93-545D71FD1EA9}"/>
                </a:ext>
              </a:extLst>
            </p:cNvPr>
            <p:cNvSpPr txBox="1"/>
            <p:nvPr/>
          </p:nvSpPr>
          <p:spPr>
            <a:xfrm>
              <a:off x="7625420" y="5870694"/>
              <a:ext cx="4475036" cy="444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pt-BR" sz="1600" b="1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+R$ 3M </a:t>
              </a:r>
              <a:r>
                <a:rPr lang="pt-BR" b="0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destinados à comunidade</a:t>
              </a:r>
              <a:endParaRPr sz="900" b="0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5" name="btfpIcon607670">
              <a:extLst>
                <a:ext uri="{FF2B5EF4-FFF2-40B4-BE49-F238E27FC236}">
                  <a16:creationId xmlns:a16="http://schemas.microsoft.com/office/drawing/2014/main" id="{E0D747B4-55EF-2DF4-57A6-846F5465A9D9}"/>
                </a:ext>
              </a:extLst>
            </p:cNvPr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>
            <a:xfrm>
              <a:off x="6825588" y="5787928"/>
              <a:ext cx="610245" cy="610245"/>
              <a:chOff x="6359920" y="5504090"/>
              <a:chExt cx="610245" cy="610245"/>
            </a:xfrm>
          </p:grpSpPr>
          <p:sp>
            <p:nvSpPr>
              <p:cNvPr id="1384" name="btfpIconCircle607670">
                <a:extLst>
                  <a:ext uri="{FF2B5EF4-FFF2-40B4-BE49-F238E27FC236}">
                    <a16:creationId xmlns:a16="http://schemas.microsoft.com/office/drawing/2014/main" id="{7B674914-9FDD-1BAB-5451-484D338C8F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59920" y="5504090"/>
                <a:ext cx="610245" cy="610245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0C172D"/>
                  </a:solidFill>
                </a:endParaRPr>
              </a:p>
            </p:txBody>
          </p:sp>
          <p:pic>
            <p:nvPicPr>
              <p:cNvPr id="1383" name="btfpIconLines607670">
                <a:extLst>
                  <a:ext uri="{FF2B5EF4-FFF2-40B4-BE49-F238E27FC236}">
                    <a16:creationId xmlns:a16="http://schemas.microsoft.com/office/drawing/2014/main" id="{D62EB929-5340-DA2B-C169-EF9226D180DD}"/>
                  </a:ext>
                </a:extLst>
              </p:cNvPr>
              <p:cNvPicPr>
                <a:picLocks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59920" y="5504090"/>
                <a:ext cx="610245" cy="610245"/>
              </a:xfrm>
              <a:prstGeom prst="rect">
                <a:avLst/>
              </a:prstGeom>
            </p:spPr>
          </p:pic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B90F384-1527-84FB-81C8-E257C5D4D802}"/>
              </a:ext>
            </a:extLst>
          </p:cNvPr>
          <p:cNvGrpSpPr/>
          <p:nvPr/>
        </p:nvGrpSpPr>
        <p:grpSpPr>
          <a:xfrm>
            <a:off x="6825589" y="3114697"/>
            <a:ext cx="5274867" cy="610245"/>
            <a:chOff x="6825589" y="3085822"/>
            <a:chExt cx="5274867" cy="610245"/>
          </a:xfrm>
        </p:grpSpPr>
        <p:sp>
          <p:nvSpPr>
            <p:cNvPr id="1198" name="Google Shape;257;p4">
              <a:extLst>
                <a:ext uri="{FF2B5EF4-FFF2-40B4-BE49-F238E27FC236}">
                  <a16:creationId xmlns:a16="http://schemas.microsoft.com/office/drawing/2014/main" id="{91E3E067-3496-5882-BE0C-13E0A6AEFE86}"/>
                </a:ext>
              </a:extLst>
            </p:cNvPr>
            <p:cNvSpPr txBox="1"/>
            <p:nvPr/>
          </p:nvSpPr>
          <p:spPr>
            <a:xfrm>
              <a:off x="7625420" y="3168588"/>
              <a:ext cx="4475036" cy="444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pt-BR" sz="1600" b="1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R$ 21M </a:t>
              </a:r>
              <a:r>
                <a:rPr lang="pt-BR" b="0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acumulados em doações</a:t>
              </a:r>
              <a:endParaRPr sz="900" b="0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0" name="btfpIcon331851">
              <a:extLst>
                <a:ext uri="{FF2B5EF4-FFF2-40B4-BE49-F238E27FC236}">
                  <a16:creationId xmlns:a16="http://schemas.microsoft.com/office/drawing/2014/main" id="{6629D10C-182F-3DA0-AB90-87F25D4F3A38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6825589" y="3085822"/>
              <a:ext cx="610245" cy="610245"/>
              <a:chOff x="6359921" y="3040441"/>
              <a:chExt cx="610245" cy="610245"/>
            </a:xfrm>
          </p:grpSpPr>
          <p:sp>
            <p:nvSpPr>
              <p:cNvPr id="1389" name="btfpIconCircle331851">
                <a:extLst>
                  <a:ext uri="{FF2B5EF4-FFF2-40B4-BE49-F238E27FC236}">
                    <a16:creationId xmlns:a16="http://schemas.microsoft.com/office/drawing/2014/main" id="{59193D60-DC63-B987-531B-DF5937073B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59921" y="3040441"/>
                <a:ext cx="610245" cy="610245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0C172D"/>
                  </a:solidFill>
                </a:endParaRPr>
              </a:p>
            </p:txBody>
          </p:sp>
          <p:pic>
            <p:nvPicPr>
              <p:cNvPr id="1388" name="btfpIconLines331851">
                <a:extLst>
                  <a:ext uri="{FF2B5EF4-FFF2-40B4-BE49-F238E27FC236}">
                    <a16:creationId xmlns:a16="http://schemas.microsoft.com/office/drawing/2014/main" id="{7D436889-D6CF-5346-6E31-E53BA56AE567}"/>
                  </a:ext>
                </a:extLst>
              </p:cNvPr>
              <p:cNvPicPr>
                <a:picLocks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359921" y="3040441"/>
                <a:ext cx="610245" cy="610245"/>
              </a:xfrm>
              <a:prstGeom prst="rect">
                <a:avLst/>
              </a:prstGeom>
            </p:spPr>
          </p:pic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8F562A7-0295-7830-15EF-AA5C64BE3404}"/>
              </a:ext>
            </a:extLst>
          </p:cNvPr>
          <p:cNvGrpSpPr/>
          <p:nvPr/>
        </p:nvGrpSpPr>
        <p:grpSpPr>
          <a:xfrm>
            <a:off x="6825589" y="3819100"/>
            <a:ext cx="5274867" cy="610245"/>
            <a:chOff x="6825589" y="3722847"/>
            <a:chExt cx="5274867" cy="610245"/>
          </a:xfrm>
        </p:grpSpPr>
        <p:sp>
          <p:nvSpPr>
            <p:cNvPr id="1279" name="Google Shape;257;p4">
              <a:extLst>
                <a:ext uri="{FF2B5EF4-FFF2-40B4-BE49-F238E27FC236}">
                  <a16:creationId xmlns:a16="http://schemas.microsoft.com/office/drawing/2014/main" id="{5989ED99-1B02-B2C1-4542-87B8D6108539}"/>
                </a:ext>
              </a:extLst>
            </p:cNvPr>
            <p:cNvSpPr txBox="1"/>
            <p:nvPr/>
          </p:nvSpPr>
          <p:spPr>
            <a:xfrm>
              <a:off x="7625420" y="3805613"/>
              <a:ext cx="4475036" cy="444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pt-BR" sz="1600" b="1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+1000 </a:t>
              </a:r>
              <a:r>
                <a:rPr lang="pt-BR" b="0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doadores que contribuem com o fundo</a:t>
              </a:r>
              <a:endParaRPr sz="900" b="0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5" name="btfpIcon927623">
              <a:extLst>
                <a:ext uri="{FF2B5EF4-FFF2-40B4-BE49-F238E27FC236}">
                  <a16:creationId xmlns:a16="http://schemas.microsoft.com/office/drawing/2014/main" id="{64A61855-C7AE-CEBA-0338-D56AD2491527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6825589" y="3722847"/>
              <a:ext cx="610245" cy="610245"/>
              <a:chOff x="6359921" y="3656353"/>
              <a:chExt cx="610245" cy="610245"/>
            </a:xfrm>
          </p:grpSpPr>
          <p:sp>
            <p:nvSpPr>
              <p:cNvPr id="1394" name="btfpIconCircle927623">
                <a:extLst>
                  <a:ext uri="{FF2B5EF4-FFF2-40B4-BE49-F238E27FC236}">
                    <a16:creationId xmlns:a16="http://schemas.microsoft.com/office/drawing/2014/main" id="{1CE31650-8D7F-CF12-12DB-BE46A6144E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59921" y="3656353"/>
                <a:ext cx="610245" cy="610245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0C172D"/>
                  </a:solidFill>
                </a:endParaRPr>
              </a:p>
            </p:txBody>
          </p:sp>
          <p:pic>
            <p:nvPicPr>
              <p:cNvPr id="1393" name="btfpIconLines927623">
                <a:extLst>
                  <a:ext uri="{FF2B5EF4-FFF2-40B4-BE49-F238E27FC236}">
                    <a16:creationId xmlns:a16="http://schemas.microsoft.com/office/drawing/2014/main" id="{D8B62B31-27C7-531E-67F0-BEF10871D139}"/>
                  </a:ext>
                </a:extLst>
              </p:cNvPr>
              <p:cNvPicPr>
                <a:picLocks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59921" y="3656353"/>
                <a:ext cx="610245" cy="610245"/>
              </a:xfrm>
              <a:prstGeom prst="rect">
                <a:avLst/>
              </a:prstGeom>
            </p:spPr>
          </p:pic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DF72803-3CAF-AC38-9DDE-282FAA6C6E65}"/>
              </a:ext>
            </a:extLst>
          </p:cNvPr>
          <p:cNvGrpSpPr/>
          <p:nvPr/>
        </p:nvGrpSpPr>
        <p:grpSpPr>
          <a:xfrm>
            <a:off x="6825589" y="4523503"/>
            <a:ext cx="5274867" cy="610245"/>
            <a:chOff x="6825589" y="4359872"/>
            <a:chExt cx="5274867" cy="610245"/>
          </a:xfrm>
        </p:grpSpPr>
        <p:sp>
          <p:nvSpPr>
            <p:cNvPr id="1280" name="Google Shape;257;p4">
              <a:extLst>
                <a:ext uri="{FF2B5EF4-FFF2-40B4-BE49-F238E27FC236}">
                  <a16:creationId xmlns:a16="http://schemas.microsoft.com/office/drawing/2014/main" id="{87CEE4A7-0804-5224-7EF2-1217F4DE560C}"/>
                </a:ext>
              </a:extLst>
            </p:cNvPr>
            <p:cNvSpPr txBox="1"/>
            <p:nvPr/>
          </p:nvSpPr>
          <p:spPr>
            <a:xfrm>
              <a:off x="7625420" y="4442638"/>
              <a:ext cx="4475036" cy="444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pt-BR" sz="1600" b="1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+2,4k </a:t>
              </a:r>
              <a:r>
                <a:rPr lang="pt-BR" b="0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doações realizadas pelos doadores</a:t>
              </a:r>
              <a:endParaRPr sz="900" b="0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0" name="btfpIcon476137">
              <a:extLst>
                <a:ext uri="{FF2B5EF4-FFF2-40B4-BE49-F238E27FC236}">
                  <a16:creationId xmlns:a16="http://schemas.microsoft.com/office/drawing/2014/main" id="{24172FA2-7742-CD8E-0AA2-5232E685185D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6825589" y="4359872"/>
              <a:ext cx="610245" cy="610245"/>
              <a:chOff x="6359921" y="4272266"/>
              <a:chExt cx="610245" cy="610245"/>
            </a:xfrm>
          </p:grpSpPr>
          <p:sp>
            <p:nvSpPr>
              <p:cNvPr id="1399" name="btfpIconCircle476137">
                <a:extLst>
                  <a:ext uri="{FF2B5EF4-FFF2-40B4-BE49-F238E27FC236}">
                    <a16:creationId xmlns:a16="http://schemas.microsoft.com/office/drawing/2014/main" id="{84AF75AA-DE30-E27A-A813-F835A32A08C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59921" y="4272266"/>
                <a:ext cx="610245" cy="610245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0C172D"/>
                  </a:solidFill>
                </a:endParaRPr>
              </a:p>
            </p:txBody>
          </p:sp>
          <p:pic>
            <p:nvPicPr>
              <p:cNvPr id="1398" name="btfpIconLines476137">
                <a:extLst>
                  <a:ext uri="{FF2B5EF4-FFF2-40B4-BE49-F238E27FC236}">
                    <a16:creationId xmlns:a16="http://schemas.microsoft.com/office/drawing/2014/main" id="{76C346BC-819C-06EF-D127-74834C21C99D}"/>
                  </a:ext>
                </a:extLst>
              </p:cNvPr>
              <p:cNvPicPr>
                <a:picLocks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59921" y="4272266"/>
                <a:ext cx="610245" cy="610245"/>
              </a:xfrm>
              <a:prstGeom prst="rect">
                <a:avLst/>
              </a:prstGeom>
            </p:spPr>
          </p:pic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53B8ED5-E8EA-B1D9-543C-99F872C93159}"/>
              </a:ext>
            </a:extLst>
          </p:cNvPr>
          <p:cNvGrpSpPr/>
          <p:nvPr/>
        </p:nvGrpSpPr>
        <p:grpSpPr>
          <a:xfrm>
            <a:off x="6825589" y="5227906"/>
            <a:ext cx="5274867" cy="610245"/>
            <a:chOff x="6825589" y="4996897"/>
            <a:chExt cx="5274867" cy="610245"/>
          </a:xfrm>
        </p:grpSpPr>
        <p:sp>
          <p:nvSpPr>
            <p:cNvPr id="1296" name="Google Shape;257;p4">
              <a:extLst>
                <a:ext uri="{FF2B5EF4-FFF2-40B4-BE49-F238E27FC236}">
                  <a16:creationId xmlns:a16="http://schemas.microsoft.com/office/drawing/2014/main" id="{55CE6C2A-30E6-3210-604B-C75810498CA2}"/>
                </a:ext>
              </a:extLst>
            </p:cNvPr>
            <p:cNvSpPr txBox="1"/>
            <p:nvPr/>
          </p:nvSpPr>
          <p:spPr>
            <a:xfrm>
              <a:off x="7625420" y="5079663"/>
              <a:ext cx="4475036" cy="444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pt-BR" sz="1600" b="1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+2000 </a:t>
              </a:r>
              <a:r>
                <a:rPr lang="pt-BR" b="0" i="0" u="none" strike="noStrike" cap="none" dirty="0">
                  <a:solidFill>
                    <a:srgbClr val="0C172D"/>
                  </a:solidFill>
                  <a:latin typeface="Arial"/>
                  <a:ea typeface="Arial"/>
                  <a:cs typeface="Arial"/>
                  <a:sym typeface="Arial"/>
                </a:rPr>
                <a:t>pessoas impactadas diretamente</a:t>
              </a:r>
              <a:endParaRPr sz="900" b="0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5" name="btfpIcon748985">
              <a:extLst>
                <a:ext uri="{FF2B5EF4-FFF2-40B4-BE49-F238E27FC236}">
                  <a16:creationId xmlns:a16="http://schemas.microsoft.com/office/drawing/2014/main" id="{A7FB4850-3266-FB3E-DDED-3E702A832287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6825589" y="4996897"/>
              <a:ext cx="610245" cy="610245"/>
              <a:chOff x="6359921" y="4888177"/>
              <a:chExt cx="610245" cy="610245"/>
            </a:xfrm>
          </p:grpSpPr>
          <p:sp>
            <p:nvSpPr>
              <p:cNvPr id="1404" name="btfpIconCircle748985">
                <a:extLst>
                  <a:ext uri="{FF2B5EF4-FFF2-40B4-BE49-F238E27FC236}">
                    <a16:creationId xmlns:a16="http://schemas.microsoft.com/office/drawing/2014/main" id="{5783B354-AA6C-BC46-D0EE-E0ABD705B8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59921" y="4888177"/>
                <a:ext cx="610245" cy="610245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0C172D"/>
                  </a:solidFill>
                </a:endParaRPr>
              </a:p>
            </p:txBody>
          </p:sp>
          <p:pic>
            <p:nvPicPr>
              <p:cNvPr id="1403" name="btfpIconLines748985">
                <a:extLst>
                  <a:ext uri="{FF2B5EF4-FFF2-40B4-BE49-F238E27FC236}">
                    <a16:creationId xmlns:a16="http://schemas.microsoft.com/office/drawing/2014/main" id="{7AA27377-EB67-BE73-6C24-A424E928BB9A}"/>
                  </a:ext>
                </a:extLst>
              </p:cNvPr>
              <p:cNvPicPr>
                <a:picLocks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59921" y="4888177"/>
                <a:ext cx="610245" cy="610245"/>
              </a:xfrm>
              <a:prstGeom prst="rect">
                <a:avLst/>
              </a:prstGeom>
            </p:spPr>
          </p:pic>
        </p:grpSp>
      </p:grpSp>
      <p:sp>
        <p:nvSpPr>
          <p:cNvPr id="8" name="Google Shape;11;p35">
            <a:extLst>
              <a:ext uri="{FF2B5EF4-FFF2-40B4-BE49-F238E27FC236}">
                <a16:creationId xmlns:a16="http://schemas.microsoft.com/office/drawing/2014/main" id="{077FB4C8-8432-52D7-3417-E9AE8BE743A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2556207" y="4831797"/>
            <a:ext cx="584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spcFirstLastPara="1" vert="horz" wrap="none" lIns="22225" tIns="0" rIns="222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12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Valor</a:t>
            </a:r>
          </a:p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12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captado</a:t>
            </a:r>
            <a:endParaRPr lang="pt-BR" sz="12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Google Shape;11;p35">
            <a:extLst>
              <a:ext uri="{FF2B5EF4-FFF2-40B4-BE49-F238E27FC236}">
                <a16:creationId xmlns:a16="http://schemas.microsoft.com/office/drawing/2014/main" id="{5AA4C6A5-EF09-CCE8-130E-A600F94B830C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977900" y="6244168"/>
            <a:ext cx="584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spcFirstLastPara="1" vert="horz" wrap="none" lIns="22225" tIns="0" rIns="222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r>
              <a:rPr lang="pt-B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 0</a:t>
            </a:r>
            <a:endParaRPr lang="pt-B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Google Shape;11;p35">
            <a:extLst>
              <a:ext uri="{FF2B5EF4-FFF2-40B4-BE49-F238E27FC236}">
                <a16:creationId xmlns:a16="http://schemas.microsoft.com/office/drawing/2014/main" id="{89F2ADD4-C2FC-AB81-767B-49F75D525FB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2556207" y="6244168"/>
            <a:ext cx="584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spcFirstLastPara="1" vert="horz" wrap="none" lIns="22225" tIns="0" rIns="222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r>
              <a:rPr lang="pt-B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 1</a:t>
            </a:r>
            <a:endParaRPr lang="pt-B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Google Shape;11;p35">
            <a:extLst>
              <a:ext uri="{FF2B5EF4-FFF2-40B4-BE49-F238E27FC236}">
                <a16:creationId xmlns:a16="http://schemas.microsoft.com/office/drawing/2014/main" id="{EE886EF4-CE02-1CFE-85D2-4C9D9FC8D994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2556207" y="3532908"/>
            <a:ext cx="5842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spcFirstLastPara="1" vert="horz" wrap="none" lIns="22225" tIns="0" rIns="222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Rendimento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AC385A5F-2943-8EDB-0EA3-D3E4188E97BA}"/>
              </a:ext>
            </a:extLst>
          </p:cNvPr>
          <p:cNvSpPr/>
          <p:nvPr/>
        </p:nvSpPr>
        <p:spPr>
          <a:xfrm>
            <a:off x="3373624" y="3532908"/>
            <a:ext cx="479912" cy="262848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CustomIcon">
            <a:extLst>
              <a:ext uri="{FF2B5EF4-FFF2-40B4-BE49-F238E27FC236}">
                <a16:creationId xmlns:a16="http://schemas.microsoft.com/office/drawing/2014/main" id="{97F5BC97-AD4F-499C-7295-FB1969F5B55A}"/>
              </a:ext>
            </a:extLst>
          </p:cNvPr>
          <p:cNvGrpSpPr>
            <a:grpSpLocks/>
          </p:cNvGrpSpPr>
          <p:nvPr>
            <p:custDataLst>
              <p:tags r:id="rId11"/>
            </p:custDataLst>
          </p:nvPr>
        </p:nvGrpSpPr>
        <p:grpSpPr>
          <a:xfrm>
            <a:off x="554736" y="1411728"/>
            <a:ext cx="809422" cy="809422"/>
            <a:chOff x="-205105" y="-205105"/>
            <a:chExt cx="1019810" cy="1019810"/>
          </a:xfrm>
          <a:noFill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24A9A3C-7CDC-993C-AB05-ED6AEF522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F7761313-8885-81B8-09ED-347C1D767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20" name="CustomIcon">
            <a:extLst>
              <a:ext uri="{FF2B5EF4-FFF2-40B4-BE49-F238E27FC236}">
                <a16:creationId xmlns:a16="http://schemas.microsoft.com/office/drawing/2014/main" id="{FD9799E6-6DA5-0831-640E-D840EB95A8A4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>
          <a:xfrm>
            <a:off x="6880171" y="1440860"/>
            <a:ext cx="809422" cy="809422"/>
            <a:chOff x="-205105" y="-205105"/>
            <a:chExt cx="1019810" cy="1019810"/>
          </a:xfrm>
          <a:noFill/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27FA4BC-9F6A-F001-94E2-779C52EA99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8A2EF059-9B49-2CD7-0A77-BDD035A30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sp>
        <p:nvSpPr>
          <p:cNvPr id="21" name="btfpBulletedList367283">
            <a:extLst>
              <a:ext uri="{FF2B5EF4-FFF2-40B4-BE49-F238E27FC236}">
                <a16:creationId xmlns:a16="http://schemas.microsoft.com/office/drawing/2014/main" id="{DE434D57-B51A-A132-B960-80318A6476E0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3956497" y="4129720"/>
            <a:ext cx="2202524" cy="677108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Rendimento nominal</a:t>
            </a:r>
          </a:p>
          <a:p>
            <a:r>
              <a:rPr lang="pt-BR" sz="1200" dirty="0">
                <a:solidFill>
                  <a:srgbClr val="002060"/>
                </a:solidFill>
              </a:rPr>
              <a:t>Retorna para o fundo, compensando a inflação</a:t>
            </a:r>
          </a:p>
        </p:txBody>
      </p:sp>
      <p:sp>
        <p:nvSpPr>
          <p:cNvPr id="24" name="btfpBulletedList367283">
            <a:extLst>
              <a:ext uri="{FF2B5EF4-FFF2-40B4-BE49-F238E27FC236}">
                <a16:creationId xmlns:a16="http://schemas.microsoft.com/office/drawing/2014/main" id="{9C81C5D3-B4BF-44E8-248E-3A4EA4BC4110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3956497" y="5340659"/>
            <a:ext cx="2202524" cy="861774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Rendimento real</a:t>
            </a:r>
          </a:p>
          <a:p>
            <a:r>
              <a:rPr lang="pt-BR" sz="1200" dirty="0">
                <a:solidFill>
                  <a:srgbClr val="002060"/>
                </a:solidFill>
              </a:rPr>
              <a:t>Utilizado para repasses de projetos de inovação, bolsas sociais, bolsa de intercâmbio</a:t>
            </a:r>
          </a:p>
        </p:txBody>
      </p:sp>
      <p:pic>
        <p:nvPicPr>
          <p:cNvPr id="26" name="CustomIcon">
            <a:extLst>
              <a:ext uri="{FF2B5EF4-FFF2-40B4-BE49-F238E27FC236}">
                <a16:creationId xmlns:a16="http://schemas.microsoft.com/office/drawing/2014/main" id="{0092D9BB-100D-A474-3EFE-5C481F7B81D9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956497" y="3739942"/>
            <a:ext cx="387811" cy="387811"/>
          </a:xfrm>
          <a:prstGeom prst="rect">
            <a:avLst/>
          </a:prstGeom>
        </p:spPr>
      </p:pic>
      <p:pic>
        <p:nvPicPr>
          <p:cNvPr id="28" name="CustomIcon">
            <a:extLst>
              <a:ext uri="{FF2B5EF4-FFF2-40B4-BE49-F238E27FC236}">
                <a16:creationId xmlns:a16="http://schemas.microsoft.com/office/drawing/2014/main" id="{7EDF3ED4-5BFD-75CE-3201-5232AE2DE8C5}"/>
              </a:ext>
            </a:extLst>
          </p:cNvPr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956497" y="4831110"/>
            <a:ext cx="609600" cy="6096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E3139F7-7899-4EB6-5377-0B04C6FA2B87}"/>
              </a:ext>
            </a:extLst>
          </p:cNvPr>
          <p:cNvSpPr txBox="1"/>
          <p:nvPr/>
        </p:nvSpPr>
        <p:spPr>
          <a:xfrm>
            <a:off x="613964" y="2667248"/>
            <a:ext cx="414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Funcionamento de um </a:t>
            </a:r>
            <a:r>
              <a:rPr lang="pt-BR" sz="1800" b="1" noProof="0" dirty="0" err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endowment</a:t>
            </a:r>
            <a:endParaRPr lang="pt-BR" sz="1800" b="1" noProof="0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D97CA2-38F7-2248-7D27-5274B589FD77}"/>
              </a:ext>
            </a:extLst>
          </p:cNvPr>
          <p:cNvSpPr txBox="1"/>
          <p:nvPr/>
        </p:nvSpPr>
        <p:spPr>
          <a:xfrm>
            <a:off x="6880492" y="2667248"/>
            <a:ext cx="4049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Grandes resultados - Reditus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282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1" grpId="0" animBg="1"/>
      <p:bldP spid="46" grpId="0" animBg="1"/>
      <p:bldP spid="45" grpId="0" animBg="1"/>
      <p:bldP spid="42" grpId="0" animBg="1"/>
      <p:bldP spid="41" grpId="0" animBg="1"/>
      <p:bldGraphic spid="1440" grpId="0">
        <p:bldAsOne/>
      </p:bldGraphic>
      <p:bldP spid="1167" grpId="0"/>
      <p:bldP spid="1123" grpId="0"/>
      <p:bldP spid="1209" grpId="0"/>
      <p:bldP spid="8" grpId="0"/>
      <p:bldP spid="9" grpId="0"/>
      <p:bldP spid="10" grpId="0"/>
      <p:bldP spid="11" grpId="0"/>
      <p:bldP spid="12" grpId="0" animBg="1"/>
      <p:bldP spid="21" grpId="0"/>
      <p:bldP spid="2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btfpColumnIndicatorGroup2">
            <a:extLst>
              <a:ext uri="{FF2B5EF4-FFF2-40B4-BE49-F238E27FC236}">
                <a16:creationId xmlns:a16="http://schemas.microsoft.com/office/drawing/2014/main" id="{98A9D741-A443-47FB-E1AC-B0995EBA17E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6" name="btfpColumnGapBlocker415274">
              <a:extLst>
                <a:ext uri="{FF2B5EF4-FFF2-40B4-BE49-F238E27FC236}">
                  <a16:creationId xmlns:a16="http://schemas.microsoft.com/office/drawing/2014/main" id="{473F0C4C-A921-D714-9E61-6D6EFCEF5DD9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btfpColumnGapBlocker229524">
              <a:extLst>
                <a:ext uri="{FF2B5EF4-FFF2-40B4-BE49-F238E27FC236}">
                  <a16:creationId xmlns:a16="http://schemas.microsoft.com/office/drawing/2014/main" id="{EE75592C-6559-4E48-152C-03BED1D168AC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btfpColumnIndicator935954">
              <a:extLst>
                <a:ext uri="{FF2B5EF4-FFF2-40B4-BE49-F238E27FC236}">
                  <a16:creationId xmlns:a16="http://schemas.microsoft.com/office/drawing/2014/main" id="{17862E31-BE9C-CCDE-B1FD-496AE5BA9390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881123">
              <a:extLst>
                <a:ext uri="{FF2B5EF4-FFF2-40B4-BE49-F238E27FC236}">
                  <a16:creationId xmlns:a16="http://schemas.microsoft.com/office/drawing/2014/main" id="{4DFAE73D-5E9F-A185-DBF9-110934561807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btfpColumnIndicatorGroup1">
            <a:extLst>
              <a:ext uri="{FF2B5EF4-FFF2-40B4-BE49-F238E27FC236}">
                <a16:creationId xmlns:a16="http://schemas.microsoft.com/office/drawing/2014/main" id="{9FA7A9A0-CA36-FFF2-49E6-AA29B677E83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5" name="btfpColumnGapBlocker615403">
              <a:extLst>
                <a:ext uri="{FF2B5EF4-FFF2-40B4-BE49-F238E27FC236}">
                  <a16:creationId xmlns:a16="http://schemas.microsoft.com/office/drawing/2014/main" id="{36A93E46-AA3D-2842-1305-06FC3654035A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btfpColumnGapBlocker458781">
              <a:extLst>
                <a:ext uri="{FF2B5EF4-FFF2-40B4-BE49-F238E27FC236}">
                  <a16:creationId xmlns:a16="http://schemas.microsoft.com/office/drawing/2014/main" id="{714FDF28-DF11-0309-5915-1C73EEF6751D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1" name="btfpColumnIndicator754446">
              <a:extLst>
                <a:ext uri="{FF2B5EF4-FFF2-40B4-BE49-F238E27FC236}">
                  <a16:creationId xmlns:a16="http://schemas.microsoft.com/office/drawing/2014/main" id="{38A76ABC-42C7-94CE-AB1F-56A2D3686EBA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btfpColumnIndicator460377">
              <a:extLst>
                <a:ext uri="{FF2B5EF4-FFF2-40B4-BE49-F238E27FC236}">
                  <a16:creationId xmlns:a16="http://schemas.microsoft.com/office/drawing/2014/main" id="{0E1A884F-099E-6319-B267-7CB4C28E5602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1900"/>
              <a:t>Para alcançar o patamar atual, o Instituto Reditus percorreu diferentes etapas, contando com a dedicação de diversos voluntários movidos pelo sentimento de retribuição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57784" y="1097280"/>
            <a:ext cx="110825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172D"/>
                </a:solidFill>
              </a:rPr>
              <a:t>Trajetória do Instituto Reditus</a:t>
            </a:r>
          </a:p>
        </p:txBody>
      </p:sp>
      <p:cxnSp>
        <p:nvCxnSpPr>
          <p:cNvPr id="4" name="Linha do subtítulo"/>
          <p:cNvCxnSpPr/>
          <p:nvPr/>
        </p:nvCxnSpPr>
        <p:spPr>
          <a:xfrm>
            <a:off x="557784" y="1481328"/>
            <a:ext cx="11082527" cy="0"/>
          </a:xfrm>
          <a:prstGeom prst="line">
            <a:avLst/>
          </a:prstGeom>
          <a:ln w="12700">
            <a:solidFill>
              <a:srgbClr val="0C1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Etapa 1: 2011-2016"/>
          <p:cNvGrpSpPr/>
          <p:nvPr/>
        </p:nvGrpSpPr>
        <p:grpSpPr>
          <a:xfrm>
            <a:off x="557784" y="1664208"/>
            <a:ext cx="1732788" cy="4325112"/>
            <a:chOff x="557784" y="1664208"/>
            <a:chExt cx="1732788" cy="4325112"/>
          </a:xfrm>
        </p:grpSpPr>
        <p:sp>
          <p:nvSpPr>
            <p:cNvPr id="6" name="Período e etapa"/>
            <p:cNvSpPr txBox="1"/>
            <p:nvPr/>
          </p:nvSpPr>
          <p:spPr>
            <a:xfrm>
              <a:off x="557784" y="1664208"/>
              <a:ext cx="1732787" cy="6583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2011-2016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Corrente de retribuição</a:t>
              </a:r>
            </a:p>
          </p:txBody>
        </p:sp>
        <p:cxnSp>
          <p:nvCxnSpPr>
            <p:cNvPr id="7" name="Seta da linha do tempo"/>
            <p:cNvCxnSpPr/>
            <p:nvPr/>
          </p:nvCxnSpPr>
          <p:spPr>
            <a:xfrm>
              <a:off x="557784" y="2432304"/>
              <a:ext cx="1732788" cy="0"/>
            </a:xfrm>
            <a:prstGeom prst="line">
              <a:avLst/>
            </a:prstGeom>
            <a:ln w="19050">
              <a:solidFill>
                <a:srgbClr val="0C172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ainel de imagem"/>
            <p:cNvSpPr/>
            <p:nvPr/>
          </p:nvSpPr>
          <p:spPr>
            <a:xfrm>
              <a:off x="557784" y="2606040"/>
              <a:ext cx="1732787" cy="1554480"/>
            </a:xfrm>
            <a:prstGeom prst="roundRect">
              <a:avLst>
                <a:gd name="adj" fmla="val 6000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9" name="Foto 2011" descr="image.png"/>
            <p:cNvPicPr>
              <a:picLocks noChangeAspect="1"/>
            </p:cNvPicPr>
            <p:nvPr/>
          </p:nvPicPr>
          <p:blipFill>
            <a:blip r:embed="rId3"/>
            <a:srcRect l="5300" t="7600"/>
            <a:stretch>
              <a:fillRect/>
            </a:stretch>
          </p:blipFill>
          <p:spPr>
            <a:xfrm>
              <a:off x="667512" y="2705839"/>
              <a:ext cx="914400" cy="851960"/>
            </a:xfrm>
            <a:prstGeom prst="rect">
              <a:avLst/>
            </a:prstGeom>
            <a:ln w="19050">
              <a:solidFill>
                <a:srgbClr val="FFFFFF"/>
              </a:solidFill>
            </a:ln>
          </p:spPr>
        </p:pic>
        <p:pic>
          <p:nvPicPr>
            <p:cNvPr id="10" name="Foto 2016" descr="image.png"/>
            <p:cNvPicPr>
              <a:picLocks noChangeAspect="1"/>
            </p:cNvPicPr>
            <p:nvPr/>
          </p:nvPicPr>
          <p:blipFill>
            <a:blip r:embed="rId4"/>
            <a:srcRect l="15900" t="18000" r="20800" b="22600"/>
            <a:stretch>
              <a:fillRect/>
            </a:stretch>
          </p:blipFill>
          <p:spPr>
            <a:xfrm>
              <a:off x="1243584" y="3253945"/>
              <a:ext cx="914400" cy="853029"/>
            </a:xfrm>
            <a:prstGeom prst="rect">
              <a:avLst/>
            </a:prstGeom>
            <a:ln w="19050">
              <a:solidFill>
                <a:srgbClr val="FFFFFF"/>
              </a:solidFill>
            </a:ln>
          </p:spPr>
        </p:pic>
        <p:sp>
          <p:nvSpPr>
            <p:cNvPr id="11" name="Cartão de texto"/>
            <p:cNvSpPr/>
            <p:nvPr/>
          </p:nvSpPr>
          <p:spPr>
            <a:xfrm>
              <a:off x="557784" y="4251960"/>
              <a:ext cx="1732787" cy="17373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Descrição"/>
            <p:cNvSpPr txBox="1"/>
            <p:nvPr/>
          </p:nvSpPr>
          <p:spPr>
            <a:xfrm>
              <a:off x="667512" y="4352544"/>
              <a:ext cx="1513331" cy="1554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Em 2011, </a:t>
              </a:r>
              <a:r>
                <a:rPr sz="1200" b="1" i="0">
                  <a:solidFill>
                    <a:srgbClr val="0C172D"/>
                  </a:solidFill>
                </a:rPr>
                <a:t>Daniel Spilberg</a:t>
              </a:r>
              <a:r>
                <a:rPr sz="1200" b="0" i="0">
                  <a:solidFill>
                    <a:srgbClr val="0C172D"/>
                  </a:solidFill>
                </a:rPr>
                <a:t> doa Bolsa Alumni para </a:t>
              </a:r>
              <a:r>
                <a:rPr sz="1200" b="1" i="0">
                  <a:solidFill>
                    <a:srgbClr val="0C172D"/>
                  </a:solidFill>
                </a:rPr>
                <a:t>Raphael Sodero</a:t>
              </a:r>
              <a:r>
                <a:rPr sz="1200" b="0" i="0">
                  <a:solidFill>
                    <a:srgbClr val="0C172D"/>
                  </a:solidFill>
                </a:rPr>
                <a:t>, que repassa em 2016 para </a:t>
              </a:r>
              <a:r>
                <a:rPr sz="1200" b="1" i="0">
                  <a:solidFill>
                    <a:srgbClr val="0C172D"/>
                  </a:solidFill>
                </a:rPr>
                <a:t>Henrique Duarte</a:t>
              </a:r>
            </a:p>
          </p:txBody>
        </p:sp>
      </p:grpSp>
      <p:grpSp>
        <p:nvGrpSpPr>
          <p:cNvPr id="13" name="Etapa 2: 2017"/>
          <p:cNvGrpSpPr/>
          <p:nvPr/>
        </p:nvGrpSpPr>
        <p:grpSpPr>
          <a:xfrm>
            <a:off x="2427732" y="1664208"/>
            <a:ext cx="1732788" cy="4325112"/>
            <a:chOff x="2427732" y="1664208"/>
            <a:chExt cx="1732788" cy="4325112"/>
          </a:xfrm>
        </p:grpSpPr>
        <p:sp>
          <p:nvSpPr>
            <p:cNvPr id="14" name="Período e etapa"/>
            <p:cNvSpPr txBox="1"/>
            <p:nvPr/>
          </p:nvSpPr>
          <p:spPr>
            <a:xfrm>
              <a:off x="2427732" y="1664208"/>
              <a:ext cx="1732787" cy="6583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2017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Ideação do instituto em Harvard</a:t>
              </a:r>
            </a:p>
          </p:txBody>
        </p:sp>
        <p:cxnSp>
          <p:nvCxnSpPr>
            <p:cNvPr id="15" name="Seta da linha do tempo"/>
            <p:cNvCxnSpPr/>
            <p:nvPr/>
          </p:nvCxnSpPr>
          <p:spPr>
            <a:xfrm>
              <a:off x="2427732" y="2432304"/>
              <a:ext cx="1732788" cy="0"/>
            </a:xfrm>
            <a:prstGeom prst="line">
              <a:avLst/>
            </a:prstGeom>
            <a:ln w="19050">
              <a:solidFill>
                <a:srgbClr val="0C172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ainel de imagem"/>
            <p:cNvSpPr/>
            <p:nvPr/>
          </p:nvSpPr>
          <p:spPr>
            <a:xfrm>
              <a:off x="2427732" y="2606040"/>
              <a:ext cx="1732787" cy="1554480"/>
            </a:xfrm>
            <a:prstGeom prst="roundRect">
              <a:avLst>
                <a:gd name="adj" fmla="val 6000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7" name="Logo Harvard" descr="image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537460" y="3063240"/>
              <a:ext cx="777240" cy="777240"/>
            </a:xfrm>
            <a:prstGeom prst="rect">
              <a:avLst/>
            </a:prstGeom>
          </p:spPr>
        </p:pic>
        <p:pic>
          <p:nvPicPr>
            <p:cNvPr id="18" name="Brasão UFRJ" descr="image.png"/>
            <p:cNvPicPr>
              <a:picLocks noChangeAspect="1"/>
            </p:cNvPicPr>
            <p:nvPr/>
          </p:nvPicPr>
          <p:blipFill>
            <a:blip r:embed="rId6"/>
            <a:srcRect r="66200"/>
            <a:stretch>
              <a:fillRect/>
            </a:stretch>
          </p:blipFill>
          <p:spPr>
            <a:xfrm>
              <a:off x="3342132" y="3017818"/>
              <a:ext cx="731520" cy="868082"/>
            </a:xfrm>
            <a:prstGeom prst="rect">
              <a:avLst/>
            </a:prstGeom>
          </p:spPr>
        </p:pic>
        <p:sp>
          <p:nvSpPr>
            <p:cNvPr id="19" name="Cartão de texto"/>
            <p:cNvSpPr/>
            <p:nvPr/>
          </p:nvSpPr>
          <p:spPr>
            <a:xfrm>
              <a:off x="2427732" y="4251960"/>
              <a:ext cx="1732787" cy="17373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0" name="Descrição"/>
            <p:cNvSpPr txBox="1"/>
            <p:nvPr/>
          </p:nvSpPr>
          <p:spPr>
            <a:xfrm>
              <a:off x="2537460" y="4352544"/>
              <a:ext cx="1513331" cy="1554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Durante seu </a:t>
              </a:r>
              <a:r>
                <a:rPr sz="1200" b="1" i="0">
                  <a:solidFill>
                    <a:srgbClr val="0C172D"/>
                  </a:solidFill>
                </a:rPr>
                <a:t>MBA em Harvard</a:t>
              </a:r>
              <a:r>
                <a:rPr sz="1200" b="0" i="0">
                  <a:solidFill>
                    <a:srgbClr val="0C172D"/>
                  </a:solidFill>
                </a:rPr>
                <a:t>, Raphael idealiza o Fundo de </a:t>
              </a:r>
              <a:r>
                <a:rPr sz="1200" b="0" i="1">
                  <a:solidFill>
                    <a:srgbClr val="0C172D"/>
                  </a:solidFill>
                </a:rPr>
                <a:t>Endowment</a:t>
              </a:r>
              <a:r>
                <a:rPr sz="1200" b="0" i="0">
                  <a:solidFill>
                    <a:srgbClr val="0C172D"/>
                  </a:solidFill>
                </a:rPr>
                <a:t> da UFRJ inspirado pelas grandes universidades americanas</a:t>
              </a:r>
            </a:p>
          </p:txBody>
        </p:sp>
      </p:grpSp>
      <p:grpSp>
        <p:nvGrpSpPr>
          <p:cNvPr id="21" name="Etapa 3: 2018-2019"/>
          <p:cNvGrpSpPr/>
          <p:nvPr/>
        </p:nvGrpSpPr>
        <p:grpSpPr>
          <a:xfrm>
            <a:off x="4297680" y="1664208"/>
            <a:ext cx="1732788" cy="4325112"/>
            <a:chOff x="4297680" y="1664208"/>
            <a:chExt cx="1732788" cy="4325112"/>
          </a:xfrm>
        </p:grpSpPr>
        <p:sp>
          <p:nvSpPr>
            <p:cNvPr id="22" name="Período e etapa"/>
            <p:cNvSpPr txBox="1"/>
            <p:nvPr/>
          </p:nvSpPr>
          <p:spPr>
            <a:xfrm>
              <a:off x="4297680" y="1664208"/>
              <a:ext cx="1732787" cy="6583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2018-2019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Fundação e oficialização</a:t>
              </a:r>
            </a:p>
          </p:txBody>
        </p:sp>
        <p:cxnSp>
          <p:nvCxnSpPr>
            <p:cNvPr id="23" name="Seta da linha do tempo"/>
            <p:cNvCxnSpPr/>
            <p:nvPr/>
          </p:nvCxnSpPr>
          <p:spPr>
            <a:xfrm>
              <a:off x="4297680" y="2432304"/>
              <a:ext cx="1732788" cy="0"/>
            </a:xfrm>
            <a:prstGeom prst="line">
              <a:avLst/>
            </a:prstGeom>
            <a:ln w="19050">
              <a:solidFill>
                <a:srgbClr val="0C172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ainel de imagem"/>
            <p:cNvSpPr/>
            <p:nvPr/>
          </p:nvSpPr>
          <p:spPr>
            <a:xfrm>
              <a:off x="4297680" y="2606040"/>
              <a:ext cx="1732787" cy="1554480"/>
            </a:xfrm>
            <a:prstGeom prst="roundRect">
              <a:avLst>
                <a:gd name="adj" fmla="val 6000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5" name="Logo Instituto Reditus" descr="image.png"/>
            <p:cNvPicPr>
              <a:picLocks noChangeAspect="1"/>
            </p:cNvPicPr>
            <p:nvPr/>
          </p:nvPicPr>
          <p:blipFill>
            <a:blip r:embed="rId7"/>
            <a:srcRect l="20400" t="5000" r="13900" b="9700"/>
            <a:stretch>
              <a:fillRect/>
            </a:stretch>
          </p:blipFill>
          <p:spPr>
            <a:xfrm>
              <a:off x="4621769" y="2679192"/>
              <a:ext cx="1084609" cy="1408176"/>
            </a:xfrm>
            <a:prstGeom prst="rect">
              <a:avLst/>
            </a:prstGeom>
          </p:spPr>
        </p:pic>
        <p:sp>
          <p:nvSpPr>
            <p:cNvPr id="26" name="Cartão de texto"/>
            <p:cNvSpPr/>
            <p:nvPr/>
          </p:nvSpPr>
          <p:spPr>
            <a:xfrm>
              <a:off x="4297680" y="4251960"/>
              <a:ext cx="1732787" cy="17373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Descrição"/>
            <p:cNvSpPr txBox="1"/>
            <p:nvPr/>
          </p:nvSpPr>
          <p:spPr>
            <a:xfrm>
              <a:off x="4407408" y="4352544"/>
              <a:ext cx="1513331" cy="1554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Em 2018, </a:t>
              </a:r>
              <a:r>
                <a:rPr sz="1200" b="1" i="0">
                  <a:solidFill>
                    <a:srgbClr val="0C172D"/>
                  </a:solidFill>
                </a:rPr>
                <a:t>nasce oficialmente</a:t>
              </a:r>
              <a:r>
                <a:rPr sz="1200" b="0" i="0">
                  <a:solidFill>
                    <a:srgbClr val="0C172D"/>
                  </a:solidFill>
                </a:rPr>
                <a:t> o Instituto Reditus, com o </a:t>
              </a:r>
              <a:r>
                <a:rPr sz="1200" b="1" i="0">
                  <a:solidFill>
                    <a:srgbClr val="0C172D"/>
                  </a:solidFill>
                </a:rPr>
                <a:t>primeiro time de voluntários</a:t>
              </a:r>
              <a:r>
                <a:rPr sz="1200" b="0" i="0">
                  <a:solidFill>
                    <a:srgbClr val="0C172D"/>
                  </a:solidFill>
                </a:rPr>
                <a:t>, conselheiros, estatuto social e CNPJ</a:t>
              </a:r>
            </a:p>
          </p:txBody>
        </p:sp>
      </p:grpSp>
      <p:grpSp>
        <p:nvGrpSpPr>
          <p:cNvPr id="28" name="Etapa 4: 2020"/>
          <p:cNvGrpSpPr/>
          <p:nvPr/>
        </p:nvGrpSpPr>
        <p:grpSpPr>
          <a:xfrm>
            <a:off x="6167628" y="1664208"/>
            <a:ext cx="1732788" cy="4325112"/>
            <a:chOff x="6167628" y="1664208"/>
            <a:chExt cx="1732788" cy="4325112"/>
          </a:xfrm>
        </p:grpSpPr>
        <p:sp>
          <p:nvSpPr>
            <p:cNvPr id="29" name="Período e etapa"/>
            <p:cNvSpPr txBox="1"/>
            <p:nvPr/>
          </p:nvSpPr>
          <p:spPr>
            <a:xfrm>
              <a:off x="6167628" y="1664208"/>
              <a:ext cx="1732787" cy="6583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2020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Primeiros projetos e captação</a:t>
              </a:r>
            </a:p>
          </p:txBody>
        </p:sp>
        <p:cxnSp>
          <p:nvCxnSpPr>
            <p:cNvPr id="30" name="Seta da linha do tempo"/>
            <p:cNvCxnSpPr/>
            <p:nvPr/>
          </p:nvCxnSpPr>
          <p:spPr>
            <a:xfrm>
              <a:off x="6167628" y="2432304"/>
              <a:ext cx="1732788" cy="0"/>
            </a:xfrm>
            <a:prstGeom prst="line">
              <a:avLst/>
            </a:prstGeom>
            <a:ln w="19050">
              <a:solidFill>
                <a:srgbClr val="0C172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inel de imagem"/>
            <p:cNvSpPr/>
            <p:nvPr/>
          </p:nvSpPr>
          <p:spPr>
            <a:xfrm>
              <a:off x="6167628" y="2606040"/>
              <a:ext cx="1732787" cy="1554480"/>
            </a:xfrm>
            <a:prstGeom prst="roundRect">
              <a:avLst>
                <a:gd name="adj" fmla="val 6000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2" name="Notícias 2020" descr="news2020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6269086" y="2679192"/>
              <a:ext cx="1529870" cy="1408176"/>
            </a:xfrm>
            <a:prstGeom prst="rect">
              <a:avLst/>
            </a:prstGeom>
          </p:spPr>
        </p:pic>
        <p:sp>
          <p:nvSpPr>
            <p:cNvPr id="33" name="Cartão de texto"/>
            <p:cNvSpPr/>
            <p:nvPr/>
          </p:nvSpPr>
          <p:spPr>
            <a:xfrm>
              <a:off x="6167628" y="4251960"/>
              <a:ext cx="1732787" cy="17373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4" name="Descrição"/>
            <p:cNvSpPr txBox="1"/>
            <p:nvPr/>
          </p:nvSpPr>
          <p:spPr>
            <a:xfrm>
              <a:off x="6277356" y="4352544"/>
              <a:ext cx="1513331" cy="1554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Em 2020, começa o </a:t>
              </a:r>
              <a:r>
                <a:rPr sz="1200" b="1" i="0">
                  <a:solidFill>
                    <a:srgbClr val="0C172D"/>
                  </a:solidFill>
                </a:rPr>
                <a:t>impacto direto do Reditus</a:t>
              </a:r>
              <a:r>
                <a:rPr sz="1200" b="0" i="0">
                  <a:solidFill>
                    <a:srgbClr val="0C172D"/>
                  </a:solidFill>
                </a:rPr>
                <a:t> com mentoria de ex-alunos, seguida do </a:t>
              </a:r>
              <a:r>
                <a:rPr sz="1200" b="1" i="0">
                  <a:solidFill>
                    <a:srgbClr val="0C172D"/>
                  </a:solidFill>
                </a:rPr>
                <a:t>primeiro repasse</a:t>
              </a:r>
              <a:r>
                <a:rPr sz="1200" b="0" i="0">
                  <a:solidFill>
                    <a:srgbClr val="0C172D"/>
                  </a:solidFill>
                </a:rPr>
                <a:t> no programa de inovação</a:t>
              </a:r>
            </a:p>
          </p:txBody>
        </p:sp>
      </p:grpSp>
      <p:grpSp>
        <p:nvGrpSpPr>
          <p:cNvPr id="35" name="Etapa 5: 2021-2023"/>
          <p:cNvGrpSpPr/>
          <p:nvPr/>
        </p:nvGrpSpPr>
        <p:grpSpPr>
          <a:xfrm>
            <a:off x="8037575" y="1664208"/>
            <a:ext cx="1732788" cy="4325112"/>
            <a:chOff x="8037575" y="1664208"/>
            <a:chExt cx="1732788" cy="4325112"/>
          </a:xfrm>
        </p:grpSpPr>
        <p:sp>
          <p:nvSpPr>
            <p:cNvPr id="36" name="Período e etapa"/>
            <p:cNvSpPr txBox="1"/>
            <p:nvPr/>
          </p:nvSpPr>
          <p:spPr>
            <a:xfrm>
              <a:off x="8037575" y="1664208"/>
              <a:ext cx="1732787" cy="6583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2021-2023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Expansão da atuação</a:t>
              </a:r>
            </a:p>
          </p:txBody>
        </p:sp>
        <p:cxnSp>
          <p:nvCxnSpPr>
            <p:cNvPr id="37" name="Seta da linha do tempo"/>
            <p:cNvCxnSpPr/>
            <p:nvPr/>
          </p:nvCxnSpPr>
          <p:spPr>
            <a:xfrm>
              <a:off x="8037575" y="2432304"/>
              <a:ext cx="1732788" cy="0"/>
            </a:xfrm>
            <a:prstGeom prst="line">
              <a:avLst/>
            </a:prstGeom>
            <a:ln w="19050">
              <a:solidFill>
                <a:srgbClr val="0C172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Painel de imagem"/>
            <p:cNvSpPr/>
            <p:nvPr/>
          </p:nvSpPr>
          <p:spPr>
            <a:xfrm>
              <a:off x="8037575" y="2606040"/>
              <a:ext cx="1732787" cy="1554480"/>
            </a:xfrm>
            <a:prstGeom prst="roundRect">
              <a:avLst>
                <a:gd name="adj" fmla="val 6000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9" name="Fotos 2021-2023" descr="photos2021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8129015" y="2685821"/>
              <a:ext cx="1549907" cy="1394917"/>
            </a:xfrm>
            <a:prstGeom prst="rect">
              <a:avLst/>
            </a:prstGeom>
          </p:spPr>
        </p:pic>
        <p:sp>
          <p:nvSpPr>
            <p:cNvPr id="40" name="Cartão de texto"/>
            <p:cNvSpPr/>
            <p:nvPr/>
          </p:nvSpPr>
          <p:spPr>
            <a:xfrm>
              <a:off x="8037575" y="4251960"/>
              <a:ext cx="1732787" cy="17373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1" name="Descrição"/>
            <p:cNvSpPr txBox="1"/>
            <p:nvPr/>
          </p:nvSpPr>
          <p:spPr>
            <a:xfrm>
              <a:off x="8147303" y="4352544"/>
              <a:ext cx="1513331" cy="1554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Em 2021, </a:t>
              </a:r>
              <a:r>
                <a:rPr sz="1200" b="1" i="0">
                  <a:solidFill>
                    <a:srgbClr val="0C172D"/>
                  </a:solidFill>
                </a:rPr>
                <a:t>novos projetos e expansão da atuação</a:t>
              </a:r>
              <a:r>
                <a:rPr sz="1200" b="0" i="0">
                  <a:solidFill>
                    <a:srgbClr val="0C172D"/>
                  </a:solidFill>
                </a:rPr>
                <a:t>, levando o patrimônio gerido de </a:t>
              </a:r>
              <a:r>
                <a:rPr sz="1200" b="1" i="0">
                  <a:solidFill>
                    <a:srgbClr val="0C172D"/>
                  </a:solidFill>
                </a:rPr>
                <a:t>R$2,6M em jan/21 para R$13,4M em dez/23</a:t>
              </a:r>
            </a:p>
          </p:txBody>
        </p:sp>
      </p:grpSp>
      <p:grpSp>
        <p:nvGrpSpPr>
          <p:cNvPr id="42" name="Etapa 6: 2024-2025"/>
          <p:cNvGrpSpPr/>
          <p:nvPr/>
        </p:nvGrpSpPr>
        <p:grpSpPr>
          <a:xfrm>
            <a:off x="9907524" y="1664208"/>
            <a:ext cx="1732787" cy="4325112"/>
            <a:chOff x="9907524" y="1664208"/>
            <a:chExt cx="1732787" cy="4325112"/>
          </a:xfrm>
        </p:grpSpPr>
        <p:sp>
          <p:nvSpPr>
            <p:cNvPr id="43" name="Período e etapa"/>
            <p:cNvSpPr txBox="1"/>
            <p:nvPr/>
          </p:nvSpPr>
          <p:spPr>
            <a:xfrm>
              <a:off x="9907524" y="1664208"/>
              <a:ext cx="1732787" cy="6583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2024-2025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0C172D"/>
                  </a:solidFill>
                </a:rPr>
                <a:t>Consolidação e parceria com UFRJ</a:t>
              </a:r>
            </a:p>
          </p:txBody>
        </p:sp>
        <p:cxnSp>
          <p:nvCxnSpPr>
            <p:cNvPr id="44" name="Seta da linha do tempo"/>
            <p:cNvCxnSpPr/>
            <p:nvPr/>
          </p:nvCxnSpPr>
          <p:spPr>
            <a:xfrm>
              <a:off x="9907524" y="2432304"/>
              <a:ext cx="1732787" cy="0"/>
            </a:xfrm>
            <a:prstGeom prst="line">
              <a:avLst/>
            </a:prstGeom>
            <a:ln w="19050">
              <a:solidFill>
                <a:srgbClr val="0C172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Painel de imagem"/>
            <p:cNvSpPr/>
            <p:nvPr/>
          </p:nvSpPr>
          <p:spPr>
            <a:xfrm>
              <a:off x="9907524" y="2606040"/>
              <a:ext cx="1732787" cy="1554480"/>
            </a:xfrm>
            <a:prstGeom prst="roundRect">
              <a:avLst>
                <a:gd name="adj" fmla="val 6000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46" name="Fotos 2024" descr="photos2024.pn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>
            <a:xfrm>
              <a:off x="9998963" y="2685821"/>
              <a:ext cx="1549907" cy="1394917"/>
            </a:xfrm>
            <a:prstGeom prst="rect">
              <a:avLst/>
            </a:prstGeom>
          </p:spPr>
        </p:pic>
        <p:sp>
          <p:nvSpPr>
            <p:cNvPr id="47" name="Cartão de texto"/>
            <p:cNvSpPr/>
            <p:nvPr/>
          </p:nvSpPr>
          <p:spPr>
            <a:xfrm>
              <a:off x="9907524" y="4251960"/>
              <a:ext cx="1732787" cy="17373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8" name="Descrição"/>
            <p:cNvSpPr txBox="1"/>
            <p:nvPr/>
          </p:nvSpPr>
          <p:spPr>
            <a:xfrm>
              <a:off x="10017251" y="4352544"/>
              <a:ext cx="1513331" cy="1554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Em 2024, realização de </a:t>
              </a:r>
              <a:r>
                <a:rPr sz="1200" b="1" i="0">
                  <a:solidFill>
                    <a:srgbClr val="0C172D"/>
                  </a:solidFill>
                </a:rPr>
                <a:t>parceria oficial</a:t>
              </a:r>
              <a:r>
                <a:rPr sz="1200" b="0" i="0">
                  <a:solidFill>
                    <a:srgbClr val="0C172D"/>
                  </a:solidFill>
                </a:rPr>
                <a:t> com a Escola Politécnica e lançamento da nova </a:t>
              </a:r>
              <a:r>
                <a:rPr sz="1200" b="1" i="0">
                  <a:solidFill>
                    <a:srgbClr val="0C172D"/>
                  </a:solidFill>
                </a:rPr>
                <a:t>Bolsa de Intercâmbio Trampolim</a:t>
              </a:r>
              <a:r>
                <a:rPr sz="1200" b="0" i="0">
                  <a:solidFill>
                    <a:srgbClr val="0C172D"/>
                  </a:solidFill>
                </a:rPr>
                <a:t> Reditus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F56FB92D-6C09-85F7-C7BE-F67F06C6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btfpColumnIndicatorGroup2">
            <a:extLst>
              <a:ext uri="{FF2B5EF4-FFF2-40B4-BE49-F238E27FC236}">
                <a16:creationId xmlns:a16="http://schemas.microsoft.com/office/drawing/2014/main" id="{D4693AAB-1031-B5DB-DD59-F0D35A11910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1" name="btfpColumnGapBlocker366012">
              <a:extLst>
                <a:ext uri="{FF2B5EF4-FFF2-40B4-BE49-F238E27FC236}">
                  <a16:creationId xmlns:a16="http://schemas.microsoft.com/office/drawing/2014/main" id="{5DBBA319-3769-7F25-6203-6AA207A71F98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btfpColumnGapBlocker164635">
              <a:extLst>
                <a:ext uri="{FF2B5EF4-FFF2-40B4-BE49-F238E27FC236}">
                  <a16:creationId xmlns:a16="http://schemas.microsoft.com/office/drawing/2014/main" id="{58907CC2-EE53-91CF-2CEC-F326443F8E14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7" name="btfpColumnIndicator524868">
              <a:extLst>
                <a:ext uri="{FF2B5EF4-FFF2-40B4-BE49-F238E27FC236}">
                  <a16:creationId xmlns:a16="http://schemas.microsoft.com/office/drawing/2014/main" id="{83459B9C-D1D0-BA04-5389-9DB3C03CAC0C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btfpColumnIndicator972650">
              <a:extLst>
                <a:ext uri="{FF2B5EF4-FFF2-40B4-BE49-F238E27FC236}">
                  <a16:creationId xmlns:a16="http://schemas.microsoft.com/office/drawing/2014/main" id="{4045E400-BDD4-C680-83CD-37DEBE391CA5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btfpColumnIndicatorGroup1">
            <a:extLst>
              <a:ext uri="{FF2B5EF4-FFF2-40B4-BE49-F238E27FC236}">
                <a16:creationId xmlns:a16="http://schemas.microsoft.com/office/drawing/2014/main" id="{79D7FD4F-CF85-AE2A-7944-57D49BDB07E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0" name="btfpColumnGapBlocker253591">
              <a:extLst>
                <a:ext uri="{FF2B5EF4-FFF2-40B4-BE49-F238E27FC236}">
                  <a16:creationId xmlns:a16="http://schemas.microsoft.com/office/drawing/2014/main" id="{1C501247-F5E5-0C44-C057-7BAF7A42C11A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btfpColumnGapBlocker213209">
              <a:extLst>
                <a:ext uri="{FF2B5EF4-FFF2-40B4-BE49-F238E27FC236}">
                  <a16:creationId xmlns:a16="http://schemas.microsoft.com/office/drawing/2014/main" id="{B26F6B7D-7C57-6155-E410-E239135EA74D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6" name="btfpColumnIndicator888847">
              <a:extLst>
                <a:ext uri="{FF2B5EF4-FFF2-40B4-BE49-F238E27FC236}">
                  <a16:creationId xmlns:a16="http://schemas.microsoft.com/office/drawing/2014/main" id="{017564D1-3227-C6F9-54FE-215ABFF19591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btfpColumnIndicator319403">
              <a:extLst>
                <a:ext uri="{FF2B5EF4-FFF2-40B4-BE49-F238E27FC236}">
                  <a16:creationId xmlns:a16="http://schemas.microsoft.com/office/drawing/2014/main" id="{32FEDD01-5D35-37D8-B312-D04E7FD8D7A6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Operamos com uma governança robusta, liderada por ex-alunos de renome formados na UFRJ e parcerias de peso</a:t>
            </a:r>
          </a:p>
        </p:txBody>
      </p:sp>
      <p:sp>
        <p:nvSpPr>
          <p:cNvPr id="3" name="Aba: Conselho de Administração (CA)"/>
          <p:cNvSpPr/>
          <p:nvPr/>
        </p:nvSpPr>
        <p:spPr>
          <a:xfrm>
            <a:off x="554736" y="1000000"/>
            <a:ext cx="3900000" cy="500000"/>
          </a:xfrm>
          <a:prstGeom prst="roundRect">
            <a:avLst>
              <a:gd name="adj" fmla="val 22000"/>
            </a:avLst>
          </a:prstGeom>
          <a:solidFill>
            <a:srgbClr val="0C172D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0000" tIns="0" bIns="0" rtlCol="0" anchor="t"/>
          <a:lstStyle/>
          <a:p>
            <a:pPr algn="ctr"/>
            <a:endParaRPr/>
          </a:p>
        </p:txBody>
      </p:sp>
      <p:sp>
        <p:nvSpPr>
          <p:cNvPr id="4" name="Título aba: Conselho de Administração (CA)"/>
          <p:cNvSpPr txBox="1"/>
          <p:nvPr/>
        </p:nvSpPr>
        <p:spPr>
          <a:xfrm>
            <a:off x="704736" y="1000000"/>
            <a:ext cx="37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+mj-lt"/>
              </a:rPr>
              <a:t>Conselho de Administração (CA)</a:t>
            </a:r>
          </a:p>
        </p:txBody>
      </p:sp>
      <p:sp>
        <p:nvSpPr>
          <p:cNvPr id="5" name="Card: Conselho de Administração (CA)"/>
          <p:cNvSpPr/>
          <p:nvPr/>
        </p:nvSpPr>
        <p:spPr>
          <a:xfrm>
            <a:off x="554736" y="1340000"/>
            <a:ext cx="11078463" cy="1480000"/>
          </a:xfrm>
          <a:prstGeom prst="roundRect">
            <a:avLst>
              <a:gd name="adj" fmla="val 4729"/>
            </a:avLst>
          </a:prstGeom>
          <a:solidFill>
            <a:srgbClr val="FFFFFF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1" name="Foto Sidney Levy">
            <a:extLst>
              <a:ext uri="{FF2B5EF4-FFF2-40B4-BE49-F238E27FC236}">
                <a16:creationId xmlns:a16="http://schemas.microsoft.com/office/drawing/2014/main" id="{7F4FA529-A0A7-840C-8D4D-921EC7629C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659" y="1470000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Nome Sidney Levy"/>
          <p:cNvSpPr txBox="1"/>
          <p:nvPr/>
        </p:nvSpPr>
        <p:spPr>
          <a:xfrm>
            <a:off x="643659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Sidney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Levy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(‘78)</a:t>
            </a:r>
          </a:p>
        </p:txBody>
      </p:sp>
      <p:pic>
        <p:nvPicPr>
          <p:cNvPr id="9" name="Foto Carlos Brito">
            <a:extLst>
              <a:ext uri="{FF2B5EF4-FFF2-40B4-BE49-F238E27FC236}">
                <a16:creationId xmlns:a16="http://schemas.microsoft.com/office/drawing/2014/main" id="{21BCBFBD-7024-1242-8442-147085B0D05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1505" y="1470000"/>
            <a:ext cx="720000" cy="7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3" name="Nome Carlos Brito"/>
          <p:cNvSpPr txBox="1"/>
          <p:nvPr/>
        </p:nvSpPr>
        <p:spPr>
          <a:xfrm>
            <a:off x="1721505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Carlos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Brito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(‘84)</a:t>
            </a:r>
          </a:p>
        </p:txBody>
      </p:sp>
      <p:pic>
        <p:nvPicPr>
          <p:cNvPr id="104" name="Foto Sérgio Lima" descr="serg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9351" y="1470000"/>
            <a:ext cx="720000" cy="720000"/>
          </a:xfrm>
          <a:prstGeom prst="rect">
            <a:avLst/>
          </a:prstGeom>
        </p:spPr>
      </p:pic>
      <p:sp>
        <p:nvSpPr>
          <p:cNvPr id="105" name="Nome Sérgio Lima"/>
          <p:cNvSpPr txBox="1"/>
          <p:nvPr/>
        </p:nvSpPr>
        <p:spPr>
          <a:xfrm>
            <a:off x="2799351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Sérgio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Lima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(‘87)</a:t>
            </a:r>
          </a:p>
        </p:txBody>
      </p:sp>
      <p:pic>
        <p:nvPicPr>
          <p:cNvPr id="10" name="Foto Monica Lamas" descr="Monica Lamas">
            <a:extLst>
              <a:ext uri="{FF2B5EF4-FFF2-40B4-BE49-F238E27FC236}">
                <a16:creationId xmlns:a16="http://schemas.microsoft.com/office/drawing/2014/main" id="{54C83A4B-45E4-C104-98E3-79CE96C446BB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198" y="1470000"/>
            <a:ext cx="720000" cy="7200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Nome Monica Lamas"/>
          <p:cNvSpPr txBox="1"/>
          <p:nvPr/>
        </p:nvSpPr>
        <p:spPr>
          <a:xfrm>
            <a:off x="3877198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Monica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Lamas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(‘89)</a:t>
            </a:r>
          </a:p>
        </p:txBody>
      </p:sp>
      <p:pic>
        <p:nvPicPr>
          <p:cNvPr id="11" name="Foto Geraldo Thomaz">
            <a:extLst>
              <a:ext uri="{FF2B5EF4-FFF2-40B4-BE49-F238E27FC236}">
                <a16:creationId xmlns:a16="http://schemas.microsoft.com/office/drawing/2014/main" id="{15EB2782-D5A6-7D27-C6BE-26F0DB03AAE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rcRect r="-2" b="7690"/>
          <a:stretch>
            <a:fillRect/>
          </a:stretch>
        </p:blipFill>
        <p:spPr>
          <a:xfrm>
            <a:off x="5195044" y="1470000"/>
            <a:ext cx="720000" cy="7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" name="Nome Geraldo Thomaz"/>
          <p:cNvSpPr txBox="1"/>
          <p:nvPr/>
        </p:nvSpPr>
        <p:spPr>
          <a:xfrm>
            <a:off x="4955044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Geraldo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Thomaz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(‘99)</a:t>
            </a:r>
          </a:p>
        </p:txBody>
      </p:sp>
      <p:pic>
        <p:nvPicPr>
          <p:cNvPr id="12" name="Foto Bruno Pandolfi">
            <a:extLst>
              <a:ext uri="{FF2B5EF4-FFF2-40B4-BE49-F238E27FC236}">
                <a16:creationId xmlns:a16="http://schemas.microsoft.com/office/drawing/2014/main" id="{78BFDFE8-3EAF-1704-B628-DEBF4157A969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72890" y="1470000"/>
            <a:ext cx="720000" cy="7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Nome Bruno Pandolfi"/>
          <p:cNvSpPr txBox="1"/>
          <p:nvPr/>
        </p:nvSpPr>
        <p:spPr>
          <a:xfrm>
            <a:off x="6032890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Bruno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Pandolfi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(‘99)</a:t>
            </a:r>
          </a:p>
        </p:txBody>
      </p:sp>
      <p:pic>
        <p:nvPicPr>
          <p:cNvPr id="13" name="Foto Leonardo Machado" descr="Leonardo Machado">
            <a:extLst>
              <a:ext uri="{FF2B5EF4-FFF2-40B4-BE49-F238E27FC236}">
                <a16:creationId xmlns:a16="http://schemas.microsoft.com/office/drawing/2014/main" id="{360B5310-6F0D-370E-8A4A-C19A4B18F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736" y="1470000"/>
            <a:ext cx="720000" cy="72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Nome Leonardo Machado"/>
          <p:cNvSpPr txBox="1"/>
          <p:nvPr/>
        </p:nvSpPr>
        <p:spPr>
          <a:xfrm>
            <a:off x="7110736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Leonardo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Machado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(‘03)</a:t>
            </a:r>
          </a:p>
        </p:txBody>
      </p:sp>
      <p:pic>
        <p:nvPicPr>
          <p:cNvPr id="14" name="Foto Talita Taliberti">
            <a:extLst>
              <a:ext uri="{FF2B5EF4-FFF2-40B4-BE49-F238E27FC236}">
                <a16:creationId xmlns:a16="http://schemas.microsoft.com/office/drawing/2014/main" id="{3F97668D-7AF4-3476-5BA9-A962B42116E5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rcRect l="2471" t="3040" r="2471" b="3038"/>
          <a:stretch>
            <a:fillRect/>
          </a:stretch>
        </p:blipFill>
        <p:spPr>
          <a:xfrm>
            <a:off x="8428583" y="1470000"/>
            <a:ext cx="720000" cy="7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0" name="Nome Talita Taliberti"/>
          <p:cNvSpPr txBox="1"/>
          <p:nvPr/>
        </p:nvSpPr>
        <p:spPr>
          <a:xfrm>
            <a:off x="8188583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Talita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Taliberti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(‘05)</a:t>
            </a:r>
          </a:p>
        </p:txBody>
      </p:sp>
      <p:pic>
        <p:nvPicPr>
          <p:cNvPr id="15" name="Foto Daniel Spilberg">
            <a:extLst>
              <a:ext uri="{FF2B5EF4-FFF2-40B4-BE49-F238E27FC236}">
                <a16:creationId xmlns:a16="http://schemas.microsoft.com/office/drawing/2014/main" id="{7068B588-2AC1-00EA-0C90-44DA87B25DCF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506429" y="1470000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Nome Daniel Spilberg"/>
          <p:cNvSpPr txBox="1"/>
          <p:nvPr/>
        </p:nvSpPr>
        <p:spPr>
          <a:xfrm>
            <a:off x="9266429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Daniel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Spilberg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(‘07)</a:t>
            </a:r>
          </a:p>
        </p:txBody>
      </p:sp>
      <p:pic>
        <p:nvPicPr>
          <p:cNvPr id="16" name="Foto Henrique Duarte" descr="Henrique Duarte">
            <a:extLst>
              <a:ext uri="{FF2B5EF4-FFF2-40B4-BE49-F238E27FC236}">
                <a16:creationId xmlns:a16="http://schemas.microsoft.com/office/drawing/2014/main" id="{6CC8007A-628B-C8F2-3856-04E500587066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4275" y="1470000"/>
            <a:ext cx="720000" cy="7200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Nome Henrique Duarte"/>
          <p:cNvSpPr txBox="1"/>
          <p:nvPr/>
        </p:nvSpPr>
        <p:spPr>
          <a:xfrm>
            <a:off x="10344275" y="223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Henrique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Duarte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(‘18)</a:t>
            </a:r>
          </a:p>
        </p:txBody>
      </p:sp>
      <p:sp>
        <p:nvSpPr>
          <p:cNvPr id="113" name="Aba: Conselho Fiscal (CF)"/>
          <p:cNvSpPr/>
          <p:nvPr/>
        </p:nvSpPr>
        <p:spPr>
          <a:xfrm>
            <a:off x="554736" y="2970000"/>
            <a:ext cx="2700000" cy="500000"/>
          </a:xfrm>
          <a:prstGeom prst="roundRect">
            <a:avLst>
              <a:gd name="adj" fmla="val 22000"/>
            </a:avLst>
          </a:prstGeom>
          <a:solidFill>
            <a:srgbClr val="0C172D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0000" tIns="0" bIns="0" rtlCol="0" anchor="t"/>
          <a:lstStyle/>
          <a:p>
            <a:pPr algn="ctr"/>
            <a:endParaRPr/>
          </a:p>
        </p:txBody>
      </p:sp>
      <p:sp>
        <p:nvSpPr>
          <p:cNvPr id="114" name="Título aba: Conselho Fiscal (CF)"/>
          <p:cNvSpPr txBox="1"/>
          <p:nvPr/>
        </p:nvSpPr>
        <p:spPr>
          <a:xfrm>
            <a:off x="704736" y="2970000"/>
            <a:ext cx="25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+mj-lt"/>
              </a:rPr>
              <a:t>Conselho Fiscal (CF)</a:t>
            </a:r>
          </a:p>
        </p:txBody>
      </p:sp>
      <p:sp>
        <p:nvSpPr>
          <p:cNvPr id="115" name="Card: Conselho Fiscal (CF)"/>
          <p:cNvSpPr/>
          <p:nvPr/>
        </p:nvSpPr>
        <p:spPr>
          <a:xfrm>
            <a:off x="554736" y="3310000"/>
            <a:ext cx="5300000" cy="1480000"/>
          </a:xfrm>
          <a:prstGeom prst="roundRect">
            <a:avLst>
              <a:gd name="adj" fmla="val 4729"/>
            </a:avLst>
          </a:prstGeom>
          <a:solidFill>
            <a:srgbClr val="FFFFFF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Aba: Comitê de Investimentos (CI)"/>
          <p:cNvSpPr/>
          <p:nvPr/>
        </p:nvSpPr>
        <p:spPr>
          <a:xfrm>
            <a:off x="6057736" y="2970000"/>
            <a:ext cx="3300000" cy="500000"/>
          </a:xfrm>
          <a:prstGeom prst="roundRect">
            <a:avLst>
              <a:gd name="adj" fmla="val 22000"/>
            </a:avLst>
          </a:prstGeom>
          <a:solidFill>
            <a:srgbClr val="0C172D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0000" tIns="0" bIns="0" rtlCol="0" anchor="t"/>
          <a:lstStyle/>
          <a:p>
            <a:pPr algn="ctr"/>
            <a:endParaRPr/>
          </a:p>
        </p:txBody>
      </p:sp>
      <p:sp>
        <p:nvSpPr>
          <p:cNvPr id="117" name="Título aba: Comitê de Investimentos (CI)"/>
          <p:cNvSpPr txBox="1"/>
          <p:nvPr/>
        </p:nvSpPr>
        <p:spPr>
          <a:xfrm>
            <a:off x="6207736" y="2970000"/>
            <a:ext cx="31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+mj-lt"/>
              </a:rPr>
              <a:t>Comitê de Investimentos (CI)</a:t>
            </a:r>
          </a:p>
        </p:txBody>
      </p:sp>
      <p:sp>
        <p:nvSpPr>
          <p:cNvPr id="118" name="Card: Comitê de Investimentos (CI)"/>
          <p:cNvSpPr/>
          <p:nvPr/>
        </p:nvSpPr>
        <p:spPr>
          <a:xfrm>
            <a:off x="6057736" y="3310000"/>
            <a:ext cx="5575463" cy="1480000"/>
          </a:xfrm>
          <a:prstGeom prst="roundRect">
            <a:avLst>
              <a:gd name="adj" fmla="val 4729"/>
            </a:avLst>
          </a:prstGeom>
          <a:solidFill>
            <a:srgbClr val="FFFFFF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Foto Rodrigo Petterle">
            <a:extLst>
              <a:ext uri="{FF2B5EF4-FFF2-40B4-BE49-F238E27FC236}">
                <a16:creationId xmlns:a16="http://schemas.microsoft.com/office/drawing/2014/main" id="{F8BAE33B-02EB-96AC-898B-1F619AF23598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78069" y="3440000"/>
            <a:ext cx="720000" cy="7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9" name="Nome Rodrigo Petterle"/>
          <p:cNvSpPr txBox="1"/>
          <p:nvPr/>
        </p:nvSpPr>
        <p:spPr>
          <a:xfrm>
            <a:off x="938069" y="420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Rodrigo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Petterle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(‘04)</a:t>
            </a:r>
          </a:p>
        </p:txBody>
      </p:sp>
      <p:pic>
        <p:nvPicPr>
          <p:cNvPr id="18" name="Foto Natalie Witte">
            <a:extLst>
              <a:ext uri="{FF2B5EF4-FFF2-40B4-BE49-F238E27FC236}">
                <a16:creationId xmlns:a16="http://schemas.microsoft.com/office/drawing/2014/main" id="{57D8515C-410D-9D52-D627-EDEAFD3D51CA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844736" y="3440000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Nome Natalie Witte"/>
          <p:cNvSpPr txBox="1"/>
          <p:nvPr/>
        </p:nvSpPr>
        <p:spPr>
          <a:xfrm>
            <a:off x="2604736" y="420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Natalie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Witte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(‘08)</a:t>
            </a:r>
          </a:p>
        </p:txBody>
      </p:sp>
      <p:pic>
        <p:nvPicPr>
          <p:cNvPr id="19" name="Foto Gabriela Sabino">
            <a:extLst>
              <a:ext uri="{FF2B5EF4-FFF2-40B4-BE49-F238E27FC236}">
                <a16:creationId xmlns:a16="http://schemas.microsoft.com/office/drawing/2014/main" id="{E1485D83-F31E-DB10-064F-F1AE7DE4AE77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11402" y="3440000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Nome Gabriela Sabino"/>
          <p:cNvSpPr txBox="1"/>
          <p:nvPr/>
        </p:nvSpPr>
        <p:spPr>
          <a:xfrm>
            <a:off x="4271402" y="420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Gabriela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Sabino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(‘12)</a:t>
            </a:r>
          </a:p>
        </p:txBody>
      </p:sp>
      <p:pic>
        <p:nvPicPr>
          <p:cNvPr id="20" name="Foto Pedro Batista">
            <a:extLst>
              <a:ext uri="{FF2B5EF4-FFF2-40B4-BE49-F238E27FC236}">
                <a16:creationId xmlns:a16="http://schemas.microsoft.com/office/drawing/2014/main" id="{CE80CE7B-2F44-4B53-E42B-C50D2C3813BB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726979" y="3440000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Nome Pedro Batista"/>
          <p:cNvSpPr txBox="1"/>
          <p:nvPr/>
        </p:nvSpPr>
        <p:spPr>
          <a:xfrm>
            <a:off x="6486979" y="420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Pedro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Batista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(‘97)</a:t>
            </a:r>
          </a:p>
        </p:txBody>
      </p:sp>
      <p:pic>
        <p:nvPicPr>
          <p:cNvPr id="21" name="Foto Fernando Gonçalves">
            <a:extLst>
              <a:ext uri="{FF2B5EF4-FFF2-40B4-BE49-F238E27FC236}">
                <a16:creationId xmlns:a16="http://schemas.microsoft.com/office/drawing/2014/main" id="{E5C5F564-0DE1-8C97-CC5A-70DD88230F1F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rcRect l="23821" t="1155" r="21152" b="43821"/>
          <a:stretch>
            <a:fillRect/>
          </a:stretch>
        </p:blipFill>
        <p:spPr>
          <a:xfrm>
            <a:off x="8485467" y="3440000"/>
            <a:ext cx="720000" cy="7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3" name="Nome Fernando Gonçalves"/>
          <p:cNvSpPr txBox="1"/>
          <p:nvPr/>
        </p:nvSpPr>
        <p:spPr>
          <a:xfrm>
            <a:off x="8245467" y="420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Fernando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Gonçalves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(‘98)</a:t>
            </a:r>
          </a:p>
        </p:txBody>
      </p:sp>
      <p:sp>
        <p:nvSpPr>
          <p:cNvPr id="124" name="Nome Eduardo Cardoso"/>
          <p:cNvSpPr txBox="1"/>
          <p:nvPr/>
        </p:nvSpPr>
        <p:spPr>
          <a:xfrm>
            <a:off x="10003955" y="4200000"/>
            <a:ext cx="1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Eduardo</a:t>
            </a:r>
          </a:p>
          <a:p>
            <a:pPr algn="ctr"/>
            <a:r>
              <a:rPr sz="1000" b="1">
                <a:solidFill>
                  <a:srgbClr val="0C172D"/>
                </a:solidFill>
                <a:latin typeface="Arial"/>
              </a:rPr>
              <a:t>Cardoso</a:t>
            </a:r>
          </a:p>
          <a:p>
            <a:pPr algn="ctr"/>
            <a:r>
              <a:rPr sz="1000" b="0">
                <a:solidFill>
                  <a:srgbClr val="0C172D"/>
                </a:solidFill>
                <a:latin typeface="Arial"/>
              </a:rPr>
              <a:t>(‘97)</a:t>
            </a:r>
          </a:p>
        </p:txBody>
      </p:sp>
      <p:sp>
        <p:nvSpPr>
          <p:cNvPr id="125" name="Aba: Parcerias Pro bono"/>
          <p:cNvSpPr/>
          <p:nvPr/>
        </p:nvSpPr>
        <p:spPr>
          <a:xfrm>
            <a:off x="554736" y="4940000"/>
            <a:ext cx="2500000" cy="500000"/>
          </a:xfrm>
          <a:prstGeom prst="roundRect">
            <a:avLst>
              <a:gd name="adj" fmla="val 22000"/>
            </a:avLst>
          </a:prstGeom>
          <a:solidFill>
            <a:srgbClr val="0C172D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0000" tIns="0" bIns="0" rtlCol="0" anchor="t"/>
          <a:lstStyle/>
          <a:p>
            <a:pPr algn="ctr"/>
            <a:endParaRPr/>
          </a:p>
        </p:txBody>
      </p:sp>
      <p:sp>
        <p:nvSpPr>
          <p:cNvPr id="126" name="Título aba: Parcerias Pro bono"/>
          <p:cNvSpPr txBox="1"/>
          <p:nvPr/>
        </p:nvSpPr>
        <p:spPr>
          <a:xfrm>
            <a:off x="704736" y="4940000"/>
            <a:ext cx="23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+mj-lt"/>
              </a:rPr>
              <a:t>Parcerias Pro bono</a:t>
            </a:r>
          </a:p>
        </p:txBody>
      </p:sp>
      <p:sp>
        <p:nvSpPr>
          <p:cNvPr id="127" name="Card: Parcerias Pro bono"/>
          <p:cNvSpPr/>
          <p:nvPr/>
        </p:nvSpPr>
        <p:spPr>
          <a:xfrm>
            <a:off x="554736" y="5280000"/>
            <a:ext cx="3557487" cy="115000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Aba: Doadores associados (N=49)"/>
          <p:cNvSpPr/>
          <p:nvPr/>
        </p:nvSpPr>
        <p:spPr>
          <a:xfrm>
            <a:off x="4315223" y="4940000"/>
            <a:ext cx="3150000" cy="500000"/>
          </a:xfrm>
          <a:prstGeom prst="roundRect">
            <a:avLst>
              <a:gd name="adj" fmla="val 22000"/>
            </a:avLst>
          </a:prstGeom>
          <a:solidFill>
            <a:srgbClr val="0C172D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0000" tIns="0" bIns="0" rtlCol="0" anchor="t"/>
          <a:lstStyle/>
          <a:p>
            <a:pPr algn="ctr"/>
            <a:endParaRPr/>
          </a:p>
        </p:txBody>
      </p:sp>
      <p:sp>
        <p:nvSpPr>
          <p:cNvPr id="129" name="Título aba: Doadores associados (N=49)"/>
          <p:cNvSpPr txBox="1"/>
          <p:nvPr/>
        </p:nvSpPr>
        <p:spPr>
          <a:xfrm>
            <a:off x="4465223" y="4940000"/>
            <a:ext cx="30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+mj-lt"/>
              </a:rPr>
              <a:t>Doadores associados (N=49)</a:t>
            </a:r>
          </a:p>
        </p:txBody>
      </p:sp>
      <p:sp>
        <p:nvSpPr>
          <p:cNvPr id="130" name="Card: Doadores associados (N=49)"/>
          <p:cNvSpPr/>
          <p:nvPr/>
        </p:nvSpPr>
        <p:spPr>
          <a:xfrm>
            <a:off x="4315223" y="5280000"/>
            <a:ext cx="3557487" cy="115000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Aba: Empresas doadoras"/>
          <p:cNvSpPr/>
          <p:nvPr/>
        </p:nvSpPr>
        <p:spPr>
          <a:xfrm>
            <a:off x="8075711" y="4940000"/>
            <a:ext cx="2500000" cy="500000"/>
          </a:xfrm>
          <a:prstGeom prst="roundRect">
            <a:avLst>
              <a:gd name="adj" fmla="val 22000"/>
            </a:avLst>
          </a:prstGeom>
          <a:solidFill>
            <a:srgbClr val="0C172D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0000" tIns="0" bIns="0" rtlCol="0" anchor="t"/>
          <a:lstStyle/>
          <a:p>
            <a:pPr algn="ctr"/>
            <a:endParaRPr/>
          </a:p>
        </p:txBody>
      </p:sp>
      <p:sp>
        <p:nvSpPr>
          <p:cNvPr id="132" name="Título aba: Empresas doadoras"/>
          <p:cNvSpPr txBox="1"/>
          <p:nvPr/>
        </p:nvSpPr>
        <p:spPr>
          <a:xfrm>
            <a:off x="8225711" y="4940000"/>
            <a:ext cx="23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+mj-lt"/>
              </a:rPr>
              <a:t>Empresas doadoras</a:t>
            </a:r>
          </a:p>
        </p:txBody>
      </p:sp>
      <p:sp>
        <p:nvSpPr>
          <p:cNvPr id="133" name="Card: Empresas doadoras"/>
          <p:cNvSpPr/>
          <p:nvPr/>
        </p:nvSpPr>
        <p:spPr>
          <a:xfrm>
            <a:off x="8075711" y="5280000"/>
            <a:ext cx="3557487" cy="115000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Logo EY" descr="Ernst &amp; Young – Wikipédia, a enciclopédia livre">
            <a:extLst>
              <a:ext uri="{FF2B5EF4-FFF2-40B4-BE49-F238E27FC236}">
                <a16:creationId xmlns:a16="http://schemas.microsoft.com/office/drawing/2014/main" id="{DE50B7D9-3151-8009-52C9-CF6B89A31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36" y="5485000"/>
            <a:ext cx="740000" cy="7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Logo Grant Thornton">
            <a:extLst>
              <a:ext uri="{FF2B5EF4-FFF2-40B4-BE49-F238E27FC236}">
                <a16:creationId xmlns:a16="http://schemas.microsoft.com/office/drawing/2014/main" id="{1465E0E8-7949-007A-CF5E-719E69791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736" y="5327923"/>
            <a:ext cx="1900000" cy="105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Ícone: Associados Beneméritos"/>
          <p:cNvGrpSpPr/>
          <p:nvPr/>
        </p:nvGrpSpPr>
        <p:grpSpPr>
          <a:xfrm>
            <a:off x="4465223" y="5440000"/>
            <a:ext cx="280000" cy="280000"/>
            <a:chOff x="4465223" y="5440000"/>
            <a:chExt cx="280000" cy="280000"/>
          </a:xfrm>
        </p:grpSpPr>
        <p:sp>
          <p:nvSpPr>
            <p:cNvPr id="134" name="Oval 133"/>
            <p:cNvSpPr/>
            <p:nvPr/>
          </p:nvSpPr>
          <p:spPr>
            <a:xfrm>
              <a:off x="4465223" y="5440000"/>
              <a:ext cx="280000" cy="280000"/>
            </a:xfrm>
            <a:prstGeom prst="ellipse">
              <a:avLst/>
            </a:prstGeom>
            <a:solidFill>
              <a:srgbClr val="0C172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134"/>
            <p:cNvSpPr/>
            <p:nvPr/>
          </p:nvSpPr>
          <p:spPr>
            <a:xfrm>
              <a:off x="4520223" y="5500000"/>
              <a:ext cx="60000" cy="6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Round Same Side Corner Rectangle 135"/>
            <p:cNvSpPr/>
            <p:nvPr/>
          </p:nvSpPr>
          <p:spPr>
            <a:xfrm>
              <a:off x="4500223" y="5568000"/>
              <a:ext cx="100000" cy="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Oval 136"/>
            <p:cNvSpPr/>
            <p:nvPr/>
          </p:nvSpPr>
          <p:spPr>
            <a:xfrm>
              <a:off x="4630223" y="5500000"/>
              <a:ext cx="60000" cy="6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Round Same Side Corner Rectangle 137"/>
            <p:cNvSpPr/>
            <p:nvPr/>
          </p:nvSpPr>
          <p:spPr>
            <a:xfrm>
              <a:off x="4610223" y="5568000"/>
              <a:ext cx="100000" cy="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9" name="Doadores: Associados Beneméritos"/>
          <p:cNvSpPr txBox="1"/>
          <p:nvPr/>
        </p:nvSpPr>
        <p:spPr>
          <a:xfrm>
            <a:off x="4845223" y="5440000"/>
            <a:ext cx="2977487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C172D"/>
                </a:solidFill>
                <a:latin typeface="Arial"/>
              </a:rPr>
              <a:t>5 </a:t>
            </a:r>
            <a:r>
              <a:rPr sz="1200" b="0">
                <a:solidFill>
                  <a:srgbClr val="0C172D"/>
                </a:solidFill>
                <a:latin typeface="Arial"/>
              </a:rPr>
              <a:t>Associados Beneméritos </a:t>
            </a:r>
            <a:r>
              <a:rPr sz="1200" b="1">
                <a:solidFill>
                  <a:srgbClr val="0C172D"/>
                </a:solidFill>
                <a:latin typeface="Arial"/>
              </a:rPr>
              <a:t>(+R$ 1M)</a:t>
            </a:r>
          </a:p>
        </p:txBody>
      </p:sp>
      <p:grpSp>
        <p:nvGrpSpPr>
          <p:cNvPr id="7" name="Ícone: Associados Honorários"/>
          <p:cNvGrpSpPr/>
          <p:nvPr/>
        </p:nvGrpSpPr>
        <p:grpSpPr>
          <a:xfrm>
            <a:off x="4465223" y="5770000"/>
            <a:ext cx="280000" cy="280000"/>
            <a:chOff x="4465223" y="5770000"/>
            <a:chExt cx="280000" cy="280000"/>
          </a:xfrm>
        </p:grpSpPr>
        <p:sp>
          <p:nvSpPr>
            <p:cNvPr id="140" name="Oval 139"/>
            <p:cNvSpPr/>
            <p:nvPr/>
          </p:nvSpPr>
          <p:spPr>
            <a:xfrm>
              <a:off x="4465223" y="5770000"/>
              <a:ext cx="280000" cy="280000"/>
            </a:xfrm>
            <a:prstGeom prst="ellipse">
              <a:avLst/>
            </a:prstGeom>
            <a:solidFill>
              <a:srgbClr val="C9A2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Oval 140"/>
            <p:cNvSpPr/>
            <p:nvPr/>
          </p:nvSpPr>
          <p:spPr>
            <a:xfrm>
              <a:off x="4520223" y="5830000"/>
              <a:ext cx="60000" cy="6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Round Same Side Corner Rectangle 141"/>
            <p:cNvSpPr/>
            <p:nvPr/>
          </p:nvSpPr>
          <p:spPr>
            <a:xfrm>
              <a:off x="4500223" y="5898000"/>
              <a:ext cx="100000" cy="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Oval 142"/>
            <p:cNvSpPr/>
            <p:nvPr/>
          </p:nvSpPr>
          <p:spPr>
            <a:xfrm>
              <a:off x="4630223" y="5830000"/>
              <a:ext cx="60000" cy="6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Round Same Side Corner Rectangle 143"/>
            <p:cNvSpPr/>
            <p:nvPr/>
          </p:nvSpPr>
          <p:spPr>
            <a:xfrm>
              <a:off x="4610223" y="5898000"/>
              <a:ext cx="100000" cy="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5" name="Doadores: Associados Honorários"/>
          <p:cNvSpPr txBox="1"/>
          <p:nvPr/>
        </p:nvSpPr>
        <p:spPr>
          <a:xfrm>
            <a:off x="4845223" y="5770000"/>
            <a:ext cx="2977487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C172D"/>
                </a:solidFill>
                <a:latin typeface="Arial"/>
              </a:rPr>
              <a:t>7 </a:t>
            </a:r>
            <a:r>
              <a:rPr sz="1200" b="0">
                <a:solidFill>
                  <a:srgbClr val="0C172D"/>
                </a:solidFill>
                <a:latin typeface="Arial"/>
              </a:rPr>
              <a:t>Associados Honorários </a:t>
            </a:r>
            <a:r>
              <a:rPr sz="1200" b="1">
                <a:solidFill>
                  <a:srgbClr val="0C172D"/>
                </a:solidFill>
                <a:latin typeface="Arial"/>
              </a:rPr>
              <a:t>(R$ 500k–1M)</a:t>
            </a:r>
          </a:p>
        </p:txBody>
      </p:sp>
      <p:grpSp>
        <p:nvGrpSpPr>
          <p:cNvPr id="8" name="Ícone: Associados"/>
          <p:cNvGrpSpPr/>
          <p:nvPr/>
        </p:nvGrpSpPr>
        <p:grpSpPr>
          <a:xfrm>
            <a:off x="4465223" y="6100000"/>
            <a:ext cx="280000" cy="280000"/>
            <a:chOff x="4465223" y="6100000"/>
            <a:chExt cx="280000" cy="280000"/>
          </a:xfrm>
        </p:grpSpPr>
        <p:sp>
          <p:nvSpPr>
            <p:cNvPr id="146" name="Oval 145"/>
            <p:cNvSpPr/>
            <p:nvPr/>
          </p:nvSpPr>
          <p:spPr>
            <a:xfrm>
              <a:off x="4465223" y="6100000"/>
              <a:ext cx="280000" cy="280000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7" name="Oval 146"/>
            <p:cNvSpPr/>
            <p:nvPr/>
          </p:nvSpPr>
          <p:spPr>
            <a:xfrm>
              <a:off x="4520223" y="6160000"/>
              <a:ext cx="60000" cy="6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Round Same Side Corner Rectangle 147"/>
            <p:cNvSpPr/>
            <p:nvPr/>
          </p:nvSpPr>
          <p:spPr>
            <a:xfrm>
              <a:off x="4500223" y="6228000"/>
              <a:ext cx="100000" cy="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Oval 148"/>
            <p:cNvSpPr/>
            <p:nvPr/>
          </p:nvSpPr>
          <p:spPr>
            <a:xfrm>
              <a:off x="4630223" y="6160000"/>
              <a:ext cx="60000" cy="6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Round Same Side Corner Rectangle 149"/>
            <p:cNvSpPr/>
            <p:nvPr/>
          </p:nvSpPr>
          <p:spPr>
            <a:xfrm>
              <a:off x="4610223" y="6228000"/>
              <a:ext cx="100000" cy="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1" name="Doadores: Associados"/>
          <p:cNvSpPr txBox="1"/>
          <p:nvPr/>
        </p:nvSpPr>
        <p:spPr>
          <a:xfrm>
            <a:off x="4845223" y="6100000"/>
            <a:ext cx="2977487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C172D"/>
                </a:solidFill>
                <a:latin typeface="Arial"/>
              </a:rPr>
              <a:t>37 </a:t>
            </a:r>
            <a:r>
              <a:rPr sz="1200" b="0">
                <a:solidFill>
                  <a:srgbClr val="0C172D"/>
                </a:solidFill>
                <a:latin typeface="Arial"/>
              </a:rPr>
              <a:t>Associados </a:t>
            </a:r>
            <a:r>
              <a:rPr sz="1200" b="1">
                <a:solidFill>
                  <a:srgbClr val="0C172D"/>
                </a:solidFill>
                <a:latin typeface="Arial"/>
              </a:rPr>
              <a:t>(R$ 150k–500k)</a:t>
            </a:r>
          </a:p>
        </p:txBody>
      </p:sp>
      <p:pic>
        <p:nvPicPr>
          <p:cNvPr id="152" name="Logo VTEX" descr="vtex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5711" y="5435687"/>
            <a:ext cx="965829" cy="318624"/>
          </a:xfrm>
          <a:prstGeom prst="rect">
            <a:avLst/>
          </a:prstGeom>
        </p:spPr>
      </p:pic>
      <p:sp>
        <p:nvSpPr>
          <p:cNvPr id="153" name="Valor VTEX"/>
          <p:cNvSpPr txBox="1"/>
          <p:nvPr/>
        </p:nvSpPr>
        <p:spPr>
          <a:xfrm>
            <a:off x="8225711" y="5800000"/>
            <a:ext cx="1085829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C172D"/>
                </a:solidFill>
                <a:latin typeface="Arial"/>
              </a:rPr>
              <a:t>+R$ 850k</a:t>
            </a:r>
          </a:p>
        </p:txBody>
      </p:sp>
      <p:pic>
        <p:nvPicPr>
          <p:cNvPr id="154" name="Logo Fundação Brava" descr="brava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69455" y="5430000"/>
            <a:ext cx="570000" cy="330000"/>
          </a:xfrm>
          <a:prstGeom prst="rect">
            <a:avLst/>
          </a:prstGeom>
        </p:spPr>
      </p:pic>
      <p:sp>
        <p:nvSpPr>
          <p:cNvPr id="155" name="Valor Fundação Brava"/>
          <p:cNvSpPr txBox="1"/>
          <p:nvPr/>
        </p:nvSpPr>
        <p:spPr>
          <a:xfrm>
            <a:off x="9311540" y="5800000"/>
            <a:ext cx="1085829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C172D"/>
                </a:solidFill>
                <a:latin typeface="Arial"/>
              </a:rPr>
              <a:t>+R$ 500k</a:t>
            </a:r>
          </a:p>
        </p:txBody>
      </p:sp>
      <p:pic>
        <p:nvPicPr>
          <p:cNvPr id="156" name="Logo phi" descr="phi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84899" y="5430000"/>
            <a:ext cx="710769" cy="330000"/>
          </a:xfrm>
          <a:prstGeom prst="rect">
            <a:avLst/>
          </a:prstGeom>
        </p:spPr>
      </p:pic>
      <p:sp>
        <p:nvSpPr>
          <p:cNvPr id="157" name="Valor phi"/>
          <p:cNvSpPr txBox="1"/>
          <p:nvPr/>
        </p:nvSpPr>
        <p:spPr>
          <a:xfrm>
            <a:off x="10397369" y="5800000"/>
            <a:ext cx="1085829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C172D"/>
                </a:solidFill>
                <a:latin typeface="Arial"/>
              </a:rPr>
              <a:t>+R$ 400k</a:t>
            </a:r>
          </a:p>
        </p:txBody>
      </p:sp>
      <p:sp>
        <p:nvSpPr>
          <p:cNvPr id="158" name="Outras empresas"/>
          <p:cNvSpPr txBox="1"/>
          <p:nvPr/>
        </p:nvSpPr>
        <p:spPr>
          <a:xfrm>
            <a:off x="8075711" y="6130000"/>
            <a:ext cx="3407487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C172D"/>
                </a:solidFill>
                <a:latin typeface="Arial"/>
              </a:rPr>
              <a:t>+ 8 companhias</a:t>
            </a:r>
          </a:p>
        </p:txBody>
      </p:sp>
      <p:sp>
        <p:nvSpPr>
          <p:cNvPr id="159" name="Nota"/>
          <p:cNvSpPr txBox="1"/>
          <p:nvPr/>
        </p:nvSpPr>
        <p:spPr>
          <a:xfrm>
            <a:off x="330199" y="6560000"/>
            <a:ext cx="6000000" cy="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0C172D"/>
                </a:solidFill>
                <a:latin typeface="Arial"/>
              </a:rPr>
              <a:t>Nota: ‘XX = ano de formatura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140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ounded Rectangle 63">
            <a:extLst>
              <a:ext uri="{FF2B5EF4-FFF2-40B4-BE49-F238E27FC236}">
                <a16:creationId xmlns:a16="http://schemas.microsoft.com/office/drawing/2014/main" id="{79FF8E88-8C81-501A-8E26-0CE11AD09B13}"/>
              </a:ext>
            </a:extLst>
          </p:cNvPr>
          <p:cNvSpPr>
            <a:spLocks/>
          </p:cNvSpPr>
          <p:nvPr/>
        </p:nvSpPr>
        <p:spPr>
          <a:xfrm rot="10800000" flipV="1">
            <a:off x="6702487" y="1151295"/>
            <a:ext cx="2269675" cy="1260089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1029" name="Rounded Rectangle 63">
            <a:extLst>
              <a:ext uri="{FF2B5EF4-FFF2-40B4-BE49-F238E27FC236}">
                <a16:creationId xmlns:a16="http://schemas.microsoft.com/office/drawing/2014/main" id="{F9D60CE0-CF1C-1F3B-DBC6-4FE9EFD432AE}"/>
              </a:ext>
            </a:extLst>
          </p:cNvPr>
          <p:cNvSpPr>
            <a:spLocks/>
          </p:cNvSpPr>
          <p:nvPr/>
        </p:nvSpPr>
        <p:spPr>
          <a:xfrm rot="10800000" flipV="1">
            <a:off x="9143813" y="1151295"/>
            <a:ext cx="2496498" cy="1260089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62" name="Rounded Rectangle 63">
            <a:extLst>
              <a:ext uri="{FF2B5EF4-FFF2-40B4-BE49-F238E27FC236}">
                <a16:creationId xmlns:a16="http://schemas.microsoft.com/office/drawing/2014/main" id="{7D3AEAA5-56C3-256A-A4D3-69B5E60C0F65}"/>
              </a:ext>
            </a:extLst>
          </p:cNvPr>
          <p:cNvSpPr>
            <a:spLocks/>
          </p:cNvSpPr>
          <p:nvPr/>
        </p:nvSpPr>
        <p:spPr>
          <a:xfrm rot="10800000" flipV="1">
            <a:off x="4079986" y="1151295"/>
            <a:ext cx="2391621" cy="1260089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61" name="Rounded Rectangle 63">
            <a:extLst>
              <a:ext uri="{FF2B5EF4-FFF2-40B4-BE49-F238E27FC236}">
                <a16:creationId xmlns:a16="http://schemas.microsoft.com/office/drawing/2014/main" id="{2504FA5E-D03E-4B4B-60DD-ABEE343E7B4D}"/>
              </a:ext>
            </a:extLst>
          </p:cNvPr>
          <p:cNvSpPr>
            <a:spLocks/>
          </p:cNvSpPr>
          <p:nvPr/>
        </p:nvSpPr>
        <p:spPr>
          <a:xfrm rot="10800000" flipV="1">
            <a:off x="3869356" y="1645247"/>
            <a:ext cx="7863839" cy="4660386"/>
          </a:xfrm>
          <a:prstGeom prst="roundRect">
            <a:avLst>
              <a:gd name="adj" fmla="val 5407"/>
            </a:avLst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40" name="Rounded Rectangle 63">
            <a:extLst>
              <a:ext uri="{FF2B5EF4-FFF2-40B4-BE49-F238E27FC236}">
                <a16:creationId xmlns:a16="http://schemas.microsoft.com/office/drawing/2014/main" id="{D34FE79D-2683-966C-647A-0C4E62EF0D4B}"/>
              </a:ext>
            </a:extLst>
          </p:cNvPr>
          <p:cNvSpPr>
            <a:spLocks/>
          </p:cNvSpPr>
          <p:nvPr/>
        </p:nvSpPr>
        <p:spPr>
          <a:xfrm rot="10800000" flipV="1">
            <a:off x="-490892" y="1801822"/>
            <a:ext cx="3960138" cy="4007932"/>
          </a:xfrm>
          <a:prstGeom prst="roundRect">
            <a:avLst>
              <a:gd name="adj" fmla="val 23044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grpSp>
        <p:nvGrpSpPr>
          <p:cNvPr id="14" name="btfpColumnIndicatorGroup2">
            <a:extLst>
              <a:ext uri="{FF2B5EF4-FFF2-40B4-BE49-F238E27FC236}">
                <a16:creationId xmlns:a16="http://schemas.microsoft.com/office/drawing/2014/main" id="{9FAEB589-9721-1ADD-D40E-E14271B5E38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2" name="btfpColumnGapBlocker946580">
              <a:extLst>
                <a:ext uri="{FF2B5EF4-FFF2-40B4-BE49-F238E27FC236}">
                  <a16:creationId xmlns:a16="http://schemas.microsoft.com/office/drawing/2014/main" id="{825C9960-5FF3-DD26-1A15-A56F700824A1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pt-BR" sz="1600" dirty="0" err="1">
                <a:solidFill>
                  <a:srgbClr val="002060"/>
                </a:solidFill>
              </a:endParaRPr>
            </a:p>
          </p:txBody>
        </p:sp>
        <p:sp>
          <p:nvSpPr>
            <p:cNvPr id="10" name="btfpColumnGapBlocker249948">
              <a:extLst>
                <a:ext uri="{FF2B5EF4-FFF2-40B4-BE49-F238E27FC236}">
                  <a16:creationId xmlns:a16="http://schemas.microsoft.com/office/drawing/2014/main" id="{F2CF56C7-6681-6E56-2003-034EFF403A72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pt-BR" sz="1600" dirty="0" err="1">
                <a:solidFill>
                  <a:srgbClr val="002060"/>
                </a:solidFill>
              </a:endParaRPr>
            </a:p>
          </p:txBody>
        </p:sp>
        <p:cxnSp>
          <p:nvCxnSpPr>
            <p:cNvPr id="8" name="btfpColumnIndicator927089">
              <a:extLst>
                <a:ext uri="{FF2B5EF4-FFF2-40B4-BE49-F238E27FC236}">
                  <a16:creationId xmlns:a16="http://schemas.microsoft.com/office/drawing/2014/main" id="{7B76D78A-A9C4-E45F-71BE-D0510F410174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997260">
              <a:extLst>
                <a:ext uri="{FF2B5EF4-FFF2-40B4-BE49-F238E27FC236}">
                  <a16:creationId xmlns:a16="http://schemas.microsoft.com/office/drawing/2014/main" id="{37108706-F284-BF4C-9F61-4FC224CAC4A0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btfpColumnIndicatorGroup1">
            <a:extLst>
              <a:ext uri="{FF2B5EF4-FFF2-40B4-BE49-F238E27FC236}">
                <a16:creationId xmlns:a16="http://schemas.microsoft.com/office/drawing/2014/main" id="{E740F5A2-2C0D-270E-0D1D-84BFE0148FB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1" name="btfpColumnGapBlocker481449">
              <a:extLst>
                <a:ext uri="{FF2B5EF4-FFF2-40B4-BE49-F238E27FC236}">
                  <a16:creationId xmlns:a16="http://schemas.microsoft.com/office/drawing/2014/main" id="{219295B5-0629-9A68-861A-93FEA8D77651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pt-BR" sz="1600" dirty="0" err="1">
                <a:solidFill>
                  <a:srgbClr val="002060"/>
                </a:solidFill>
              </a:endParaRPr>
            </a:p>
          </p:txBody>
        </p:sp>
        <p:sp>
          <p:nvSpPr>
            <p:cNvPr id="9" name="btfpColumnGapBlocker132580">
              <a:extLst>
                <a:ext uri="{FF2B5EF4-FFF2-40B4-BE49-F238E27FC236}">
                  <a16:creationId xmlns:a16="http://schemas.microsoft.com/office/drawing/2014/main" id="{6591CB5C-0CA8-53E4-FAB7-0C8EB1838E0B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pt-BR" sz="1600" dirty="0" err="1">
                <a:solidFill>
                  <a:srgbClr val="002060"/>
                </a:solidFill>
              </a:endParaRPr>
            </a:p>
          </p:txBody>
        </p:sp>
        <p:cxnSp>
          <p:nvCxnSpPr>
            <p:cNvPr id="7" name="btfpColumnIndicator117021">
              <a:extLst>
                <a:ext uri="{FF2B5EF4-FFF2-40B4-BE49-F238E27FC236}">
                  <a16:creationId xmlns:a16="http://schemas.microsoft.com/office/drawing/2014/main" id="{1DDE56BF-2816-AA41-69C8-DBCEBED67F65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990292">
              <a:extLst>
                <a:ext uri="{FF2B5EF4-FFF2-40B4-BE49-F238E27FC236}">
                  <a16:creationId xmlns:a16="http://schemas.microsoft.com/office/drawing/2014/main" id="{A7388D3A-C469-1EBD-D06E-0925D29E2760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7" name="think-cell data - do not delete" hidden="1">
            <a:extLst>
              <a:ext uri="{FF2B5EF4-FFF2-40B4-BE49-F238E27FC236}">
                <a16:creationId xmlns:a16="http://schemas.microsoft.com/office/drawing/2014/main" id="{B49AF17E-082A-3C0A-A6C5-79CB3E29DBC2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4788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425" imgH="424" progId="TCLayout.ActiveDocument.1">
                  <p:embed/>
                </p:oleObj>
              </mc:Choice>
              <mc:Fallback>
                <p:oleObj name="thinkcell Slide" r:id="rId4" imgW="425" imgH="424" progId="TCLayout.ActiveDocument.1">
                  <p:embed/>
                  <p:pic>
                    <p:nvPicPr>
                      <p:cNvPr id="5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9AF17E-082A-3C0A-A6C5-79CB3E29DB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3F32C6B4-BADC-E795-3751-8ED04D12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542117"/>
            <a:ext cx="2823731" cy="2289729"/>
          </a:xfrm>
        </p:spPr>
        <p:txBody>
          <a:bodyPr vert="horz" rIns="0">
            <a:spAutoFit/>
          </a:bodyPr>
          <a:lstStyle/>
          <a:p>
            <a:r>
              <a:rPr lang="pt-PT" sz="3200" dirty="0">
                <a:solidFill>
                  <a:schemeClr val="bg1"/>
                </a:solidFill>
              </a:rPr>
              <a:t>Fundos Endowments no Brasil e seu crescimento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A5ECDC-8D05-8B8A-F1C3-3C5CF5933C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9752" y="59532"/>
            <a:ext cx="4480560" cy="161583"/>
          </a:xfrm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E7D1EDF-7520-59B8-61B3-A51063B22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53" name="Imagem 14">
            <a:extLst>
              <a:ext uri="{FF2B5EF4-FFF2-40B4-BE49-F238E27FC236}">
                <a16:creationId xmlns:a16="http://schemas.microsoft.com/office/drawing/2014/main" id="{7BEFBAD4-F088-32D8-8996-86CE59666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2073" y="1801821"/>
            <a:ext cx="429681" cy="429681"/>
          </a:xfrm>
          <a:prstGeom prst="rect">
            <a:avLst/>
          </a:prstGeom>
        </p:spPr>
      </p:pic>
      <p:sp>
        <p:nvSpPr>
          <p:cNvPr id="58" name="Google Shape;297;p10">
            <a:extLst>
              <a:ext uri="{FF2B5EF4-FFF2-40B4-BE49-F238E27FC236}">
                <a16:creationId xmlns:a16="http://schemas.microsoft.com/office/drawing/2014/main" id="{6EFF8187-960E-4FAB-EB2D-65DD14B1D95A}"/>
              </a:ext>
            </a:extLst>
          </p:cNvPr>
          <p:cNvSpPr txBox="1"/>
          <p:nvPr/>
        </p:nvSpPr>
        <p:spPr>
          <a:xfrm>
            <a:off x="5018262" y="1908939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b="1" dirty="0">
                <a:solidFill>
                  <a:srgbClr val="0C172D"/>
                </a:solidFill>
                <a:sym typeface="Arial"/>
              </a:rPr>
              <a:t>Eng. USP</a:t>
            </a:r>
          </a:p>
        </p:txBody>
      </p:sp>
      <p:pic>
        <p:nvPicPr>
          <p:cNvPr id="55" name="Imagem 19">
            <a:extLst>
              <a:ext uri="{FF2B5EF4-FFF2-40B4-BE49-F238E27FC236}">
                <a16:creationId xmlns:a16="http://schemas.microsoft.com/office/drawing/2014/main" id="{19FA9A88-59DE-5EC9-DCEC-AA840F4671E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440" t="4992" r="13924" b="9675"/>
          <a:stretch/>
        </p:blipFill>
        <p:spPr>
          <a:xfrm>
            <a:off x="4212073" y="2468900"/>
            <a:ext cx="429681" cy="558632"/>
          </a:xfrm>
          <a:prstGeom prst="rect">
            <a:avLst/>
          </a:prstGeom>
        </p:spPr>
      </p:pic>
      <p:sp>
        <p:nvSpPr>
          <p:cNvPr id="59" name="Google Shape;297;p10">
            <a:extLst>
              <a:ext uri="{FF2B5EF4-FFF2-40B4-BE49-F238E27FC236}">
                <a16:creationId xmlns:a16="http://schemas.microsoft.com/office/drawing/2014/main" id="{58CA6627-9196-8486-9E7A-280767CC2DAC}"/>
              </a:ext>
            </a:extLst>
          </p:cNvPr>
          <p:cNvSpPr txBox="1"/>
          <p:nvPr/>
        </p:nvSpPr>
        <p:spPr>
          <a:xfrm>
            <a:off x="5018262" y="2640494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b="1" dirty="0">
                <a:solidFill>
                  <a:srgbClr val="0C172D"/>
                </a:solidFill>
                <a:sym typeface="Arial"/>
              </a:rPr>
              <a:t>STEM UFRJ</a:t>
            </a:r>
          </a:p>
        </p:txBody>
      </p:sp>
      <p:pic>
        <p:nvPicPr>
          <p:cNvPr id="54" name="Imagem 15">
            <a:extLst>
              <a:ext uri="{FF2B5EF4-FFF2-40B4-BE49-F238E27FC236}">
                <a16:creationId xmlns:a16="http://schemas.microsoft.com/office/drawing/2014/main" id="{77400A3D-0BA2-0F87-6E18-6C80219FE6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9987" y="5481970"/>
            <a:ext cx="693852" cy="690768"/>
          </a:xfrm>
          <a:prstGeom prst="rect">
            <a:avLst/>
          </a:prstGeom>
        </p:spPr>
      </p:pic>
      <p:sp>
        <p:nvSpPr>
          <p:cNvPr id="60" name="Google Shape;297;p10">
            <a:extLst>
              <a:ext uri="{FF2B5EF4-FFF2-40B4-BE49-F238E27FC236}">
                <a16:creationId xmlns:a16="http://schemas.microsoft.com/office/drawing/2014/main" id="{102D0BE8-5BBC-5208-235F-E477BC65C707}"/>
              </a:ext>
            </a:extLst>
          </p:cNvPr>
          <p:cNvSpPr txBox="1"/>
          <p:nvPr/>
        </p:nvSpPr>
        <p:spPr>
          <a:xfrm>
            <a:off x="5018262" y="5719632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b="1" dirty="0">
                <a:solidFill>
                  <a:srgbClr val="0C172D"/>
                </a:solidFill>
                <a:sym typeface="Arial"/>
              </a:rPr>
              <a:t>Unicamp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2A902E8-2A70-8D56-5D1B-017E1C7E016D}"/>
              </a:ext>
            </a:extLst>
          </p:cNvPr>
          <p:cNvCxnSpPr>
            <a:cxnSpLocks/>
          </p:cNvCxnSpPr>
          <p:nvPr/>
        </p:nvCxnSpPr>
        <p:spPr>
          <a:xfrm>
            <a:off x="4139213" y="2388075"/>
            <a:ext cx="7501098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5D2800-9863-A00E-41B2-28115FE2E4DE}"/>
              </a:ext>
            </a:extLst>
          </p:cNvPr>
          <p:cNvCxnSpPr>
            <a:cxnSpLocks/>
          </p:cNvCxnSpPr>
          <p:nvPr/>
        </p:nvCxnSpPr>
        <p:spPr>
          <a:xfrm>
            <a:off x="4139213" y="3130903"/>
            <a:ext cx="7501098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F1169E2A-157E-DAD2-AF04-B5A1A96997F1}"/>
              </a:ext>
            </a:extLst>
          </p:cNvPr>
          <p:cNvCxnSpPr>
            <a:cxnSpLocks/>
          </p:cNvCxnSpPr>
          <p:nvPr/>
        </p:nvCxnSpPr>
        <p:spPr>
          <a:xfrm>
            <a:off x="4139213" y="3873731"/>
            <a:ext cx="7501098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909289B7-9A10-53E8-1349-72649CB0E969}"/>
              </a:ext>
            </a:extLst>
          </p:cNvPr>
          <p:cNvCxnSpPr>
            <a:cxnSpLocks/>
          </p:cNvCxnSpPr>
          <p:nvPr/>
        </p:nvCxnSpPr>
        <p:spPr>
          <a:xfrm>
            <a:off x="4139213" y="4616559"/>
            <a:ext cx="7501098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3463144D-99D1-9FC7-7F01-9EC56DEFE87E}"/>
              </a:ext>
            </a:extLst>
          </p:cNvPr>
          <p:cNvCxnSpPr>
            <a:cxnSpLocks/>
          </p:cNvCxnSpPr>
          <p:nvPr/>
        </p:nvCxnSpPr>
        <p:spPr>
          <a:xfrm>
            <a:off x="4139213" y="5359386"/>
            <a:ext cx="7501098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5" name="Picture 2" descr="Você tem dúvidas sobre a Sempre FEA? - SempreFEA">
            <a:extLst>
              <a:ext uri="{FF2B5EF4-FFF2-40B4-BE49-F238E27FC236}">
                <a16:creationId xmlns:a16="http://schemas.microsoft.com/office/drawing/2014/main" id="{9D81984F-3C4A-F32E-4E1D-68F3133FB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14" y="3264930"/>
            <a:ext cx="744798" cy="42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Google Shape;297;p10">
            <a:extLst>
              <a:ext uri="{FF2B5EF4-FFF2-40B4-BE49-F238E27FC236}">
                <a16:creationId xmlns:a16="http://schemas.microsoft.com/office/drawing/2014/main" id="{8B192253-9109-F25A-9F25-64B7565A3863}"/>
              </a:ext>
            </a:extLst>
          </p:cNvPr>
          <p:cNvSpPr txBox="1"/>
          <p:nvPr/>
        </p:nvSpPr>
        <p:spPr>
          <a:xfrm>
            <a:off x="5018262" y="3368234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b="1" dirty="0">
                <a:solidFill>
                  <a:srgbClr val="0C172D"/>
                </a:solidFill>
                <a:sym typeface="Arial"/>
              </a:rPr>
              <a:t>FEA USP</a:t>
            </a:r>
          </a:p>
        </p:txBody>
      </p:sp>
      <p:pic>
        <p:nvPicPr>
          <p:cNvPr id="1046" name="Picture 4" descr="Sempre Sanfran | Fundo de endowment da Faculdade de Direito da USP">
            <a:extLst>
              <a:ext uri="{FF2B5EF4-FFF2-40B4-BE49-F238E27FC236}">
                <a16:creationId xmlns:a16="http://schemas.microsoft.com/office/drawing/2014/main" id="{EFA4174C-1AF0-1C9C-52F5-02C819D344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245"/>
          <a:stretch/>
        </p:blipFill>
        <p:spPr bwMode="auto">
          <a:xfrm>
            <a:off x="3981014" y="3924380"/>
            <a:ext cx="891798" cy="50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Google Shape;297;p10">
            <a:extLst>
              <a:ext uri="{FF2B5EF4-FFF2-40B4-BE49-F238E27FC236}">
                <a16:creationId xmlns:a16="http://schemas.microsoft.com/office/drawing/2014/main" id="{772DB580-BB6B-8384-C5B7-CA3C50B0C36D}"/>
              </a:ext>
            </a:extLst>
          </p:cNvPr>
          <p:cNvSpPr txBox="1"/>
          <p:nvPr/>
        </p:nvSpPr>
        <p:spPr>
          <a:xfrm>
            <a:off x="5018262" y="4069728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b="1" dirty="0">
                <a:solidFill>
                  <a:srgbClr val="0C172D"/>
                </a:solidFill>
                <a:sym typeface="Arial"/>
              </a:rPr>
              <a:t>Direito USP</a:t>
            </a:r>
          </a:p>
        </p:txBody>
      </p:sp>
      <p:sp>
        <p:nvSpPr>
          <p:cNvPr id="33" name="Google Shape;297;p10">
            <a:extLst>
              <a:ext uri="{FF2B5EF4-FFF2-40B4-BE49-F238E27FC236}">
                <a16:creationId xmlns:a16="http://schemas.microsoft.com/office/drawing/2014/main" id="{1DB58155-5DDE-82FB-A169-7E12D4D7F6E9}"/>
              </a:ext>
            </a:extLst>
          </p:cNvPr>
          <p:cNvSpPr txBox="1"/>
          <p:nvPr/>
        </p:nvSpPr>
        <p:spPr>
          <a:xfrm>
            <a:off x="5018262" y="4848523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b="1" dirty="0">
                <a:solidFill>
                  <a:srgbClr val="0C172D"/>
                </a:solidFill>
                <a:sym typeface="Arial"/>
              </a:rPr>
              <a:t>PUC RJ</a:t>
            </a:r>
          </a:p>
        </p:txBody>
      </p:sp>
      <p:sp>
        <p:nvSpPr>
          <p:cNvPr id="1031" name="Google Shape;297;p10">
            <a:extLst>
              <a:ext uri="{FF2B5EF4-FFF2-40B4-BE49-F238E27FC236}">
                <a16:creationId xmlns:a16="http://schemas.microsoft.com/office/drawing/2014/main" id="{B28D8BFD-84B5-69DD-094A-B30485DE987A}"/>
              </a:ext>
            </a:extLst>
          </p:cNvPr>
          <p:cNvSpPr txBox="1"/>
          <p:nvPr/>
        </p:nvSpPr>
        <p:spPr>
          <a:xfrm>
            <a:off x="9221508" y="1908939"/>
            <a:ext cx="201721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R$ 63 milhões</a:t>
            </a:r>
          </a:p>
        </p:txBody>
      </p:sp>
      <p:sp>
        <p:nvSpPr>
          <p:cNvPr id="1032" name="Google Shape;297;p10">
            <a:extLst>
              <a:ext uri="{FF2B5EF4-FFF2-40B4-BE49-F238E27FC236}">
                <a16:creationId xmlns:a16="http://schemas.microsoft.com/office/drawing/2014/main" id="{FD5FA357-90CD-DE4E-5797-24F85F0368B0}"/>
              </a:ext>
            </a:extLst>
          </p:cNvPr>
          <p:cNvSpPr txBox="1"/>
          <p:nvPr/>
        </p:nvSpPr>
        <p:spPr>
          <a:xfrm>
            <a:off x="9221508" y="2640494"/>
            <a:ext cx="201721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R$ 21 milhões</a:t>
            </a:r>
          </a:p>
        </p:txBody>
      </p:sp>
      <p:sp>
        <p:nvSpPr>
          <p:cNvPr id="1033" name="Google Shape;297;p10">
            <a:extLst>
              <a:ext uri="{FF2B5EF4-FFF2-40B4-BE49-F238E27FC236}">
                <a16:creationId xmlns:a16="http://schemas.microsoft.com/office/drawing/2014/main" id="{B0C11130-338F-828F-018D-90827CFEF4C2}"/>
              </a:ext>
            </a:extLst>
          </p:cNvPr>
          <p:cNvSpPr txBox="1"/>
          <p:nvPr/>
        </p:nvSpPr>
        <p:spPr>
          <a:xfrm>
            <a:off x="9221508" y="5719632"/>
            <a:ext cx="201721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>
                <a:solidFill>
                  <a:srgbClr val="0C172D"/>
                </a:solidFill>
                <a:sym typeface="Arial"/>
              </a:rPr>
              <a:t>R$ 2 milhões</a:t>
            </a:r>
          </a:p>
        </p:txBody>
      </p:sp>
      <p:sp>
        <p:nvSpPr>
          <p:cNvPr id="31" name="Google Shape;297;p10">
            <a:extLst>
              <a:ext uri="{FF2B5EF4-FFF2-40B4-BE49-F238E27FC236}">
                <a16:creationId xmlns:a16="http://schemas.microsoft.com/office/drawing/2014/main" id="{B9F57ADF-4188-AE4F-EF38-85330DEA3EE6}"/>
              </a:ext>
            </a:extLst>
          </p:cNvPr>
          <p:cNvSpPr txBox="1"/>
          <p:nvPr/>
        </p:nvSpPr>
        <p:spPr>
          <a:xfrm>
            <a:off x="9221508" y="3368234"/>
            <a:ext cx="201721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R$ 14 milhões</a:t>
            </a:r>
          </a:p>
        </p:txBody>
      </p:sp>
      <p:sp>
        <p:nvSpPr>
          <p:cNvPr id="50" name="Google Shape;297;p10">
            <a:extLst>
              <a:ext uri="{FF2B5EF4-FFF2-40B4-BE49-F238E27FC236}">
                <a16:creationId xmlns:a16="http://schemas.microsoft.com/office/drawing/2014/main" id="{83E05476-3B4B-67D1-9912-349EBECD2B9B}"/>
              </a:ext>
            </a:extLst>
          </p:cNvPr>
          <p:cNvSpPr txBox="1"/>
          <p:nvPr/>
        </p:nvSpPr>
        <p:spPr>
          <a:xfrm>
            <a:off x="9221508" y="4069728"/>
            <a:ext cx="201721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R$ 12 milhões</a:t>
            </a:r>
          </a:p>
        </p:txBody>
      </p:sp>
      <p:sp>
        <p:nvSpPr>
          <p:cNvPr id="39" name="Google Shape;297;p10">
            <a:extLst>
              <a:ext uri="{FF2B5EF4-FFF2-40B4-BE49-F238E27FC236}">
                <a16:creationId xmlns:a16="http://schemas.microsoft.com/office/drawing/2014/main" id="{2D967AA2-B093-FEAF-4552-0041D2FA08B2}"/>
              </a:ext>
            </a:extLst>
          </p:cNvPr>
          <p:cNvSpPr txBox="1"/>
          <p:nvPr/>
        </p:nvSpPr>
        <p:spPr>
          <a:xfrm>
            <a:off x="9221508" y="4848523"/>
            <a:ext cx="201721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R$ 4 milhões</a:t>
            </a:r>
          </a:p>
        </p:txBody>
      </p:sp>
      <p:pic>
        <p:nvPicPr>
          <p:cNvPr id="1047" name="Picture 6" descr="Covid-19: Soluções e Recursos para a Comunidade">
            <a:extLst>
              <a:ext uri="{FF2B5EF4-FFF2-40B4-BE49-F238E27FC236}">
                <a16:creationId xmlns:a16="http://schemas.microsoft.com/office/drawing/2014/main" id="{9C01CEB8-4380-415F-34A1-1EE883270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987" y="4667919"/>
            <a:ext cx="693852" cy="57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7FB1F08-0F3C-0F29-47B4-E62330EE67DE}"/>
              </a:ext>
            </a:extLst>
          </p:cNvPr>
          <p:cNvSpPr txBox="1"/>
          <p:nvPr/>
        </p:nvSpPr>
        <p:spPr>
          <a:xfrm>
            <a:off x="4139213" y="1204309"/>
            <a:ext cx="1758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 err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Endowments</a:t>
            </a:r>
            <a:endParaRPr lang="pt-BR" sz="1200" noProof="0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24" name="Google Shape;297;p10">
            <a:extLst>
              <a:ext uri="{FF2B5EF4-FFF2-40B4-BE49-F238E27FC236}">
                <a16:creationId xmlns:a16="http://schemas.microsoft.com/office/drawing/2014/main" id="{0575F4CF-B03C-7FC5-5039-3A02D63DEE17}"/>
              </a:ext>
            </a:extLst>
          </p:cNvPr>
          <p:cNvSpPr txBox="1"/>
          <p:nvPr/>
        </p:nvSpPr>
        <p:spPr>
          <a:xfrm>
            <a:off x="6888966" y="1908939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2009</a:t>
            </a:r>
          </a:p>
        </p:txBody>
      </p:sp>
      <p:sp>
        <p:nvSpPr>
          <p:cNvPr id="1025" name="Google Shape;297;p10">
            <a:extLst>
              <a:ext uri="{FF2B5EF4-FFF2-40B4-BE49-F238E27FC236}">
                <a16:creationId xmlns:a16="http://schemas.microsoft.com/office/drawing/2014/main" id="{27D4C85F-2E76-CF55-2A34-F8144D5BCD4B}"/>
              </a:ext>
            </a:extLst>
          </p:cNvPr>
          <p:cNvSpPr txBox="1"/>
          <p:nvPr/>
        </p:nvSpPr>
        <p:spPr>
          <a:xfrm>
            <a:off x="6888966" y="2640494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>
                <a:solidFill>
                  <a:srgbClr val="0C172D"/>
                </a:solidFill>
                <a:sym typeface="Arial"/>
              </a:rPr>
              <a:t>2018</a:t>
            </a:r>
          </a:p>
        </p:txBody>
      </p:sp>
      <p:sp>
        <p:nvSpPr>
          <p:cNvPr id="1027" name="Google Shape;297;p10">
            <a:extLst>
              <a:ext uri="{FF2B5EF4-FFF2-40B4-BE49-F238E27FC236}">
                <a16:creationId xmlns:a16="http://schemas.microsoft.com/office/drawing/2014/main" id="{82B05AD3-3F8F-A19C-C439-95CF752C4B1D}"/>
              </a:ext>
            </a:extLst>
          </p:cNvPr>
          <p:cNvSpPr txBox="1"/>
          <p:nvPr/>
        </p:nvSpPr>
        <p:spPr>
          <a:xfrm>
            <a:off x="6888966" y="5719632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>
                <a:solidFill>
                  <a:srgbClr val="0C172D"/>
                </a:solidFill>
                <a:sym typeface="Arial"/>
              </a:rPr>
              <a:t>2020</a:t>
            </a:r>
          </a:p>
        </p:txBody>
      </p:sp>
      <p:sp>
        <p:nvSpPr>
          <p:cNvPr id="28" name="Google Shape;297;p10">
            <a:extLst>
              <a:ext uri="{FF2B5EF4-FFF2-40B4-BE49-F238E27FC236}">
                <a16:creationId xmlns:a16="http://schemas.microsoft.com/office/drawing/2014/main" id="{8221C4CF-1719-3B18-55AB-AC5D3C6437E5}"/>
              </a:ext>
            </a:extLst>
          </p:cNvPr>
          <p:cNvSpPr txBox="1"/>
          <p:nvPr/>
        </p:nvSpPr>
        <p:spPr>
          <a:xfrm>
            <a:off x="6888966" y="3368234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>
                <a:solidFill>
                  <a:srgbClr val="0C172D"/>
                </a:solidFill>
                <a:sym typeface="Arial"/>
              </a:rPr>
              <a:t>2020</a:t>
            </a:r>
          </a:p>
        </p:txBody>
      </p:sp>
      <p:sp>
        <p:nvSpPr>
          <p:cNvPr id="46" name="Google Shape;297;p10">
            <a:extLst>
              <a:ext uri="{FF2B5EF4-FFF2-40B4-BE49-F238E27FC236}">
                <a16:creationId xmlns:a16="http://schemas.microsoft.com/office/drawing/2014/main" id="{56E1514E-2714-4FCB-A5E6-C637FC4C6252}"/>
              </a:ext>
            </a:extLst>
          </p:cNvPr>
          <p:cNvSpPr txBox="1"/>
          <p:nvPr/>
        </p:nvSpPr>
        <p:spPr>
          <a:xfrm>
            <a:off x="6888966" y="4069728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2021</a:t>
            </a:r>
          </a:p>
        </p:txBody>
      </p:sp>
      <p:sp>
        <p:nvSpPr>
          <p:cNvPr id="34" name="Google Shape;297;p10">
            <a:extLst>
              <a:ext uri="{FF2B5EF4-FFF2-40B4-BE49-F238E27FC236}">
                <a16:creationId xmlns:a16="http://schemas.microsoft.com/office/drawing/2014/main" id="{D70CD699-DF9F-751A-6088-7EFD866269C5}"/>
              </a:ext>
            </a:extLst>
          </p:cNvPr>
          <p:cNvSpPr txBox="1"/>
          <p:nvPr/>
        </p:nvSpPr>
        <p:spPr>
          <a:xfrm>
            <a:off x="6888966" y="4848523"/>
            <a:ext cx="10618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spcBef>
                <a:spcPct val="0"/>
              </a:spcBef>
              <a:buClr>
                <a:srgbClr val="000000"/>
              </a:buClr>
              <a:buSzPts val="14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2024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B8C16E5D-6B26-A778-E95B-D63A86ADBDE0}"/>
              </a:ext>
            </a:extLst>
          </p:cNvPr>
          <p:cNvSpPr txBox="1"/>
          <p:nvPr/>
        </p:nvSpPr>
        <p:spPr>
          <a:xfrm>
            <a:off x="6761715" y="1204309"/>
            <a:ext cx="2044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Ano de fundação</a:t>
            </a:r>
            <a:endParaRPr lang="pt-BR" sz="1200" noProof="0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91188ABD-80B3-AB80-687E-580043B6C2F2}"/>
              </a:ext>
            </a:extLst>
          </p:cNvPr>
          <p:cNvSpPr txBox="1"/>
          <p:nvPr/>
        </p:nvSpPr>
        <p:spPr>
          <a:xfrm>
            <a:off x="9203042" y="1204309"/>
            <a:ext cx="2269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Tamanho do fundo</a:t>
            </a:r>
            <a:endParaRPr lang="pt-BR" sz="1200" noProof="0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41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 63">
            <a:extLst>
              <a:ext uri="{FF2B5EF4-FFF2-40B4-BE49-F238E27FC236}">
                <a16:creationId xmlns:a16="http://schemas.microsoft.com/office/drawing/2014/main" id="{BAD367CC-EAE3-4E3B-4FAD-41794370EA19}"/>
              </a:ext>
            </a:extLst>
          </p:cNvPr>
          <p:cNvSpPr>
            <a:spLocks/>
          </p:cNvSpPr>
          <p:nvPr/>
        </p:nvSpPr>
        <p:spPr>
          <a:xfrm rot="10800000" flipV="1">
            <a:off x="10120276" y="1334883"/>
            <a:ext cx="1525131" cy="1212418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55" name="Rounded Rectangle 63">
            <a:extLst>
              <a:ext uri="{FF2B5EF4-FFF2-40B4-BE49-F238E27FC236}">
                <a16:creationId xmlns:a16="http://schemas.microsoft.com/office/drawing/2014/main" id="{C47F4E58-22E7-7C61-1F83-125ED8EFADAC}"/>
              </a:ext>
            </a:extLst>
          </p:cNvPr>
          <p:cNvSpPr>
            <a:spLocks/>
          </p:cNvSpPr>
          <p:nvPr/>
        </p:nvSpPr>
        <p:spPr>
          <a:xfrm rot="10800000" flipV="1">
            <a:off x="5903026" y="1334883"/>
            <a:ext cx="4120909" cy="1212418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47" name="Rounded Rectangle 63">
            <a:extLst>
              <a:ext uri="{FF2B5EF4-FFF2-40B4-BE49-F238E27FC236}">
                <a16:creationId xmlns:a16="http://schemas.microsoft.com/office/drawing/2014/main" id="{C9487060-F3F2-C598-8A41-B776BF93D21D}"/>
              </a:ext>
            </a:extLst>
          </p:cNvPr>
          <p:cNvSpPr>
            <a:spLocks/>
          </p:cNvSpPr>
          <p:nvPr/>
        </p:nvSpPr>
        <p:spPr>
          <a:xfrm rot="10800000" flipV="1">
            <a:off x="3936530" y="1334883"/>
            <a:ext cx="1870127" cy="1212418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45" name="Rounded Rectangle 63">
            <a:extLst>
              <a:ext uri="{FF2B5EF4-FFF2-40B4-BE49-F238E27FC236}">
                <a16:creationId xmlns:a16="http://schemas.microsoft.com/office/drawing/2014/main" id="{220D7EF0-84D5-3C54-2137-CC8007E50B85}"/>
              </a:ext>
            </a:extLst>
          </p:cNvPr>
          <p:cNvSpPr>
            <a:spLocks/>
          </p:cNvSpPr>
          <p:nvPr/>
        </p:nvSpPr>
        <p:spPr>
          <a:xfrm rot="10800000" flipV="1">
            <a:off x="551693" y="1334883"/>
            <a:ext cx="2904947" cy="1212418"/>
          </a:xfrm>
          <a:prstGeom prst="roundRect">
            <a:avLst>
              <a:gd name="adj" fmla="val 11522"/>
            </a:avLst>
          </a:prstGeom>
          <a:solidFill>
            <a:srgbClr val="0C172D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lvl="1" indent="0" defTabSz="914400">
              <a:spcBef>
                <a:spcPts val="0"/>
              </a:spcBef>
              <a:buClr>
                <a:srgbClr val="FF6D00"/>
              </a:buClr>
              <a:buFontTx/>
              <a:buNone/>
              <a:defRPr/>
            </a:pPr>
            <a:endParaRPr lang="pt-BR" sz="1800" b="1" dirty="0">
              <a:solidFill>
                <a:srgbClr val="FFFFFF"/>
              </a:solidFill>
              <a:latin typeface="+mj-lt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25" name="Retângulo Arredondado 64">
            <a:extLst>
              <a:ext uri="{FF2B5EF4-FFF2-40B4-BE49-F238E27FC236}">
                <a16:creationId xmlns:a16="http://schemas.microsoft.com/office/drawing/2014/main" id="{FF79FD2A-C864-5A4C-2514-35D5913BDF01}"/>
              </a:ext>
            </a:extLst>
          </p:cNvPr>
          <p:cNvSpPr>
            <a:spLocks/>
          </p:cNvSpPr>
          <p:nvPr/>
        </p:nvSpPr>
        <p:spPr>
          <a:xfrm>
            <a:off x="-315581" y="1876505"/>
            <a:ext cx="8750664" cy="4508453"/>
          </a:xfrm>
          <a:prstGeom prst="roundRect">
            <a:avLst>
              <a:gd name="adj" fmla="val 11563"/>
            </a:avLst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pt-BR" err="1">
              <a:solidFill>
                <a:srgbClr val="0C172D"/>
              </a:solidFill>
              <a:latin typeface="Arial"/>
              <a:cs typeface="Arial"/>
            </a:endParaRPr>
          </a:p>
        </p:txBody>
      </p:sp>
      <p:sp>
        <p:nvSpPr>
          <p:cNvPr id="29" name="Retângulo Arredondado 64">
            <a:extLst>
              <a:ext uri="{FF2B5EF4-FFF2-40B4-BE49-F238E27FC236}">
                <a16:creationId xmlns:a16="http://schemas.microsoft.com/office/drawing/2014/main" id="{CD3C2A32-CD2C-0F10-5621-6AF48FEE1563}"/>
              </a:ext>
            </a:extLst>
          </p:cNvPr>
          <p:cNvSpPr>
            <a:spLocks/>
          </p:cNvSpPr>
          <p:nvPr/>
        </p:nvSpPr>
        <p:spPr>
          <a:xfrm>
            <a:off x="3698154" y="1876505"/>
            <a:ext cx="8124378" cy="4508453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pt-BR" err="1">
              <a:solidFill>
                <a:srgbClr val="0C172D"/>
              </a:solidFill>
              <a:latin typeface="Arial"/>
              <a:cs typeface="Arial"/>
            </a:endParaRPr>
          </a:p>
        </p:txBody>
      </p: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AE6C4331-511D-4138-A3D3-F4F6C34DBAF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35010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395" imgH="396" progId="TCLayout.ActiveDocument.1">
                  <p:embed/>
                </p:oleObj>
              </mc:Choice>
              <mc:Fallback>
                <p:oleObj name="thinkcell Slide" r:id="rId5" imgW="395" imgH="396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AE6C4331-511D-4138-A3D3-F4F6C34DBA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Oval 34">
            <a:extLst>
              <a:ext uri="{FF2B5EF4-FFF2-40B4-BE49-F238E27FC236}">
                <a16:creationId xmlns:a16="http://schemas.microsoft.com/office/drawing/2014/main" id="{0F3E92C8-D4AC-0837-B3CB-B7C1464A30F8}"/>
              </a:ext>
            </a:extLst>
          </p:cNvPr>
          <p:cNvSpPr/>
          <p:nvPr/>
        </p:nvSpPr>
        <p:spPr>
          <a:xfrm>
            <a:off x="718522" y="1966245"/>
            <a:ext cx="720223" cy="731520"/>
          </a:xfrm>
          <a:prstGeom prst="ellipse">
            <a:avLst/>
          </a:prstGeom>
          <a:solidFill>
            <a:srgbClr val="0C172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pt-BR" sz="2400" b="1">
              <a:solidFill>
                <a:srgbClr val="0C172D"/>
              </a:solidFill>
            </a:endParaRPr>
          </a:p>
        </p:txBody>
      </p:sp>
      <p:sp>
        <p:nvSpPr>
          <p:cNvPr id="39" name="Google Shape;247;p8">
            <a:extLst>
              <a:ext uri="{FF2B5EF4-FFF2-40B4-BE49-F238E27FC236}">
                <a16:creationId xmlns:a16="http://schemas.microsoft.com/office/drawing/2014/main" id="{1BE09106-028F-6F1B-063D-8D4C64400A15}"/>
              </a:ext>
            </a:extLst>
          </p:cNvPr>
          <p:cNvSpPr txBox="1"/>
          <p:nvPr/>
        </p:nvSpPr>
        <p:spPr>
          <a:xfrm>
            <a:off x="1532732" y="2134050"/>
            <a:ext cx="1878913" cy="39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1300"/>
            </a:pPr>
            <a:r>
              <a:rPr lang="pt-PT" sz="1400">
                <a:solidFill>
                  <a:srgbClr val="0C172D"/>
                </a:solidFill>
                <a:sym typeface="Arial"/>
              </a:rPr>
              <a:t>Fundo Patrimonial para apoio financeiro</a:t>
            </a:r>
            <a:endParaRPr sz="1400" i="0" u="none" strike="noStrike" cap="none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47DFDEC5-B22E-F4A3-868C-21D109B08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9" y="2108299"/>
            <a:ext cx="485962" cy="373490"/>
          </a:xfrm>
          <a:prstGeom prst="rect">
            <a:avLst/>
          </a:prstGeom>
        </p:spPr>
      </p:pic>
      <p:grpSp>
        <p:nvGrpSpPr>
          <p:cNvPr id="13" name="btfpColumnIndicatorGroup2">
            <a:extLst>
              <a:ext uri="{FF2B5EF4-FFF2-40B4-BE49-F238E27FC236}">
                <a16:creationId xmlns:a16="http://schemas.microsoft.com/office/drawing/2014/main" id="{6787D2C8-767B-4655-B8D5-ADDAD6888E5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1" name="btfpColumnGapBlocker204170">
              <a:extLst>
                <a:ext uri="{FF2B5EF4-FFF2-40B4-BE49-F238E27FC236}">
                  <a16:creationId xmlns:a16="http://schemas.microsoft.com/office/drawing/2014/main" id="{8AE608A5-5EFD-4147-8AB2-F9BEBAB82759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pt-BR" sz="1600">
                <a:solidFill>
                  <a:srgbClr val="002060"/>
                </a:solidFill>
              </a:endParaRPr>
            </a:p>
          </p:txBody>
        </p:sp>
        <p:sp>
          <p:nvSpPr>
            <p:cNvPr id="9" name="btfpColumnGapBlocker947170">
              <a:extLst>
                <a:ext uri="{FF2B5EF4-FFF2-40B4-BE49-F238E27FC236}">
                  <a16:creationId xmlns:a16="http://schemas.microsoft.com/office/drawing/2014/main" id="{B24A351D-2E76-4B51-A414-93A6935E22C3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pt-BR" sz="1600">
                <a:solidFill>
                  <a:srgbClr val="002060"/>
                </a:solidFill>
              </a:endParaRPr>
            </a:p>
          </p:txBody>
        </p:sp>
        <p:cxnSp>
          <p:nvCxnSpPr>
            <p:cNvPr id="7" name="btfpColumnIndicator908115">
              <a:extLst>
                <a:ext uri="{FF2B5EF4-FFF2-40B4-BE49-F238E27FC236}">
                  <a16:creationId xmlns:a16="http://schemas.microsoft.com/office/drawing/2014/main" id="{625B6A19-AECB-4E16-BD4A-596C79C26F1D}"/>
                </a:ext>
              </a:extLst>
            </p:cNvPr>
            <p:cNvCxnSpPr/>
            <p:nvPr/>
          </p:nvCxnSpPr>
          <p:spPr>
            <a:xfrm flipH="1"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449389">
              <a:extLst>
                <a:ext uri="{FF2B5EF4-FFF2-40B4-BE49-F238E27FC236}">
                  <a16:creationId xmlns:a16="http://schemas.microsoft.com/office/drawing/2014/main" id="{A280F532-7CFE-4A12-A268-358FD86E8A11}"/>
                </a:ext>
              </a:extLst>
            </p:cNvPr>
            <p:cNvCxnSpPr/>
            <p:nvPr/>
          </p:nvCxnSpPr>
          <p:spPr>
            <a:xfrm flipH="1"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btfpColumnIndicatorGroup1">
            <a:extLst>
              <a:ext uri="{FF2B5EF4-FFF2-40B4-BE49-F238E27FC236}">
                <a16:creationId xmlns:a16="http://schemas.microsoft.com/office/drawing/2014/main" id="{A4BA0D60-FD5A-4035-9E57-2A3293E95A8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" name="btfpColumnGapBlocker263117">
              <a:extLst>
                <a:ext uri="{FF2B5EF4-FFF2-40B4-BE49-F238E27FC236}">
                  <a16:creationId xmlns:a16="http://schemas.microsoft.com/office/drawing/2014/main" id="{A1997A0C-B4FD-419E-BDFC-D238ABD6E54B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pt-BR" sz="1600">
                <a:solidFill>
                  <a:srgbClr val="002060"/>
                </a:solidFill>
              </a:endParaRPr>
            </a:p>
          </p:txBody>
        </p:sp>
        <p:sp>
          <p:nvSpPr>
            <p:cNvPr id="8" name="btfpColumnGapBlocker113883">
              <a:extLst>
                <a:ext uri="{FF2B5EF4-FFF2-40B4-BE49-F238E27FC236}">
                  <a16:creationId xmlns:a16="http://schemas.microsoft.com/office/drawing/2014/main" id="{98D041DF-9E52-4B6B-B391-39A9A51FFFD4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pt-BR" sz="1600">
                <a:solidFill>
                  <a:srgbClr val="002060"/>
                </a:solidFill>
              </a:endParaRPr>
            </a:p>
          </p:txBody>
        </p:sp>
        <p:cxnSp>
          <p:nvCxnSpPr>
            <p:cNvPr id="6" name="btfpColumnIndicator826543">
              <a:extLst>
                <a:ext uri="{FF2B5EF4-FFF2-40B4-BE49-F238E27FC236}">
                  <a16:creationId xmlns:a16="http://schemas.microsoft.com/office/drawing/2014/main" id="{38AEAC83-DCBD-426C-85A9-BF0664C29A23}"/>
                </a:ext>
              </a:extLst>
            </p:cNvPr>
            <p:cNvCxnSpPr/>
            <p:nvPr/>
          </p:nvCxnSpPr>
          <p:spPr>
            <a:xfrm flipH="1"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421540">
              <a:extLst>
                <a:ext uri="{FF2B5EF4-FFF2-40B4-BE49-F238E27FC236}">
                  <a16:creationId xmlns:a16="http://schemas.microsoft.com/office/drawing/2014/main" id="{B284AA18-734E-40A1-B1FE-6A1FE1778466}"/>
                </a:ext>
              </a:extLst>
            </p:cNvPr>
            <p:cNvCxnSpPr/>
            <p:nvPr/>
          </p:nvCxnSpPr>
          <p:spPr>
            <a:xfrm flipH="1"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C4AE1A0-3AF9-4740-8ED8-E4B94EBC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182372"/>
            <a:ext cx="11070437" cy="731520"/>
          </a:xfrm>
        </p:spPr>
        <p:txBody>
          <a:bodyPr vert="horz" rIns="0"/>
          <a:lstStyle/>
          <a:p>
            <a:r>
              <a:rPr lang="pt-PT" sz="3200" dirty="0">
                <a:solidFill>
                  <a:srgbClr val="0C172D"/>
                </a:solidFill>
              </a:rPr>
              <a:t>Pilares e projetos do Instituto Reditus</a:t>
            </a:r>
            <a:endParaRPr lang="pt-BR" sz="3200" dirty="0">
              <a:solidFill>
                <a:srgbClr val="0C172D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3EDEBD-E4CF-17DF-AD26-DCAEFDA16A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9752" y="59532"/>
            <a:ext cx="4480560" cy="161583"/>
          </a:xfrm>
        </p:spPr>
        <p:txBody>
          <a:bodyPr/>
          <a:lstStyle/>
          <a:p>
            <a:endParaRPr lang="pt-BR">
              <a:solidFill>
                <a:srgbClr val="002060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1E6130-2D86-8130-6E42-6A8CB57FB797}"/>
              </a:ext>
            </a:extLst>
          </p:cNvPr>
          <p:cNvSpPr/>
          <p:nvPr/>
        </p:nvSpPr>
        <p:spPr>
          <a:xfrm>
            <a:off x="502750" y="1851184"/>
            <a:ext cx="389795" cy="395909"/>
          </a:xfrm>
          <a:prstGeom prst="ellipse">
            <a:avLst/>
          </a:prstGeom>
          <a:solidFill>
            <a:schemeClr val="bg1"/>
          </a:solidFill>
          <a:ln w="6350" cap="sq">
            <a:solidFill>
              <a:srgbClr val="00206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sz="1200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F32E603-595D-15FC-9C97-4FF498944740}"/>
              </a:ext>
            </a:extLst>
          </p:cNvPr>
          <p:cNvSpPr/>
          <p:nvPr/>
        </p:nvSpPr>
        <p:spPr>
          <a:xfrm>
            <a:off x="712932" y="4593246"/>
            <a:ext cx="720223" cy="731520"/>
          </a:xfrm>
          <a:prstGeom prst="ellipse">
            <a:avLst/>
          </a:prstGeom>
          <a:solidFill>
            <a:srgbClr val="0C172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pt-BR" sz="2400" b="1">
              <a:solidFill>
                <a:srgbClr val="0C172D"/>
              </a:solidFill>
            </a:endParaRPr>
          </a:p>
        </p:txBody>
      </p:sp>
      <p:sp>
        <p:nvSpPr>
          <p:cNvPr id="40" name="Google Shape;247;p8">
            <a:extLst>
              <a:ext uri="{FF2B5EF4-FFF2-40B4-BE49-F238E27FC236}">
                <a16:creationId xmlns:a16="http://schemas.microsoft.com/office/drawing/2014/main" id="{BC65921F-FEDF-3A10-036C-52B907387B0C}"/>
              </a:ext>
            </a:extLst>
          </p:cNvPr>
          <p:cNvSpPr txBox="1"/>
          <p:nvPr/>
        </p:nvSpPr>
        <p:spPr>
          <a:xfrm>
            <a:off x="1527142" y="4759557"/>
            <a:ext cx="1781481" cy="39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1300"/>
            </a:pPr>
            <a:r>
              <a:rPr lang="pt-PT" sz="1400">
                <a:solidFill>
                  <a:srgbClr val="0C172D"/>
                </a:solidFill>
                <a:sym typeface="Arial"/>
              </a:rPr>
              <a:t>Projetos de apoio não financeiro</a:t>
            </a: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FF329228-31E2-5A01-9597-4168E108B4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291" y="4803558"/>
            <a:ext cx="384872" cy="303232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id="{E6AB1EF8-C60A-6B48-DD97-318AB7F0C2C3}"/>
              </a:ext>
            </a:extLst>
          </p:cNvPr>
          <p:cNvSpPr/>
          <p:nvPr/>
        </p:nvSpPr>
        <p:spPr>
          <a:xfrm>
            <a:off x="497160" y="4478185"/>
            <a:ext cx="389795" cy="395909"/>
          </a:xfrm>
          <a:prstGeom prst="ellipse">
            <a:avLst/>
          </a:prstGeom>
          <a:solidFill>
            <a:schemeClr val="bg1"/>
          </a:solidFill>
          <a:ln w="6350" cap="sq">
            <a:solidFill>
              <a:srgbClr val="00206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sz="1200" b="1">
                <a:solidFill>
                  <a:srgbClr val="0C172D"/>
                </a:solidFill>
              </a:rPr>
              <a:t>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35348FA-4EE2-868A-A372-0DC2CFF6B895}"/>
              </a:ext>
            </a:extLst>
          </p:cNvPr>
          <p:cNvSpPr/>
          <p:nvPr/>
        </p:nvSpPr>
        <p:spPr>
          <a:xfrm>
            <a:off x="718522" y="5556200"/>
            <a:ext cx="720223" cy="731520"/>
          </a:xfrm>
          <a:prstGeom prst="ellipse">
            <a:avLst/>
          </a:prstGeom>
          <a:solidFill>
            <a:srgbClr val="0C172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pt-BR" sz="2400" b="1">
              <a:solidFill>
                <a:srgbClr val="0C172D"/>
              </a:solidFill>
            </a:endParaRPr>
          </a:p>
        </p:txBody>
      </p:sp>
      <p:sp>
        <p:nvSpPr>
          <p:cNvPr id="41" name="Google Shape;247;p8">
            <a:extLst>
              <a:ext uri="{FF2B5EF4-FFF2-40B4-BE49-F238E27FC236}">
                <a16:creationId xmlns:a16="http://schemas.microsoft.com/office/drawing/2014/main" id="{30A08215-CCDA-5A4D-B034-6B1989F9E730}"/>
              </a:ext>
            </a:extLst>
          </p:cNvPr>
          <p:cNvSpPr txBox="1"/>
          <p:nvPr/>
        </p:nvSpPr>
        <p:spPr>
          <a:xfrm>
            <a:off x="1532732" y="5724005"/>
            <a:ext cx="1593167" cy="39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1300"/>
            </a:pPr>
            <a:r>
              <a:rPr lang="pt-PT" sz="1400" dirty="0">
                <a:solidFill>
                  <a:srgbClr val="0C172D"/>
                </a:solidFill>
                <a:sym typeface="Arial"/>
              </a:rPr>
              <a:t>Rede </a:t>
            </a:r>
            <a:r>
              <a:rPr lang="pt-PT" sz="1400" i="1" dirty="0">
                <a:solidFill>
                  <a:srgbClr val="0C172D"/>
                </a:solidFill>
                <a:sym typeface="Arial"/>
              </a:rPr>
              <a:t>Alumni</a:t>
            </a:r>
            <a:endParaRPr lang="pt-PT" sz="1400" dirty="0">
              <a:solidFill>
                <a:srgbClr val="0C172D"/>
              </a:solidFill>
              <a:sym typeface="Arial"/>
            </a:endParaRPr>
          </a:p>
        </p:txBody>
      </p:sp>
      <p:pic>
        <p:nvPicPr>
          <p:cNvPr id="31" name="Gráfico 30" descr="Conexões">
            <a:extLst>
              <a:ext uri="{FF2B5EF4-FFF2-40B4-BE49-F238E27FC236}">
                <a16:creationId xmlns:a16="http://schemas.microsoft.com/office/drawing/2014/main" id="{5F761F68-9847-DFDD-3B12-81FAA3E22B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9039" y="5693319"/>
            <a:ext cx="498499" cy="498499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C7154ED3-B532-DC0F-4608-4195D24B5A7E}"/>
              </a:ext>
            </a:extLst>
          </p:cNvPr>
          <p:cNvSpPr/>
          <p:nvPr/>
        </p:nvSpPr>
        <p:spPr>
          <a:xfrm>
            <a:off x="502750" y="5441139"/>
            <a:ext cx="389795" cy="395909"/>
          </a:xfrm>
          <a:prstGeom prst="ellipse">
            <a:avLst/>
          </a:prstGeom>
          <a:solidFill>
            <a:schemeClr val="bg1"/>
          </a:solidFill>
          <a:ln w="6350" cap="sq">
            <a:solidFill>
              <a:srgbClr val="00206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sz="1200" b="1">
                <a:solidFill>
                  <a:srgbClr val="0C172D"/>
                </a:solidFill>
              </a:rPr>
              <a:t>3</a:t>
            </a:r>
          </a:p>
        </p:txBody>
      </p:sp>
      <p:sp>
        <p:nvSpPr>
          <p:cNvPr id="66" name="Google Shape;297;p10">
            <a:extLst>
              <a:ext uri="{FF2B5EF4-FFF2-40B4-BE49-F238E27FC236}">
                <a16:creationId xmlns:a16="http://schemas.microsoft.com/office/drawing/2014/main" id="{1F7CE793-6AA5-72D2-7F43-ED77FE4E0DE6}"/>
              </a:ext>
            </a:extLst>
          </p:cNvPr>
          <p:cNvSpPr txBox="1">
            <a:spLocks/>
          </p:cNvSpPr>
          <p:nvPr/>
        </p:nvSpPr>
        <p:spPr>
          <a:xfrm>
            <a:off x="5949052" y="4578330"/>
            <a:ext cx="406753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200">
                <a:solidFill>
                  <a:srgbClr val="0C172D"/>
                </a:solidFill>
                <a:sym typeface="Arial"/>
              </a:rPr>
              <a:t>Conexão de ex-alunos com experiência de mercado e atuais alunos, criando oportunidades de </a:t>
            </a:r>
            <a:r>
              <a:rPr lang="pt-PT" sz="1200" b="1">
                <a:solidFill>
                  <a:srgbClr val="0C172D"/>
                </a:solidFill>
                <a:sym typeface="Arial"/>
              </a:rPr>
              <a:t>aprendizado e </a:t>
            </a:r>
            <a:r>
              <a:rPr lang="pt-PT" sz="1200" b="1" err="1">
                <a:solidFill>
                  <a:srgbClr val="0C172D"/>
                </a:solidFill>
                <a:sym typeface="Arial"/>
              </a:rPr>
              <a:t>networking</a:t>
            </a:r>
            <a:r>
              <a:rPr lang="pt-PT" sz="1200" b="1">
                <a:solidFill>
                  <a:srgbClr val="0C172D"/>
                </a:solidFill>
                <a:sym typeface="Arial"/>
              </a:rPr>
              <a:t> </a:t>
            </a:r>
            <a:r>
              <a:rPr lang="pt-PT" sz="1200">
                <a:solidFill>
                  <a:srgbClr val="0C172D"/>
                </a:solidFill>
                <a:sym typeface="Arial"/>
              </a:rPr>
              <a:t>aos estudantes</a:t>
            </a:r>
          </a:p>
        </p:txBody>
      </p:sp>
      <p:sp>
        <p:nvSpPr>
          <p:cNvPr id="67" name="Google Shape;297;p10">
            <a:extLst>
              <a:ext uri="{FF2B5EF4-FFF2-40B4-BE49-F238E27FC236}">
                <a16:creationId xmlns:a16="http://schemas.microsoft.com/office/drawing/2014/main" id="{55D10943-76AC-4816-251F-A8DAAA83756D}"/>
              </a:ext>
            </a:extLst>
          </p:cNvPr>
          <p:cNvSpPr txBox="1"/>
          <p:nvPr/>
        </p:nvSpPr>
        <p:spPr>
          <a:xfrm>
            <a:off x="4607145" y="4639885"/>
            <a:ext cx="121077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400" b="1" i="0" u="none" strike="noStrike" cap="none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</a:p>
          <a:p>
            <a: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400" b="1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pt-PT" sz="1400" b="1" i="0" u="none" strike="noStrike" cap="none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pt-PT" sz="1400" b="1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 Mentoria</a:t>
            </a:r>
            <a:endParaRPr sz="1400" b="1" i="0" u="none" strike="noStrike" cap="none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TextBox 34">
            <a:extLst>
              <a:ext uri="{FF2B5EF4-FFF2-40B4-BE49-F238E27FC236}">
                <a16:creationId xmlns:a16="http://schemas.microsoft.com/office/drawing/2014/main" id="{1A0AD4EC-7DAC-0ECE-2E44-8BC021D4B25D}"/>
              </a:ext>
            </a:extLst>
          </p:cNvPr>
          <p:cNvSpPr txBox="1"/>
          <p:nvPr/>
        </p:nvSpPr>
        <p:spPr>
          <a:xfrm>
            <a:off x="10120276" y="4630444"/>
            <a:ext cx="1525131" cy="54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457200" indent="-330200">
              <a:spcBef>
                <a:spcPts val="1200"/>
              </a:spcBef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2pPr>
            <a:lvl3pPr marL="13716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3pPr>
            <a:lvl4pPr marL="18288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4pPr>
            <a:lvl5pPr marL="22860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5pPr>
            <a:lvl6pPr marL="27432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6pPr>
            <a:lvl7pPr marL="32004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7pPr>
            <a:lvl8pPr marL="36576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8pPr>
            <a:lvl9pPr marL="41148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172D"/>
                </a:solidFill>
              </a:rPr>
              <a:t>+1500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050" dirty="0" err="1">
                <a:solidFill>
                  <a:srgbClr val="0C172D"/>
                </a:solidFill>
              </a:rPr>
              <a:t>alunos</a:t>
            </a:r>
            <a:r>
              <a:rPr lang="en-US" sz="1050" dirty="0">
                <a:solidFill>
                  <a:srgbClr val="0C172D"/>
                </a:solidFill>
              </a:rPr>
              <a:t> </a:t>
            </a:r>
            <a:r>
              <a:rPr lang="en-US" sz="1050" dirty="0" err="1">
                <a:solidFill>
                  <a:srgbClr val="0C172D"/>
                </a:solidFill>
              </a:rPr>
              <a:t>impactados</a:t>
            </a:r>
            <a:endParaRPr lang="en-US" sz="1100" b="1" dirty="0">
              <a:solidFill>
                <a:srgbClr val="0C172D"/>
              </a:solidFill>
            </a:endParaRPr>
          </a:p>
        </p:txBody>
      </p:sp>
      <p:pic>
        <p:nvPicPr>
          <p:cNvPr id="27" name="Gráfico 26" descr="Chat">
            <a:extLst>
              <a:ext uri="{FF2B5EF4-FFF2-40B4-BE49-F238E27FC236}">
                <a16:creationId xmlns:a16="http://schemas.microsoft.com/office/drawing/2014/main" id="{250629CF-589D-3342-13BF-D10AA588D0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1986" y="4633149"/>
            <a:ext cx="536652" cy="536652"/>
          </a:xfrm>
          <a:prstGeom prst="rect">
            <a:avLst/>
          </a:prstGeom>
        </p:spPr>
      </p:pic>
      <p:sp>
        <p:nvSpPr>
          <p:cNvPr id="76" name="Google Shape;297;p10">
            <a:extLst>
              <a:ext uri="{FF2B5EF4-FFF2-40B4-BE49-F238E27FC236}">
                <a16:creationId xmlns:a16="http://schemas.microsoft.com/office/drawing/2014/main" id="{88AAD7F1-6492-6922-2F60-EA3DFC9C6FE8}"/>
              </a:ext>
            </a:extLst>
          </p:cNvPr>
          <p:cNvSpPr txBox="1">
            <a:spLocks/>
          </p:cNvSpPr>
          <p:nvPr/>
        </p:nvSpPr>
        <p:spPr>
          <a:xfrm>
            <a:off x="5949052" y="5550193"/>
            <a:ext cx="406753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200">
                <a:solidFill>
                  <a:srgbClr val="0C172D"/>
                </a:solidFill>
                <a:sym typeface="Arial"/>
              </a:rPr>
              <a:t>Eventos para a rede </a:t>
            </a:r>
            <a:r>
              <a:rPr lang="pt-PT" sz="1200" i="1" err="1">
                <a:solidFill>
                  <a:srgbClr val="0C172D"/>
                </a:solidFill>
                <a:sym typeface="Arial"/>
              </a:rPr>
              <a:t>alumni</a:t>
            </a:r>
            <a:r>
              <a:rPr lang="pt-PT" sz="1200">
                <a:solidFill>
                  <a:srgbClr val="0C172D"/>
                </a:solidFill>
                <a:sym typeface="Arial"/>
              </a:rPr>
              <a:t>, buscando inspirar alunos, integrar a rede e reconhecer o impacto da comunidade </a:t>
            </a:r>
            <a:r>
              <a:rPr lang="pt-PT" sz="1200" err="1">
                <a:solidFill>
                  <a:srgbClr val="0C172D"/>
                </a:solidFill>
                <a:sym typeface="Arial"/>
              </a:rPr>
              <a:t>alumni</a:t>
            </a:r>
            <a:endParaRPr lang="pt-PT" sz="1200">
              <a:solidFill>
                <a:srgbClr val="0C172D"/>
              </a:solidFill>
              <a:sym typeface="Arial"/>
            </a:endParaRPr>
          </a:p>
        </p:txBody>
      </p:sp>
      <p:sp>
        <p:nvSpPr>
          <p:cNvPr id="81" name="Google Shape;297;p10">
            <a:extLst>
              <a:ext uri="{FF2B5EF4-FFF2-40B4-BE49-F238E27FC236}">
                <a16:creationId xmlns:a16="http://schemas.microsoft.com/office/drawing/2014/main" id="{DFE3C5F1-4D08-F837-705D-380B6185F27F}"/>
              </a:ext>
            </a:extLst>
          </p:cNvPr>
          <p:cNvSpPr txBox="1"/>
          <p:nvPr/>
        </p:nvSpPr>
        <p:spPr>
          <a:xfrm>
            <a:off x="4607145" y="5719849"/>
            <a:ext cx="121077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BR" sz="1400" b="1" i="0" u="none" strike="noStrike" cap="none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Eventos</a:t>
            </a:r>
          </a:p>
        </p:txBody>
      </p:sp>
      <p:pic>
        <p:nvPicPr>
          <p:cNvPr id="23" name="Gráfico 22" descr="Usuários">
            <a:extLst>
              <a:ext uri="{FF2B5EF4-FFF2-40B4-BE49-F238E27FC236}">
                <a16:creationId xmlns:a16="http://schemas.microsoft.com/office/drawing/2014/main" id="{04E238B3-BC5D-68B0-620F-4AC36EFA224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01986" y="5605872"/>
            <a:ext cx="536652" cy="536652"/>
          </a:xfrm>
          <a:prstGeom prst="rect">
            <a:avLst/>
          </a:prstGeom>
        </p:spPr>
      </p:pic>
      <p:cxnSp>
        <p:nvCxnSpPr>
          <p:cNvPr id="60" name="Conector Reto 50">
            <a:extLst>
              <a:ext uri="{FF2B5EF4-FFF2-40B4-BE49-F238E27FC236}">
                <a16:creationId xmlns:a16="http://schemas.microsoft.com/office/drawing/2014/main" id="{EAD34B05-9FAC-44F7-9C57-0100D2C0BA47}"/>
              </a:ext>
            </a:extLst>
          </p:cNvPr>
          <p:cNvCxnSpPr>
            <a:cxnSpLocks/>
          </p:cNvCxnSpPr>
          <p:nvPr/>
        </p:nvCxnSpPr>
        <p:spPr>
          <a:xfrm>
            <a:off x="554736" y="4408110"/>
            <a:ext cx="11267795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50">
            <a:extLst>
              <a:ext uri="{FF2B5EF4-FFF2-40B4-BE49-F238E27FC236}">
                <a16:creationId xmlns:a16="http://schemas.microsoft.com/office/drawing/2014/main" id="{4127428F-EB00-4974-9263-F8AACB76D505}"/>
              </a:ext>
            </a:extLst>
          </p:cNvPr>
          <p:cNvCxnSpPr>
            <a:cxnSpLocks/>
          </p:cNvCxnSpPr>
          <p:nvPr/>
        </p:nvCxnSpPr>
        <p:spPr>
          <a:xfrm>
            <a:off x="554736" y="5381877"/>
            <a:ext cx="11267795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34">
            <a:extLst>
              <a:ext uri="{FF2B5EF4-FFF2-40B4-BE49-F238E27FC236}">
                <a16:creationId xmlns:a16="http://schemas.microsoft.com/office/drawing/2014/main" id="{08A0D680-310F-F7E1-504B-382E8C74C8EF}"/>
              </a:ext>
            </a:extLst>
          </p:cNvPr>
          <p:cNvSpPr txBox="1"/>
          <p:nvPr/>
        </p:nvSpPr>
        <p:spPr>
          <a:xfrm>
            <a:off x="10120276" y="5512607"/>
            <a:ext cx="1525131" cy="70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457200" indent="-330200">
              <a:spcBef>
                <a:spcPts val="1200"/>
              </a:spcBef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2pPr>
            <a:lvl3pPr marL="13716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3pPr>
            <a:lvl4pPr marL="18288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4pPr>
            <a:lvl5pPr marL="22860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5pPr>
            <a:lvl6pPr marL="27432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6pPr>
            <a:lvl7pPr marL="32004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7pPr>
            <a:lvl8pPr marL="36576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8pPr>
            <a:lvl9pPr marL="41148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172D"/>
                </a:solidFill>
              </a:rPr>
              <a:t>5 </a:t>
            </a:r>
            <a:r>
              <a:rPr lang="en-US" sz="2000" b="1" dirty="0" err="1">
                <a:solidFill>
                  <a:srgbClr val="0C172D"/>
                </a:solidFill>
              </a:rPr>
              <a:t>eventos</a:t>
            </a:r>
            <a:endParaRPr lang="en-US" sz="2000" b="1" dirty="0">
              <a:solidFill>
                <a:srgbClr val="0C172D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050" dirty="0" err="1">
                <a:solidFill>
                  <a:srgbClr val="0C172D"/>
                </a:solidFill>
              </a:rPr>
              <a:t>presenciais</a:t>
            </a:r>
            <a:r>
              <a:rPr lang="en-US" sz="1050" dirty="0">
                <a:solidFill>
                  <a:srgbClr val="0C172D"/>
                </a:solidFill>
              </a:rPr>
              <a:t> </a:t>
            </a:r>
            <a:r>
              <a:rPr lang="en-US" sz="1050" dirty="0" err="1">
                <a:solidFill>
                  <a:srgbClr val="0C172D"/>
                </a:solidFill>
              </a:rPr>
              <a:t>realizados</a:t>
            </a:r>
            <a:endParaRPr lang="en-US" sz="1050" dirty="0">
              <a:solidFill>
                <a:srgbClr val="0C172D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050" dirty="0">
                <a:solidFill>
                  <a:srgbClr val="0C172D"/>
                </a:solidFill>
              </a:rPr>
              <a:t>entre </a:t>
            </a:r>
            <a:r>
              <a:rPr lang="en-US" sz="1050" dirty="0" err="1">
                <a:solidFill>
                  <a:srgbClr val="0C172D"/>
                </a:solidFill>
              </a:rPr>
              <a:t>doadores</a:t>
            </a:r>
            <a:endParaRPr lang="en-US" sz="1100" b="1" dirty="0">
              <a:solidFill>
                <a:srgbClr val="0C172D"/>
              </a:solidFill>
            </a:endParaRPr>
          </a:p>
        </p:txBody>
      </p:sp>
      <p:sp>
        <p:nvSpPr>
          <p:cNvPr id="49" name="Google Shape;297;p10">
            <a:extLst>
              <a:ext uri="{FF2B5EF4-FFF2-40B4-BE49-F238E27FC236}">
                <a16:creationId xmlns:a16="http://schemas.microsoft.com/office/drawing/2014/main" id="{59BA39FC-CE6C-D7AE-9063-E677064AB55F}"/>
              </a:ext>
            </a:extLst>
          </p:cNvPr>
          <p:cNvSpPr txBox="1">
            <a:spLocks/>
          </p:cNvSpPr>
          <p:nvPr/>
        </p:nvSpPr>
        <p:spPr>
          <a:xfrm>
            <a:off x="5949052" y="1940361"/>
            <a:ext cx="406753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BR" sz="1200" dirty="0">
                <a:solidFill>
                  <a:srgbClr val="0C172D"/>
                </a:solidFill>
                <a:latin typeface="Arial"/>
                <a:cs typeface="Arial"/>
              </a:rPr>
              <a:t>Oferecimento de </a:t>
            </a:r>
            <a:r>
              <a:rPr lang="pt-BR" sz="1200" b="1" dirty="0">
                <a:solidFill>
                  <a:srgbClr val="0C172D"/>
                </a:solidFill>
                <a:latin typeface="Arial"/>
                <a:cs typeface="Arial"/>
              </a:rPr>
              <a:t>bolsas de intercâmbio</a:t>
            </a:r>
            <a:r>
              <a:rPr lang="pt-BR" sz="1200" dirty="0">
                <a:solidFill>
                  <a:srgbClr val="0C172D"/>
                </a:solidFill>
                <a:latin typeface="Arial"/>
                <a:cs typeface="Arial"/>
              </a:rPr>
              <a:t> para alunos de </a:t>
            </a:r>
            <a:r>
              <a:rPr lang="pt-BR" sz="1200" b="1" dirty="0">
                <a:solidFill>
                  <a:srgbClr val="0C172D"/>
                </a:solidFill>
                <a:latin typeface="Arial"/>
                <a:cs typeface="Arial"/>
              </a:rPr>
              <a:t>alto desempenho</a:t>
            </a:r>
            <a:r>
              <a:rPr lang="pt-BR" sz="1200" dirty="0">
                <a:solidFill>
                  <a:srgbClr val="0C172D"/>
                </a:solidFill>
                <a:latin typeface="Arial"/>
                <a:cs typeface="Arial"/>
              </a:rPr>
              <a:t>, com o principal objetivo de formar os líderes do futuro</a:t>
            </a:r>
            <a:endParaRPr lang="pt-PT" sz="1200" dirty="0">
              <a:solidFill>
                <a:srgbClr val="0C172D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" name="Google Shape;297;p10">
            <a:extLst>
              <a:ext uri="{FF2B5EF4-FFF2-40B4-BE49-F238E27FC236}">
                <a16:creationId xmlns:a16="http://schemas.microsoft.com/office/drawing/2014/main" id="{B56CD2E8-8297-EC91-D0C2-CC532C1F2BE6}"/>
              </a:ext>
            </a:extLst>
          </p:cNvPr>
          <p:cNvSpPr txBox="1"/>
          <p:nvPr/>
        </p:nvSpPr>
        <p:spPr>
          <a:xfrm>
            <a:off x="4607145" y="2001916"/>
            <a:ext cx="121077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400" b="1" i="0" u="none" strike="noStrike" cap="none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Bolsa Trampolim</a:t>
            </a:r>
            <a:endParaRPr sz="1400" b="1" i="0" u="none" strike="noStrike" cap="none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297;p10">
            <a:extLst>
              <a:ext uri="{FF2B5EF4-FFF2-40B4-BE49-F238E27FC236}">
                <a16:creationId xmlns:a16="http://schemas.microsoft.com/office/drawing/2014/main" id="{EF06EA71-45FB-B01D-A050-632165930EE0}"/>
              </a:ext>
            </a:extLst>
          </p:cNvPr>
          <p:cNvSpPr txBox="1">
            <a:spLocks/>
          </p:cNvSpPr>
          <p:nvPr/>
        </p:nvSpPr>
        <p:spPr>
          <a:xfrm>
            <a:off x="5949052" y="2769180"/>
            <a:ext cx="406753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200">
                <a:solidFill>
                  <a:srgbClr val="0C172D"/>
                </a:solidFill>
                <a:sym typeface="Arial"/>
              </a:rPr>
              <a:t>Apoios financeiros e não financeiros buscando </a:t>
            </a:r>
            <a:r>
              <a:rPr lang="pt-PT" sz="1200" b="1">
                <a:solidFill>
                  <a:srgbClr val="0C172D"/>
                </a:solidFill>
                <a:sym typeface="Arial"/>
              </a:rPr>
              <a:t>reduzir as desigualdades sócio-econômicas</a:t>
            </a:r>
            <a:r>
              <a:rPr lang="pt-PT" sz="1200">
                <a:solidFill>
                  <a:srgbClr val="0C172D"/>
                </a:solidFill>
                <a:sym typeface="Arial"/>
              </a:rPr>
              <a:t>, potencializando a </a:t>
            </a:r>
            <a:r>
              <a:rPr lang="pt-PT" sz="1200" b="1">
                <a:solidFill>
                  <a:srgbClr val="0C172D"/>
                </a:solidFill>
                <a:sym typeface="Arial"/>
              </a:rPr>
              <a:t>trajetória acadêmica </a:t>
            </a:r>
            <a:r>
              <a:rPr lang="pt-PT" sz="1200">
                <a:solidFill>
                  <a:srgbClr val="0C172D"/>
                </a:solidFill>
                <a:sym typeface="Arial"/>
              </a:rPr>
              <a:t>dos alunos de baixa renda</a:t>
            </a:r>
            <a:endParaRPr sz="1200" b="0" i="0" u="none" strike="noStrike" cap="none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297;p10">
            <a:extLst>
              <a:ext uri="{FF2B5EF4-FFF2-40B4-BE49-F238E27FC236}">
                <a16:creationId xmlns:a16="http://schemas.microsoft.com/office/drawing/2014/main" id="{15015A55-704D-4A58-EBA9-577197AEAEA1}"/>
              </a:ext>
            </a:extLst>
          </p:cNvPr>
          <p:cNvSpPr txBox="1"/>
          <p:nvPr/>
        </p:nvSpPr>
        <p:spPr>
          <a:xfrm>
            <a:off x="4607145" y="2836056"/>
            <a:ext cx="121077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400" b="1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Bolsa Social</a:t>
            </a:r>
            <a:endParaRPr sz="1400" b="1" i="0" u="none" strike="noStrike" cap="none" dirty="0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ráfico 77" descr="Livros">
            <a:extLst>
              <a:ext uri="{FF2B5EF4-FFF2-40B4-BE49-F238E27FC236}">
                <a16:creationId xmlns:a16="http://schemas.microsoft.com/office/drawing/2014/main" id="{2412667A-6933-1E88-04A8-1474DF6D1C09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29958" y="2848461"/>
            <a:ext cx="471890" cy="471890"/>
          </a:xfrm>
          <a:prstGeom prst="rect">
            <a:avLst/>
          </a:prstGeom>
        </p:spPr>
      </p:pic>
      <p:sp>
        <p:nvSpPr>
          <p:cNvPr id="79" name="TextBox 34">
            <a:extLst>
              <a:ext uri="{FF2B5EF4-FFF2-40B4-BE49-F238E27FC236}">
                <a16:creationId xmlns:a16="http://schemas.microsoft.com/office/drawing/2014/main" id="{48755CF3-86F0-C44B-51C8-4AC195AD84A3}"/>
              </a:ext>
            </a:extLst>
          </p:cNvPr>
          <p:cNvSpPr txBox="1"/>
          <p:nvPr/>
        </p:nvSpPr>
        <p:spPr>
          <a:xfrm>
            <a:off x="10312984" y="2734986"/>
            <a:ext cx="1139715" cy="70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457200" indent="-330200">
              <a:spcBef>
                <a:spcPts val="1200"/>
              </a:spcBef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2pPr>
            <a:lvl3pPr marL="13716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3pPr>
            <a:lvl4pPr marL="18288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4pPr>
            <a:lvl5pPr marL="22860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5pPr>
            <a:lvl6pPr marL="27432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6pPr>
            <a:lvl7pPr marL="32004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7pPr>
            <a:lvl8pPr marL="36576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8pPr>
            <a:lvl9pPr marL="41148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172D"/>
                </a:solidFill>
              </a:rPr>
              <a:t>+60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050" dirty="0" err="1">
                <a:solidFill>
                  <a:srgbClr val="0C172D"/>
                </a:solidFill>
              </a:rPr>
              <a:t>bolsistas</a:t>
            </a:r>
            <a:r>
              <a:rPr lang="en-US" sz="1050" dirty="0">
                <a:solidFill>
                  <a:srgbClr val="0C172D"/>
                </a:solidFill>
              </a:rPr>
              <a:t> </a:t>
            </a:r>
            <a:r>
              <a:rPr lang="en-US" sz="1050" dirty="0" err="1">
                <a:solidFill>
                  <a:srgbClr val="0C172D"/>
                </a:solidFill>
              </a:rPr>
              <a:t>em</a:t>
            </a:r>
            <a:endParaRPr lang="en-US" sz="1050" dirty="0">
              <a:solidFill>
                <a:srgbClr val="0C172D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050" dirty="0" err="1">
                <a:solidFill>
                  <a:srgbClr val="0C172D"/>
                </a:solidFill>
              </a:rPr>
              <a:t>três</a:t>
            </a:r>
            <a:r>
              <a:rPr lang="en-US" sz="1050" dirty="0">
                <a:solidFill>
                  <a:srgbClr val="0C172D"/>
                </a:solidFill>
              </a:rPr>
              <a:t> </a:t>
            </a:r>
            <a:r>
              <a:rPr lang="en-US" sz="1050" dirty="0" err="1">
                <a:solidFill>
                  <a:srgbClr val="0C172D"/>
                </a:solidFill>
              </a:rPr>
              <a:t>edições</a:t>
            </a:r>
            <a:endParaRPr lang="en-US" sz="1100" b="1" dirty="0">
              <a:solidFill>
                <a:srgbClr val="0C172D"/>
              </a:solidFill>
            </a:endParaRPr>
          </a:p>
        </p:txBody>
      </p:sp>
      <p:sp>
        <p:nvSpPr>
          <p:cNvPr id="83" name="Google Shape;297;p10">
            <a:extLst>
              <a:ext uri="{FF2B5EF4-FFF2-40B4-BE49-F238E27FC236}">
                <a16:creationId xmlns:a16="http://schemas.microsoft.com/office/drawing/2014/main" id="{DF292DCA-F4C9-C4CB-68C5-B20937C40BA1}"/>
              </a:ext>
            </a:extLst>
          </p:cNvPr>
          <p:cNvSpPr txBox="1">
            <a:spLocks/>
          </p:cNvSpPr>
          <p:nvPr/>
        </p:nvSpPr>
        <p:spPr>
          <a:xfrm>
            <a:off x="5949052" y="3596326"/>
            <a:ext cx="406753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200" b="0" i="0" u="none" strike="noStrike" cap="none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Incentivo a projetos de </a:t>
            </a:r>
            <a:r>
              <a:rPr lang="pt-PT" sz="1200" b="1" i="0" u="none" strike="noStrike" cap="none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empreendedorismo e inovação </a:t>
            </a:r>
            <a:r>
              <a:rPr lang="pt-PT" sz="1200" b="0" i="0" u="none" strike="noStrike" cap="none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da comunidade de alunos, professores e técnicos da UFRJ</a:t>
            </a:r>
            <a:endParaRPr sz="1200" b="0" i="0" u="none" strike="noStrike" cap="none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297;p10">
            <a:extLst>
              <a:ext uri="{FF2B5EF4-FFF2-40B4-BE49-F238E27FC236}">
                <a16:creationId xmlns:a16="http://schemas.microsoft.com/office/drawing/2014/main" id="{C19C5610-DF37-6CAB-9759-9F308A076CD9}"/>
              </a:ext>
            </a:extLst>
          </p:cNvPr>
          <p:cNvSpPr txBox="1"/>
          <p:nvPr/>
        </p:nvSpPr>
        <p:spPr>
          <a:xfrm>
            <a:off x="4607145" y="3683150"/>
            <a:ext cx="127292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400" b="1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Programa de</a:t>
            </a:r>
          </a:p>
          <a:p>
            <a: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</a:pPr>
            <a:r>
              <a:rPr lang="pt-PT" sz="1400" b="1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Inovação</a:t>
            </a:r>
            <a:endParaRPr sz="1400" b="1" i="0" u="none" strike="noStrike" cap="none" dirty="0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34">
            <a:extLst>
              <a:ext uri="{FF2B5EF4-FFF2-40B4-BE49-F238E27FC236}">
                <a16:creationId xmlns:a16="http://schemas.microsoft.com/office/drawing/2014/main" id="{8D9CECE5-7424-BE22-D338-5790A614D939}"/>
              </a:ext>
            </a:extLst>
          </p:cNvPr>
          <p:cNvSpPr txBox="1"/>
          <p:nvPr/>
        </p:nvSpPr>
        <p:spPr>
          <a:xfrm>
            <a:off x="10120276" y="3559609"/>
            <a:ext cx="1525131" cy="70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457200" indent="-330200">
              <a:spcBef>
                <a:spcPts val="1200"/>
              </a:spcBef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2pPr>
            <a:lvl3pPr marL="13716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3pPr>
            <a:lvl4pPr marL="18288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4pPr>
            <a:lvl5pPr marL="22860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5pPr>
            <a:lvl6pPr marL="27432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6pPr>
            <a:lvl7pPr marL="32004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7pPr>
            <a:lvl8pPr marL="36576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8pPr>
            <a:lvl9pPr marL="41148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172D"/>
                </a:solidFill>
              </a:rPr>
              <a:t>R$ 2M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050" dirty="0" err="1">
                <a:solidFill>
                  <a:srgbClr val="0C172D"/>
                </a:solidFill>
              </a:rPr>
              <a:t>destinados</a:t>
            </a:r>
            <a:r>
              <a:rPr lang="en-US" sz="1050" dirty="0">
                <a:solidFill>
                  <a:srgbClr val="0C172D"/>
                </a:solidFill>
              </a:rPr>
              <a:t> e +100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050" dirty="0" err="1">
                <a:solidFill>
                  <a:srgbClr val="0C172D"/>
                </a:solidFill>
              </a:rPr>
              <a:t>projetos</a:t>
            </a:r>
            <a:r>
              <a:rPr lang="en-US" sz="1050" dirty="0">
                <a:solidFill>
                  <a:srgbClr val="0C172D"/>
                </a:solidFill>
              </a:rPr>
              <a:t> </a:t>
            </a:r>
            <a:r>
              <a:rPr lang="en-US" sz="1050" dirty="0" err="1">
                <a:solidFill>
                  <a:srgbClr val="0C172D"/>
                </a:solidFill>
              </a:rPr>
              <a:t>apoiados</a:t>
            </a:r>
            <a:endParaRPr lang="en-US" sz="1100" b="1" dirty="0">
              <a:solidFill>
                <a:srgbClr val="0C172D"/>
              </a:solidFill>
            </a:endParaRPr>
          </a:p>
        </p:txBody>
      </p:sp>
      <p:pic>
        <p:nvPicPr>
          <p:cNvPr id="86" name="Gráfico 85" descr="Lâmpada">
            <a:extLst>
              <a:ext uri="{FF2B5EF4-FFF2-40B4-BE49-F238E27FC236}">
                <a16:creationId xmlns:a16="http://schemas.microsoft.com/office/drawing/2014/main" id="{84B94F52-0F73-A9FE-9239-68DCEAF92A9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01986" y="3655030"/>
            <a:ext cx="536652" cy="536652"/>
          </a:xfrm>
          <a:prstGeom prst="rect">
            <a:avLst/>
          </a:prstGeom>
        </p:spPr>
      </p:pic>
      <p:sp>
        <p:nvSpPr>
          <p:cNvPr id="21" name="TextBox 34">
            <a:extLst>
              <a:ext uri="{FF2B5EF4-FFF2-40B4-BE49-F238E27FC236}">
                <a16:creationId xmlns:a16="http://schemas.microsoft.com/office/drawing/2014/main" id="{902AA5ED-1C7E-B507-1CB6-1BC59E1FD813}"/>
              </a:ext>
            </a:extLst>
          </p:cNvPr>
          <p:cNvSpPr txBox="1"/>
          <p:nvPr/>
        </p:nvSpPr>
        <p:spPr>
          <a:xfrm>
            <a:off x="10312984" y="2006934"/>
            <a:ext cx="1139715" cy="54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457200" indent="-330200">
              <a:spcBef>
                <a:spcPts val="1200"/>
              </a:spcBef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2pPr>
            <a:lvl3pPr marL="13716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3pPr>
            <a:lvl4pPr marL="1828800" indent="-317500">
              <a:spcBef>
                <a:spcPts val="600"/>
              </a:spcBef>
              <a:buClr>
                <a:schemeClr val="dk1"/>
              </a:buClr>
              <a:buSzPts val="1400"/>
              <a:buChar char="–"/>
              <a:defRPr>
                <a:solidFill>
                  <a:schemeClr val="dk1"/>
                </a:solidFill>
              </a:defRPr>
            </a:lvl4pPr>
            <a:lvl5pPr marL="2286000" indent="-317500">
              <a:spcBef>
                <a:spcPts val="600"/>
              </a:spcBef>
              <a:buClr>
                <a:schemeClr val="dk1"/>
              </a:buClr>
              <a:buSzPts val="1400"/>
              <a:buChar char="&gt;"/>
              <a:defRPr>
                <a:solidFill>
                  <a:schemeClr val="dk1"/>
                </a:solidFill>
              </a:defRPr>
            </a:lvl5pPr>
            <a:lvl6pPr marL="27432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6pPr>
            <a:lvl7pPr marL="32004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7pPr>
            <a:lvl8pPr marL="36576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8pPr>
            <a:lvl9pPr marL="41148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172D"/>
                </a:solidFill>
              </a:rPr>
              <a:t>18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050" dirty="0" err="1">
                <a:solidFill>
                  <a:srgbClr val="0C172D"/>
                </a:solidFill>
              </a:rPr>
              <a:t>alunos</a:t>
            </a:r>
            <a:r>
              <a:rPr lang="en-US" sz="1050" dirty="0">
                <a:solidFill>
                  <a:srgbClr val="0C172D"/>
                </a:solidFill>
              </a:rPr>
              <a:t> </a:t>
            </a:r>
            <a:r>
              <a:rPr lang="en-US" sz="1050" dirty="0" err="1">
                <a:solidFill>
                  <a:srgbClr val="0C172D"/>
                </a:solidFill>
              </a:rPr>
              <a:t>apoiados</a:t>
            </a:r>
            <a:endParaRPr lang="en-US" sz="1050" dirty="0">
              <a:solidFill>
                <a:srgbClr val="0C172D"/>
              </a:solidFill>
            </a:endParaRPr>
          </a:p>
        </p:txBody>
      </p:sp>
      <p:pic>
        <p:nvPicPr>
          <p:cNvPr id="20" name="CustomIcon">
            <a:extLst>
              <a:ext uri="{FF2B5EF4-FFF2-40B4-BE49-F238E27FC236}">
                <a16:creationId xmlns:a16="http://schemas.microsoft.com/office/drawing/2014/main" id="{A93371E2-C5F3-E7C6-0ACB-4C03233BD740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037025" y="2024606"/>
            <a:ext cx="471890" cy="471890"/>
          </a:xfrm>
          <a:prstGeom prst="rect">
            <a:avLst/>
          </a:prstGeom>
        </p:spPr>
      </p:pic>
      <p:cxnSp>
        <p:nvCxnSpPr>
          <p:cNvPr id="38" name="Conector Reto 50">
            <a:extLst>
              <a:ext uri="{FF2B5EF4-FFF2-40B4-BE49-F238E27FC236}">
                <a16:creationId xmlns:a16="http://schemas.microsoft.com/office/drawing/2014/main" id="{170EB0E4-220E-BB83-56C3-E80ACCA050D2}"/>
              </a:ext>
            </a:extLst>
          </p:cNvPr>
          <p:cNvCxnSpPr>
            <a:cxnSpLocks/>
          </p:cNvCxnSpPr>
          <p:nvPr/>
        </p:nvCxnSpPr>
        <p:spPr>
          <a:xfrm>
            <a:off x="3698153" y="3490501"/>
            <a:ext cx="8124378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50">
            <a:extLst>
              <a:ext uri="{FF2B5EF4-FFF2-40B4-BE49-F238E27FC236}">
                <a16:creationId xmlns:a16="http://schemas.microsoft.com/office/drawing/2014/main" id="{B735E2F9-167D-7DF4-D43A-D7404132CA60}"/>
              </a:ext>
            </a:extLst>
          </p:cNvPr>
          <p:cNvCxnSpPr>
            <a:cxnSpLocks/>
          </p:cNvCxnSpPr>
          <p:nvPr/>
        </p:nvCxnSpPr>
        <p:spPr>
          <a:xfrm>
            <a:off x="3698154" y="2697765"/>
            <a:ext cx="8124378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49C284C-EF3A-6F89-6A72-71CB724E3A70}"/>
              </a:ext>
            </a:extLst>
          </p:cNvPr>
          <p:cNvSpPr txBox="1"/>
          <p:nvPr/>
        </p:nvSpPr>
        <p:spPr>
          <a:xfrm>
            <a:off x="681783" y="1432692"/>
            <a:ext cx="2391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Pilares de atuação</a:t>
            </a:r>
            <a:endParaRPr lang="pt-BR" sz="1200" noProof="0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1832CB-5B86-18AC-CC3D-743E09323026}"/>
              </a:ext>
            </a:extLst>
          </p:cNvPr>
          <p:cNvSpPr txBox="1"/>
          <p:nvPr/>
        </p:nvSpPr>
        <p:spPr>
          <a:xfrm>
            <a:off x="3995761" y="1432692"/>
            <a:ext cx="2391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Projetos</a:t>
            </a:r>
            <a:endParaRPr lang="pt-BR" sz="1200" noProof="0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C3E9AB-8872-77A1-7C83-6F1F506456C6}"/>
              </a:ext>
            </a:extLst>
          </p:cNvPr>
          <p:cNvSpPr txBox="1"/>
          <p:nvPr/>
        </p:nvSpPr>
        <p:spPr>
          <a:xfrm>
            <a:off x="5962257" y="1432692"/>
            <a:ext cx="143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Descrição</a:t>
            </a:r>
            <a:endParaRPr lang="pt-BR" sz="1200" noProof="0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1488A1-EF9F-36F3-2AF7-F2F23646821A}"/>
              </a:ext>
            </a:extLst>
          </p:cNvPr>
          <p:cNvSpPr txBox="1"/>
          <p:nvPr/>
        </p:nvSpPr>
        <p:spPr>
          <a:xfrm>
            <a:off x="10165274" y="1432692"/>
            <a:ext cx="143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noProof="0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Resultados</a:t>
            </a:r>
            <a:endParaRPr lang="pt-BR" sz="1200" noProof="0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359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0" grpId="0"/>
      <p:bldP spid="56" grpId="0" animBg="1"/>
      <p:bldP spid="37" grpId="0" animBg="1"/>
      <p:bldP spid="41" grpId="0"/>
      <p:bldP spid="57" grpId="0" animBg="1"/>
      <p:bldP spid="66" grpId="0"/>
      <p:bldP spid="67" grpId="0"/>
      <p:bldP spid="68" grpId="0"/>
      <p:bldP spid="76" grpId="0"/>
      <p:bldP spid="81" grpId="0"/>
      <p:bldP spid="26" grpId="0"/>
      <p:bldP spid="75" grpId="0"/>
      <p:bldP spid="77" grpId="0"/>
      <p:bldP spid="79" grpId="0"/>
      <p:bldP spid="83" grpId="0"/>
      <p:bldP spid="84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btfpColumnIndicatorGroup2">
            <a:extLst>
              <a:ext uri="{FF2B5EF4-FFF2-40B4-BE49-F238E27FC236}">
                <a16:creationId xmlns:a16="http://schemas.microsoft.com/office/drawing/2014/main" id="{3E3E4DDB-9DEE-07E3-5950-CEA78766DE8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77" name="btfpColumnGapBlocker291894">
              <a:extLst>
                <a:ext uri="{FF2B5EF4-FFF2-40B4-BE49-F238E27FC236}">
                  <a16:creationId xmlns:a16="http://schemas.microsoft.com/office/drawing/2014/main" id="{ECEDB659-BE82-FAAA-2D64-92BC53B90439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btfpColumnGapBlocker826854">
              <a:extLst>
                <a:ext uri="{FF2B5EF4-FFF2-40B4-BE49-F238E27FC236}">
                  <a16:creationId xmlns:a16="http://schemas.microsoft.com/office/drawing/2014/main" id="{4C4C766E-733D-2AB0-538E-74ADC8BCE92D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3" name="btfpColumnIndicator671640">
              <a:extLst>
                <a:ext uri="{FF2B5EF4-FFF2-40B4-BE49-F238E27FC236}">
                  <a16:creationId xmlns:a16="http://schemas.microsoft.com/office/drawing/2014/main" id="{C7BE537A-E0C4-07AD-2D22-05E7FE208C76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btfpColumnIndicator568912">
              <a:extLst>
                <a:ext uri="{FF2B5EF4-FFF2-40B4-BE49-F238E27FC236}">
                  <a16:creationId xmlns:a16="http://schemas.microsoft.com/office/drawing/2014/main" id="{FB36D929-0DDC-3816-5199-BED7D4385489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btfpColumnIndicatorGroup1">
            <a:extLst>
              <a:ext uri="{FF2B5EF4-FFF2-40B4-BE49-F238E27FC236}">
                <a16:creationId xmlns:a16="http://schemas.microsoft.com/office/drawing/2014/main" id="{197AC866-09ED-E7FE-DD26-7006F82CDB2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76" name="btfpColumnGapBlocker748374">
              <a:extLst>
                <a:ext uri="{FF2B5EF4-FFF2-40B4-BE49-F238E27FC236}">
                  <a16:creationId xmlns:a16="http://schemas.microsoft.com/office/drawing/2014/main" id="{65CC8478-C5C9-D331-5B37-2A5D7E6068A9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btfpColumnGapBlocker932832">
              <a:extLst>
                <a:ext uri="{FF2B5EF4-FFF2-40B4-BE49-F238E27FC236}">
                  <a16:creationId xmlns:a16="http://schemas.microsoft.com/office/drawing/2014/main" id="{75476E40-A637-C97D-1C3A-DA3EBEB4666E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2" name="btfpColumnIndicator797471">
              <a:extLst>
                <a:ext uri="{FF2B5EF4-FFF2-40B4-BE49-F238E27FC236}">
                  <a16:creationId xmlns:a16="http://schemas.microsoft.com/office/drawing/2014/main" id="{CB8EB756-3A8F-BBF8-9AFB-0177D4378929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btfpColumnIndicator266477">
              <a:extLst>
                <a:ext uri="{FF2B5EF4-FFF2-40B4-BE49-F238E27FC236}">
                  <a16:creationId xmlns:a16="http://schemas.microsoft.com/office/drawing/2014/main" id="{B0C79F6D-2151-B5E5-922C-C897D4022067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1900"/>
              <a:t>Existem 3 principais formas de engajamento de ex-alunos com o Instituto Reditus, com benefícios para nossos doadores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57784" y="1097280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172D"/>
                </a:solidFill>
              </a:rPr>
              <a:t>Como o ex-aluno pode contribuir com o Reditus</a:t>
            </a:r>
          </a:p>
        </p:txBody>
      </p:sp>
      <p:cxnSp>
        <p:nvCxnSpPr>
          <p:cNvPr id="4" name="Linha do subtítulo"/>
          <p:cNvCxnSpPr/>
          <p:nvPr/>
        </p:nvCxnSpPr>
        <p:spPr>
          <a:xfrm>
            <a:off x="557784" y="1481328"/>
            <a:ext cx="5212080" cy="0"/>
          </a:xfrm>
          <a:prstGeom prst="line">
            <a:avLst/>
          </a:prstGeom>
          <a:ln w="12700">
            <a:solidFill>
              <a:srgbClr val="0C1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Linha 1: Engajar sua rede"/>
          <p:cNvGrpSpPr/>
          <p:nvPr/>
        </p:nvGrpSpPr>
        <p:grpSpPr>
          <a:xfrm>
            <a:off x="557784" y="1709928"/>
            <a:ext cx="5202936" cy="1353312"/>
            <a:chOff x="557784" y="1709928"/>
            <a:chExt cx="5202936" cy="1353312"/>
          </a:xfrm>
        </p:grpSpPr>
        <p:sp>
          <p:nvSpPr>
            <p:cNvPr id="6" name="Número 1"/>
            <p:cNvSpPr/>
            <p:nvPr/>
          </p:nvSpPr>
          <p:spPr>
            <a:xfrm>
              <a:off x="557784" y="1737360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C172D"/>
              </a:solidFill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0C172D"/>
                  </a:solidFill>
                </a:rPr>
                <a:t>1</a:t>
              </a:r>
            </a:p>
          </p:txBody>
        </p:sp>
        <p:sp>
          <p:nvSpPr>
            <p:cNvPr id="7" name="Rótulo"/>
            <p:cNvSpPr txBox="1"/>
            <p:nvPr/>
          </p:nvSpPr>
          <p:spPr>
            <a:xfrm>
              <a:off x="987552" y="1737360"/>
              <a:ext cx="155448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1" i="0">
                  <a:solidFill>
                    <a:srgbClr val="0C172D"/>
                  </a:solidFill>
                </a:rPr>
                <a:t>Engajar sua rede</a:t>
              </a:r>
            </a:p>
          </p:txBody>
        </p:sp>
        <p:pic>
          <p:nvPicPr>
            <p:cNvPr id="8" name="Ícone" descr="ic_network_navy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87552" y="2377440"/>
              <a:ext cx="566928" cy="566928"/>
            </a:xfrm>
            <a:prstGeom prst="rect">
              <a:avLst/>
            </a:prstGeom>
          </p:spPr>
        </p:pic>
        <p:sp>
          <p:nvSpPr>
            <p:cNvPr id="9" name="Item 1"/>
            <p:cNvSpPr txBox="1"/>
            <p:nvPr/>
          </p:nvSpPr>
          <p:spPr>
            <a:xfrm>
              <a:off x="2743200" y="1709928"/>
              <a:ext cx="3017520" cy="6629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Divulgar nas </a:t>
              </a:r>
              <a:r>
                <a:rPr sz="1200" b="1" i="0">
                  <a:solidFill>
                    <a:srgbClr val="0C172D"/>
                  </a:solidFill>
                </a:rPr>
                <a:t>redes sociais</a:t>
              </a:r>
            </a:p>
          </p:txBody>
        </p:sp>
        <p:sp>
          <p:nvSpPr>
            <p:cNvPr id="10" name="Item 2"/>
            <p:cNvSpPr txBox="1"/>
            <p:nvPr/>
          </p:nvSpPr>
          <p:spPr>
            <a:xfrm>
              <a:off x="2743200" y="2372868"/>
              <a:ext cx="3017520" cy="6629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Promover a causa para </a:t>
              </a:r>
              <a:r>
                <a:rPr sz="1200" b="1" i="0">
                  <a:solidFill>
                    <a:srgbClr val="0C172D"/>
                  </a:solidFill>
                </a:rPr>
                <a:t>grupos e contatos</a:t>
              </a:r>
            </a:p>
          </p:txBody>
        </p:sp>
        <p:cxnSp>
          <p:nvCxnSpPr>
            <p:cNvPr id="11" name="Separador pontilhado"/>
            <p:cNvCxnSpPr/>
            <p:nvPr/>
          </p:nvCxnSpPr>
          <p:spPr>
            <a:xfrm>
              <a:off x="2743200" y="2372868"/>
              <a:ext cx="3017520" cy="0"/>
            </a:xfrm>
            <a:prstGeom prst="line">
              <a:avLst/>
            </a:prstGeom>
            <a:ln w="9525">
              <a:solidFill>
                <a:srgbClr val="A6A6A6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eparador"/>
            <p:cNvCxnSpPr/>
            <p:nvPr/>
          </p:nvCxnSpPr>
          <p:spPr>
            <a:xfrm>
              <a:off x="557784" y="3063240"/>
              <a:ext cx="5202936" cy="0"/>
            </a:xfrm>
            <a:prstGeom prst="line">
              <a:avLst/>
            </a:prstGeom>
            <a:ln w="12700">
              <a:solidFill>
                <a:srgbClr val="0C172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Linha 2: Participar dos programas"/>
          <p:cNvGrpSpPr/>
          <p:nvPr/>
        </p:nvGrpSpPr>
        <p:grpSpPr>
          <a:xfrm>
            <a:off x="557784" y="3218688"/>
            <a:ext cx="5202936" cy="1353312"/>
            <a:chOff x="557784" y="3218688"/>
            <a:chExt cx="5202936" cy="1353312"/>
          </a:xfrm>
        </p:grpSpPr>
        <p:sp>
          <p:nvSpPr>
            <p:cNvPr id="14" name="Número 2"/>
            <p:cNvSpPr/>
            <p:nvPr/>
          </p:nvSpPr>
          <p:spPr>
            <a:xfrm>
              <a:off x="557784" y="3246120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C172D"/>
              </a:solidFill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0C172D"/>
                  </a:solidFill>
                </a:rPr>
                <a:t>2</a:t>
              </a:r>
            </a:p>
          </p:txBody>
        </p:sp>
        <p:sp>
          <p:nvSpPr>
            <p:cNvPr id="15" name="Rótulo"/>
            <p:cNvSpPr txBox="1"/>
            <p:nvPr/>
          </p:nvSpPr>
          <p:spPr>
            <a:xfrm>
              <a:off x="987552" y="3246120"/>
              <a:ext cx="155448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1" i="0">
                  <a:solidFill>
                    <a:srgbClr val="0C172D"/>
                  </a:solidFill>
                </a:rPr>
                <a:t>Participar dos programas</a:t>
              </a:r>
            </a:p>
          </p:txBody>
        </p:sp>
        <p:pic>
          <p:nvPicPr>
            <p:cNvPr id="16" name="Ícone" descr="ic_bubbles_navy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987552" y="3886200"/>
              <a:ext cx="566928" cy="566928"/>
            </a:xfrm>
            <a:prstGeom prst="rect">
              <a:avLst/>
            </a:prstGeom>
          </p:spPr>
        </p:pic>
        <p:sp>
          <p:nvSpPr>
            <p:cNvPr id="17" name="Item 1"/>
            <p:cNvSpPr txBox="1"/>
            <p:nvPr/>
          </p:nvSpPr>
          <p:spPr>
            <a:xfrm>
              <a:off x="2743200" y="3218688"/>
              <a:ext cx="3017520" cy="6629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Ser </a:t>
              </a:r>
              <a:r>
                <a:rPr sz="1200" b="1" i="0">
                  <a:solidFill>
                    <a:srgbClr val="0C172D"/>
                  </a:solidFill>
                </a:rPr>
                <a:t>mentor ou mentorado</a:t>
              </a:r>
              <a:r>
                <a:rPr sz="1200" b="0" i="0">
                  <a:solidFill>
                    <a:srgbClr val="0C172D"/>
                  </a:solidFill>
                </a:rPr>
                <a:t> no programa de mentoria</a:t>
              </a:r>
            </a:p>
          </p:txBody>
        </p:sp>
        <p:sp>
          <p:nvSpPr>
            <p:cNvPr id="18" name="Item 2"/>
            <p:cNvSpPr txBox="1"/>
            <p:nvPr/>
          </p:nvSpPr>
          <p:spPr>
            <a:xfrm>
              <a:off x="2743200" y="3881628"/>
              <a:ext cx="3017520" cy="6629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Participar das </a:t>
              </a:r>
              <a:r>
                <a:rPr sz="1200" b="1" i="0">
                  <a:solidFill>
                    <a:srgbClr val="0C172D"/>
                  </a:solidFill>
                </a:rPr>
                <a:t>bancas de seleção</a:t>
              </a:r>
            </a:p>
          </p:txBody>
        </p:sp>
        <p:cxnSp>
          <p:nvCxnSpPr>
            <p:cNvPr id="19" name="Separador pontilhado"/>
            <p:cNvCxnSpPr/>
            <p:nvPr/>
          </p:nvCxnSpPr>
          <p:spPr>
            <a:xfrm>
              <a:off x="2743200" y="3881628"/>
              <a:ext cx="3017520" cy="0"/>
            </a:xfrm>
            <a:prstGeom prst="line">
              <a:avLst/>
            </a:prstGeom>
            <a:ln w="9525">
              <a:solidFill>
                <a:srgbClr val="A6A6A6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eparador"/>
            <p:cNvCxnSpPr/>
            <p:nvPr/>
          </p:nvCxnSpPr>
          <p:spPr>
            <a:xfrm>
              <a:off x="557784" y="4572000"/>
              <a:ext cx="5202936" cy="0"/>
            </a:xfrm>
            <a:prstGeom prst="line">
              <a:avLst/>
            </a:prstGeom>
            <a:ln w="12700">
              <a:solidFill>
                <a:srgbClr val="0C172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Linha 3: Investir no endowment"/>
          <p:cNvGrpSpPr/>
          <p:nvPr/>
        </p:nvGrpSpPr>
        <p:grpSpPr>
          <a:xfrm>
            <a:off x="557784" y="4681728"/>
            <a:ext cx="5202936" cy="1417320"/>
            <a:chOff x="557784" y="4681728"/>
            <a:chExt cx="5202936" cy="1417320"/>
          </a:xfrm>
        </p:grpSpPr>
        <p:sp>
          <p:nvSpPr>
            <p:cNvPr id="22" name="Fundo destacado"/>
            <p:cNvSpPr/>
            <p:nvPr/>
          </p:nvSpPr>
          <p:spPr>
            <a:xfrm>
              <a:off x="557784" y="4681728"/>
              <a:ext cx="5202936" cy="1417320"/>
            </a:xfrm>
            <a:prstGeom prst="roundRect">
              <a:avLst>
                <a:gd name="adj" fmla="val 6000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" name="Número 3"/>
            <p:cNvSpPr/>
            <p:nvPr/>
          </p:nvSpPr>
          <p:spPr>
            <a:xfrm>
              <a:off x="621792" y="47731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C172D"/>
              </a:solidFill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0C172D"/>
                  </a:solidFill>
                </a:rPr>
                <a:t>3</a:t>
              </a:r>
            </a:p>
          </p:txBody>
        </p:sp>
        <p:sp>
          <p:nvSpPr>
            <p:cNvPr id="24" name="Rótulo"/>
            <p:cNvSpPr txBox="1"/>
            <p:nvPr/>
          </p:nvSpPr>
          <p:spPr>
            <a:xfrm>
              <a:off x="1024128" y="4773168"/>
              <a:ext cx="155448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00" b="1" i="0">
                  <a:solidFill>
                    <a:srgbClr val="0C172D"/>
                  </a:solidFill>
                </a:rPr>
                <a:t>Investir no endowment</a:t>
              </a:r>
            </a:p>
          </p:txBody>
        </p:sp>
        <p:grpSp>
          <p:nvGrpSpPr>
            <p:cNvPr id="25" name="Ícone: investir"/>
            <p:cNvGrpSpPr/>
            <p:nvPr/>
          </p:nvGrpSpPr>
          <p:grpSpPr>
            <a:xfrm>
              <a:off x="1092159" y="5374111"/>
              <a:ext cx="430865" cy="527243"/>
              <a:chOff x="1092159" y="5374111"/>
              <a:chExt cx="430865" cy="527243"/>
            </a:xfrm>
          </p:grpSpPr>
          <p:sp>
            <p:nvSpPr>
              <p:cNvPr id="26" name="Moeda 1"/>
              <p:cNvSpPr/>
              <p:nvPr/>
            </p:nvSpPr>
            <p:spPr>
              <a:xfrm>
                <a:off x="1092159" y="5691591"/>
                <a:ext cx="430865" cy="6236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C172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7" name="Moeda 2"/>
              <p:cNvSpPr/>
              <p:nvPr/>
            </p:nvSpPr>
            <p:spPr>
              <a:xfrm>
                <a:off x="1092159" y="5765292"/>
                <a:ext cx="430865" cy="6236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C172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8" name="Moeda 3"/>
              <p:cNvSpPr/>
              <p:nvPr/>
            </p:nvSpPr>
            <p:spPr>
              <a:xfrm>
                <a:off x="1092159" y="5838992"/>
                <a:ext cx="430865" cy="6236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C172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cxnSp>
            <p:nvCxnSpPr>
              <p:cNvPr id="29" name="Haste"/>
              <p:cNvCxnSpPr/>
              <p:nvPr/>
            </p:nvCxnSpPr>
            <p:spPr>
              <a:xfrm flipV="1">
                <a:off x="1307592" y="5510174"/>
                <a:ext cx="0" cy="181417"/>
              </a:xfrm>
              <a:prstGeom prst="line">
                <a:avLst/>
              </a:prstGeom>
              <a:ln w="19050">
                <a:solidFill>
                  <a:srgbClr val="0C172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olha 1"/>
              <p:cNvSpPr/>
              <p:nvPr/>
            </p:nvSpPr>
            <p:spPr>
              <a:xfrm rot="19500000">
                <a:off x="1148852" y="5408127"/>
                <a:ext cx="170078" cy="85039"/>
              </a:xfrm>
              <a:prstGeom prst="ellipse">
                <a:avLst/>
              </a:prstGeom>
              <a:solidFill>
                <a:srgbClr val="0C172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Folha 2"/>
              <p:cNvSpPr/>
              <p:nvPr/>
            </p:nvSpPr>
            <p:spPr>
              <a:xfrm rot="2100000">
                <a:off x="1307592" y="5374111"/>
                <a:ext cx="170078" cy="85039"/>
              </a:xfrm>
              <a:prstGeom prst="ellipse">
                <a:avLst/>
              </a:prstGeom>
              <a:solidFill>
                <a:srgbClr val="0C172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2" name="Projetos patrocinados"/>
            <p:cNvSpPr txBox="1"/>
            <p:nvPr/>
          </p:nvSpPr>
          <p:spPr>
            <a:xfrm>
              <a:off x="2743200" y="4727448"/>
              <a:ext cx="2926080" cy="868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spcBef>
                  <a:spcPts val="0"/>
                </a:spcBef>
                <a:spcAft>
                  <a:spcPts val="100"/>
                </a:spcAft>
              </a:pPr>
              <a:r>
                <a:rPr sz="1200" b="1" i="0">
                  <a:solidFill>
                    <a:srgbClr val="0C172D"/>
                  </a:solidFill>
                </a:rPr>
                <a:t>Patrocinar nossos projetos:</a:t>
              </a:r>
            </a:p>
            <a:p>
              <a:pPr marL="228600" indent="-171450">
                <a:spcBef>
                  <a:spcPts val="0"/>
                </a:spcBef>
                <a:spcAft>
                  <a:spcPts val="100"/>
                </a:spcAft>
                <a:buClr>
                  <a:srgbClr val="0C172D"/>
                </a:buClr>
                <a:buFont typeface="Arial"/>
                <a:buChar char="•"/>
              </a:pPr>
              <a:r>
                <a:rPr sz="1200" b="1" i="0">
                  <a:solidFill>
                    <a:srgbClr val="0C172D"/>
                  </a:solidFill>
                </a:rPr>
                <a:t>Bolsa Reditus</a:t>
              </a:r>
            </a:p>
            <a:p>
              <a:pPr marL="228600" indent="-171450">
                <a:spcBef>
                  <a:spcPts val="0"/>
                </a:spcBef>
                <a:spcAft>
                  <a:spcPts val="100"/>
                </a:spcAft>
                <a:buClr>
                  <a:srgbClr val="0C172D"/>
                </a:buClr>
                <a:buFont typeface="Arial"/>
                <a:buChar char="•"/>
              </a:pPr>
              <a:r>
                <a:rPr sz="1200" b="1" i="0">
                  <a:solidFill>
                    <a:srgbClr val="0C172D"/>
                  </a:solidFill>
                </a:rPr>
                <a:t>Projeto Trampolim</a:t>
              </a:r>
            </a:p>
            <a:p>
              <a:pPr marL="228600" indent="-171450">
                <a:spcBef>
                  <a:spcPts val="0"/>
                </a:spcBef>
                <a:spcAft>
                  <a:spcPts val="100"/>
                </a:spcAft>
                <a:buClr>
                  <a:srgbClr val="0C172D"/>
                </a:buClr>
                <a:buFont typeface="Arial"/>
                <a:buChar char="•"/>
              </a:pPr>
              <a:r>
                <a:rPr sz="1200" b="1" i="0">
                  <a:solidFill>
                    <a:srgbClr val="0C172D"/>
                  </a:solidFill>
                </a:rPr>
                <a:t>Edital de inovação</a:t>
              </a:r>
            </a:p>
          </p:txBody>
        </p:sp>
        <p:cxnSp>
          <p:nvCxnSpPr>
            <p:cNvPr id="33" name="Separador pontilhado"/>
            <p:cNvCxnSpPr/>
            <p:nvPr/>
          </p:nvCxnSpPr>
          <p:spPr>
            <a:xfrm>
              <a:off x="2743200" y="5632704"/>
              <a:ext cx="2880360" cy="0"/>
            </a:xfrm>
            <a:prstGeom prst="line">
              <a:avLst/>
            </a:prstGeom>
            <a:ln w="9525">
              <a:solidFill>
                <a:srgbClr val="A6A6A6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Item investir"/>
            <p:cNvSpPr txBox="1"/>
            <p:nvPr/>
          </p:nvSpPr>
          <p:spPr>
            <a:xfrm>
              <a:off x="2743200" y="5660136"/>
              <a:ext cx="2926080" cy="40233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C172D"/>
                  </a:solidFill>
                </a:rPr>
                <a:t>Investir no Reditus de </a:t>
              </a:r>
              <a:r>
                <a:rPr sz="1200" b="1" i="0">
                  <a:solidFill>
                    <a:srgbClr val="0C172D"/>
                  </a:solidFill>
                </a:rPr>
                <a:t>maneira completa</a:t>
              </a:r>
            </a:p>
          </p:txBody>
        </p:sp>
      </p:grpSp>
      <p:grpSp>
        <p:nvGrpSpPr>
          <p:cNvPr id="35" name="Painel: benefícios aos doadores"/>
          <p:cNvGrpSpPr/>
          <p:nvPr/>
        </p:nvGrpSpPr>
        <p:grpSpPr>
          <a:xfrm>
            <a:off x="6355080" y="1664208"/>
            <a:ext cx="5285232" cy="4434840"/>
            <a:chOff x="6355080" y="1664208"/>
            <a:chExt cx="5285232" cy="4434840"/>
          </a:xfrm>
        </p:grpSpPr>
        <p:sp>
          <p:nvSpPr>
            <p:cNvPr id="36" name="Fundo do painel"/>
            <p:cNvSpPr/>
            <p:nvPr/>
          </p:nvSpPr>
          <p:spPr>
            <a:xfrm>
              <a:off x="6355080" y="1664208"/>
              <a:ext cx="5285232" cy="4434840"/>
            </a:xfrm>
            <a:prstGeom prst="roundRect">
              <a:avLst>
                <a:gd name="adj" fmla="val 5000"/>
              </a:avLst>
            </a:prstGeom>
            <a:solidFill>
              <a:srgbClr val="F2F2F2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7" name="Título do painel"/>
            <p:cNvSpPr txBox="1"/>
            <p:nvPr/>
          </p:nvSpPr>
          <p:spPr>
            <a:xfrm>
              <a:off x="6675120" y="1828800"/>
              <a:ext cx="4663440" cy="3200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0C172D"/>
                  </a:solidFill>
                </a:rPr>
                <a:t>Como o Reditus presta conta e agrega valor aos doadores</a:t>
              </a:r>
            </a:p>
          </p:txBody>
        </p:sp>
        <p:grpSp>
          <p:nvGrpSpPr>
            <p:cNvPr id="38" name="Benefício: Comunicação e transparência personalizada"/>
            <p:cNvGrpSpPr/>
            <p:nvPr/>
          </p:nvGrpSpPr>
          <p:grpSpPr>
            <a:xfrm>
              <a:off x="6675120" y="2514600"/>
              <a:ext cx="4709159" cy="1033272"/>
              <a:chOff x="6675120" y="2514600"/>
              <a:chExt cx="4709159" cy="1033272"/>
            </a:xfrm>
          </p:grpSpPr>
          <p:grpSp>
            <p:nvGrpSpPr>
              <p:cNvPr id="39" name="Ícone: comunicação"/>
              <p:cNvGrpSpPr/>
              <p:nvPr/>
            </p:nvGrpSpPr>
            <p:grpSpPr>
              <a:xfrm>
                <a:off x="6675120" y="2571658"/>
                <a:ext cx="566928" cy="510235"/>
                <a:chOff x="6675120" y="2571658"/>
                <a:chExt cx="566928" cy="510235"/>
              </a:xfrm>
            </p:grpSpPr>
            <p:sp>
              <p:nvSpPr>
                <p:cNvPr id="40" name="Tela"/>
                <p:cNvSpPr/>
                <p:nvPr/>
              </p:nvSpPr>
              <p:spPr>
                <a:xfrm>
                  <a:off x="6675120" y="2571658"/>
                  <a:ext cx="566928" cy="408188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FFFFF"/>
                </a:solidFill>
                <a:ln w="19050">
                  <a:solidFill>
                    <a:srgbClr val="0C172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41" name="Barra 1"/>
                <p:cNvSpPr/>
                <p:nvPr/>
              </p:nvSpPr>
              <p:spPr>
                <a:xfrm>
                  <a:off x="6777167" y="2787091"/>
                  <a:ext cx="51023" cy="124724"/>
                </a:xfrm>
                <a:prstGeom prst="rect">
                  <a:avLst/>
                </a:prstGeom>
                <a:solidFill>
                  <a:srgbClr val="0C172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42" name="Barra 2"/>
                <p:cNvSpPr/>
                <p:nvPr/>
              </p:nvSpPr>
              <p:spPr>
                <a:xfrm>
                  <a:off x="6867875" y="2719059"/>
                  <a:ext cx="51023" cy="192755"/>
                </a:xfrm>
                <a:prstGeom prst="rect">
                  <a:avLst/>
                </a:prstGeom>
                <a:solidFill>
                  <a:srgbClr val="0C172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43" name="Barra 3"/>
                <p:cNvSpPr/>
                <p:nvPr/>
              </p:nvSpPr>
              <p:spPr>
                <a:xfrm>
                  <a:off x="6958584" y="2821106"/>
                  <a:ext cx="51023" cy="90708"/>
                </a:xfrm>
                <a:prstGeom prst="rect">
                  <a:avLst/>
                </a:prstGeom>
                <a:solidFill>
                  <a:srgbClr val="0C172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44" name="Barra 4"/>
                <p:cNvSpPr/>
                <p:nvPr/>
              </p:nvSpPr>
              <p:spPr>
                <a:xfrm>
                  <a:off x="7049292" y="2753075"/>
                  <a:ext cx="51023" cy="158739"/>
                </a:xfrm>
                <a:prstGeom prst="rect">
                  <a:avLst/>
                </a:prstGeom>
                <a:solidFill>
                  <a:srgbClr val="0C172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cxnSp>
              <p:nvCxnSpPr>
                <p:cNvPr id="45" name="Haste"/>
                <p:cNvCxnSpPr/>
                <p:nvPr/>
              </p:nvCxnSpPr>
              <p:spPr>
                <a:xfrm>
                  <a:off x="6958583" y="2979846"/>
                  <a:ext cx="0" cy="90709"/>
                </a:xfrm>
                <a:prstGeom prst="line">
                  <a:avLst/>
                </a:prstGeom>
                <a:ln w="19050">
                  <a:solidFill>
                    <a:srgbClr val="0C172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Base"/>
                <p:cNvCxnSpPr/>
                <p:nvPr/>
              </p:nvCxnSpPr>
              <p:spPr>
                <a:xfrm>
                  <a:off x="6833859" y="3081893"/>
                  <a:ext cx="249449" cy="0"/>
                </a:xfrm>
                <a:prstGeom prst="line">
                  <a:avLst/>
                </a:prstGeom>
                <a:ln w="19050">
                  <a:solidFill>
                    <a:srgbClr val="0C172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Título"/>
              <p:cNvSpPr txBox="1"/>
              <p:nvPr/>
            </p:nvSpPr>
            <p:spPr>
              <a:xfrm>
                <a:off x="7498079" y="2514600"/>
                <a:ext cx="388620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 b="1" i="0">
                    <a:solidFill>
                      <a:srgbClr val="0C172D"/>
                    </a:solidFill>
                  </a:rPr>
                  <a:t>Comunicação e transparência personalizada</a:t>
                </a:r>
              </a:p>
            </p:txBody>
          </p:sp>
          <p:sp>
            <p:nvSpPr>
              <p:cNvPr id="48" name="Descrição"/>
              <p:cNvSpPr txBox="1"/>
              <p:nvPr/>
            </p:nvSpPr>
            <p:spPr>
              <a:xfrm>
                <a:off x="7498079" y="2816352"/>
                <a:ext cx="3886200" cy="7315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50" b="0" i="0">
                    <a:solidFill>
                      <a:srgbClr val="0C172D"/>
                    </a:solidFill>
                  </a:rPr>
                  <a:t>Envio contínuo de </a:t>
                </a:r>
                <a:r>
                  <a:rPr sz="1150" b="1" i="0">
                    <a:solidFill>
                      <a:srgbClr val="0C172D"/>
                    </a:solidFill>
                  </a:rPr>
                  <a:t>relatórios</a:t>
                </a:r>
                <a:r>
                  <a:rPr sz="1150" b="0" i="0">
                    <a:solidFill>
                      <a:srgbClr val="0C172D"/>
                    </a:solidFill>
                  </a:rPr>
                  <a:t> e </a:t>
                </a:r>
                <a:r>
                  <a:rPr sz="1150" b="1" i="0">
                    <a:solidFill>
                      <a:srgbClr val="0C172D"/>
                    </a:solidFill>
                  </a:rPr>
                  <a:t>newsletters</a:t>
                </a:r>
                <a:r>
                  <a:rPr sz="1150" b="0" i="0">
                    <a:solidFill>
                      <a:srgbClr val="0C172D"/>
                    </a:solidFill>
                  </a:rPr>
                  <a:t> comunicando </a:t>
                </a:r>
                <a:r>
                  <a:rPr sz="1150" b="1" i="0">
                    <a:solidFill>
                      <a:srgbClr val="0C172D"/>
                    </a:solidFill>
                  </a:rPr>
                  <a:t>resultados, projetos e casos de sucesso</a:t>
                </a:r>
                <a:r>
                  <a:rPr sz="1150" b="0" i="0">
                    <a:solidFill>
                      <a:srgbClr val="0C172D"/>
                    </a:solidFill>
                  </a:rPr>
                  <a:t> conforme os </a:t>
                </a:r>
                <a:r>
                  <a:rPr sz="1150" b="1" i="0">
                    <a:solidFill>
                      <a:srgbClr val="0C172D"/>
                    </a:solidFill>
                  </a:rPr>
                  <a:t>interesses do doador</a:t>
                </a:r>
              </a:p>
            </p:txBody>
          </p:sp>
        </p:grpSp>
        <p:grpSp>
          <p:nvGrpSpPr>
            <p:cNvPr id="49" name="Benefício: Participações em eventos"/>
            <p:cNvGrpSpPr/>
            <p:nvPr/>
          </p:nvGrpSpPr>
          <p:grpSpPr>
            <a:xfrm>
              <a:off x="6703466" y="3749039"/>
              <a:ext cx="4680813" cy="1033272"/>
              <a:chOff x="6703466" y="3749039"/>
              <a:chExt cx="4680813" cy="1033272"/>
            </a:xfrm>
          </p:grpSpPr>
          <p:grpSp>
            <p:nvGrpSpPr>
              <p:cNvPr id="50" name="Ícone: eventos"/>
              <p:cNvGrpSpPr/>
              <p:nvPr/>
            </p:nvGrpSpPr>
            <p:grpSpPr>
              <a:xfrm>
                <a:off x="6703466" y="3794759"/>
                <a:ext cx="510235" cy="538581"/>
                <a:chOff x="6703466" y="3794759"/>
                <a:chExt cx="510235" cy="538581"/>
              </a:xfrm>
            </p:grpSpPr>
            <p:sp>
              <p:nvSpPr>
                <p:cNvPr id="51" name="Quadro"/>
                <p:cNvSpPr/>
                <p:nvPr/>
              </p:nvSpPr>
              <p:spPr>
                <a:xfrm>
                  <a:off x="6703466" y="3851452"/>
                  <a:ext cx="510235" cy="481888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FFFFFF"/>
                </a:solidFill>
                <a:ln w="19050">
                  <a:solidFill>
                    <a:srgbClr val="0C172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cxnSp>
              <p:nvCxnSpPr>
                <p:cNvPr id="52" name="Cabeçalho"/>
                <p:cNvCxnSpPr/>
                <p:nvPr/>
              </p:nvCxnSpPr>
              <p:spPr>
                <a:xfrm>
                  <a:off x="6703466" y="3976176"/>
                  <a:ext cx="510235" cy="0"/>
                </a:xfrm>
                <a:prstGeom prst="line">
                  <a:avLst/>
                </a:prstGeom>
                <a:ln w="19050">
                  <a:solidFill>
                    <a:srgbClr val="0C172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Argola 1"/>
                <p:cNvCxnSpPr/>
                <p:nvPr/>
              </p:nvCxnSpPr>
              <p:spPr>
                <a:xfrm>
                  <a:off x="6833859" y="3794759"/>
                  <a:ext cx="0" cy="113386"/>
                </a:xfrm>
                <a:prstGeom prst="line">
                  <a:avLst/>
                </a:prstGeom>
                <a:ln w="25400">
                  <a:solidFill>
                    <a:srgbClr val="0C172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Argola 2"/>
                <p:cNvCxnSpPr/>
                <p:nvPr/>
              </p:nvCxnSpPr>
              <p:spPr>
                <a:xfrm>
                  <a:off x="7083308" y="3794759"/>
                  <a:ext cx="0" cy="113386"/>
                </a:xfrm>
                <a:prstGeom prst="line">
                  <a:avLst/>
                </a:prstGeom>
                <a:ln w="25400">
                  <a:solidFill>
                    <a:srgbClr val="0C172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Dia 00"/>
                <p:cNvSpPr/>
                <p:nvPr/>
              </p:nvSpPr>
              <p:spPr>
                <a:xfrm>
                  <a:off x="6777167" y="4049877"/>
                  <a:ext cx="96377" cy="79369"/>
                </a:xfrm>
                <a:prstGeom prst="rect">
                  <a:avLst/>
                </a:prstGeom>
                <a:noFill/>
                <a:ln w="9525">
                  <a:solidFill>
                    <a:srgbClr val="0C172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56" name="Dia 01"/>
                <p:cNvSpPr/>
                <p:nvPr/>
              </p:nvSpPr>
              <p:spPr>
                <a:xfrm>
                  <a:off x="6930237" y="4049877"/>
                  <a:ext cx="96377" cy="79369"/>
                </a:xfrm>
                <a:prstGeom prst="rect">
                  <a:avLst/>
                </a:prstGeom>
                <a:noFill/>
                <a:ln w="9525">
                  <a:solidFill>
                    <a:srgbClr val="0C172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57" name="Dia 02"/>
                <p:cNvSpPr/>
                <p:nvPr/>
              </p:nvSpPr>
              <p:spPr>
                <a:xfrm>
                  <a:off x="7083308" y="4049877"/>
                  <a:ext cx="96377" cy="79369"/>
                </a:xfrm>
                <a:prstGeom prst="rect">
                  <a:avLst/>
                </a:prstGeom>
                <a:noFill/>
                <a:ln w="9525">
                  <a:solidFill>
                    <a:srgbClr val="0C172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58" name="Dia 10"/>
                <p:cNvSpPr/>
                <p:nvPr/>
              </p:nvSpPr>
              <p:spPr>
                <a:xfrm>
                  <a:off x="6777167" y="4174601"/>
                  <a:ext cx="96377" cy="79369"/>
                </a:xfrm>
                <a:prstGeom prst="rect">
                  <a:avLst/>
                </a:prstGeom>
                <a:noFill/>
                <a:ln w="9525">
                  <a:solidFill>
                    <a:srgbClr val="0C172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59" name="Dia 11"/>
                <p:cNvSpPr/>
                <p:nvPr/>
              </p:nvSpPr>
              <p:spPr>
                <a:xfrm>
                  <a:off x="6930237" y="4174601"/>
                  <a:ext cx="96377" cy="79369"/>
                </a:xfrm>
                <a:prstGeom prst="rect">
                  <a:avLst/>
                </a:prstGeom>
                <a:noFill/>
                <a:ln w="9525">
                  <a:solidFill>
                    <a:srgbClr val="0C172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60" name="Dia 12"/>
                <p:cNvSpPr/>
                <p:nvPr/>
              </p:nvSpPr>
              <p:spPr>
                <a:xfrm>
                  <a:off x="7083308" y="4174601"/>
                  <a:ext cx="96377" cy="79369"/>
                </a:xfrm>
                <a:prstGeom prst="rect">
                  <a:avLst/>
                </a:prstGeom>
                <a:noFill/>
                <a:ln w="9525">
                  <a:solidFill>
                    <a:srgbClr val="0C172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/>
                </a:p>
              </p:txBody>
            </p:sp>
          </p:grpSp>
          <p:sp>
            <p:nvSpPr>
              <p:cNvPr id="61" name="Título"/>
              <p:cNvSpPr txBox="1"/>
              <p:nvPr/>
            </p:nvSpPr>
            <p:spPr>
              <a:xfrm>
                <a:off x="7498079" y="3749039"/>
                <a:ext cx="388620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 b="1" i="0">
                    <a:solidFill>
                      <a:srgbClr val="0C172D"/>
                    </a:solidFill>
                  </a:rPr>
                  <a:t>Participações em eventos</a:t>
                </a:r>
              </a:p>
            </p:txBody>
          </p:sp>
          <p:sp>
            <p:nvSpPr>
              <p:cNvPr id="62" name="Descrição"/>
              <p:cNvSpPr txBox="1"/>
              <p:nvPr/>
            </p:nvSpPr>
            <p:spPr>
              <a:xfrm>
                <a:off x="7498079" y="4050791"/>
                <a:ext cx="3886200" cy="7315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50" b="0" i="0">
                    <a:solidFill>
                      <a:srgbClr val="0C172D"/>
                    </a:solidFill>
                  </a:rPr>
                  <a:t>Acesso a </a:t>
                </a:r>
                <a:r>
                  <a:rPr sz="1150" b="1" i="0">
                    <a:solidFill>
                      <a:srgbClr val="0C172D"/>
                    </a:solidFill>
                  </a:rPr>
                  <a:t>eventos exclusivos</a:t>
                </a:r>
                <a:r>
                  <a:rPr sz="1150" b="0" i="0">
                    <a:solidFill>
                      <a:srgbClr val="0C172D"/>
                    </a:solidFill>
                  </a:rPr>
                  <a:t> promovidos pelo Reditus e seus associados, com </a:t>
                </a:r>
                <a:r>
                  <a:rPr sz="1150" b="1" i="0">
                    <a:solidFill>
                      <a:srgbClr val="0C172D"/>
                    </a:solidFill>
                  </a:rPr>
                  <a:t>personalidades e pautas de destaque</a:t>
                </a:r>
              </a:p>
            </p:txBody>
          </p:sp>
        </p:grpSp>
        <p:grpSp>
          <p:nvGrpSpPr>
            <p:cNvPr id="63" name="Benefício: Acesso a comunidades exclusivas"/>
            <p:cNvGrpSpPr/>
            <p:nvPr/>
          </p:nvGrpSpPr>
          <p:grpSpPr>
            <a:xfrm>
              <a:off x="6675120" y="4983480"/>
              <a:ext cx="4709159" cy="1033272"/>
              <a:chOff x="6675120" y="4983480"/>
              <a:chExt cx="4709159" cy="1033272"/>
            </a:xfrm>
          </p:grpSpPr>
          <p:pic>
            <p:nvPicPr>
              <p:cNvPr id="64" name="Ícone: comunidade" descr="ic_people_navy.png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>
              <a:xfrm>
                <a:off x="6675120" y="5029200"/>
                <a:ext cx="566928" cy="566928"/>
              </a:xfrm>
              <a:prstGeom prst="rect">
                <a:avLst/>
              </a:prstGeom>
            </p:spPr>
          </p:pic>
          <p:sp>
            <p:nvSpPr>
              <p:cNvPr id="65" name="Título"/>
              <p:cNvSpPr txBox="1"/>
              <p:nvPr/>
            </p:nvSpPr>
            <p:spPr>
              <a:xfrm>
                <a:off x="7498079" y="4983480"/>
                <a:ext cx="388620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 b="1" i="0">
                    <a:solidFill>
                      <a:srgbClr val="0C172D"/>
                    </a:solidFill>
                  </a:rPr>
                  <a:t>Acesso a comunidades exclusivas</a:t>
                </a:r>
              </a:p>
            </p:txBody>
          </p:sp>
          <p:sp>
            <p:nvSpPr>
              <p:cNvPr id="66" name="Descrição"/>
              <p:cNvSpPr txBox="1"/>
              <p:nvPr/>
            </p:nvSpPr>
            <p:spPr>
              <a:xfrm>
                <a:off x="7498079" y="5285232"/>
                <a:ext cx="3886200" cy="73152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50" b="0" i="0">
                    <a:solidFill>
                      <a:srgbClr val="0C172D"/>
                    </a:solidFill>
                  </a:rPr>
                  <a:t>Engajamento na </a:t>
                </a:r>
                <a:r>
                  <a:rPr sz="1150" b="1" i="0">
                    <a:solidFill>
                      <a:srgbClr val="0C172D"/>
                    </a:solidFill>
                  </a:rPr>
                  <a:t>rede de alunos e ex-alunos</a:t>
                </a:r>
                <a:r>
                  <a:rPr sz="1150" b="0" i="0">
                    <a:solidFill>
                      <a:srgbClr val="0C172D"/>
                    </a:solidFill>
                  </a:rPr>
                  <a:t> que apoiam o Reditus, com </a:t>
                </a:r>
                <a:r>
                  <a:rPr sz="1150" b="1" i="0">
                    <a:solidFill>
                      <a:srgbClr val="0C172D"/>
                    </a:solidFill>
                  </a:rPr>
                  <a:t>nomes consolidados do mercado</a:t>
                </a:r>
                <a:r>
                  <a:rPr sz="1150" b="0" i="0">
                    <a:solidFill>
                      <a:srgbClr val="0C172D"/>
                    </a:solidFill>
                  </a:rPr>
                  <a:t> e potenciais talentos da graduação</a:t>
                </a:r>
              </a:p>
            </p:txBody>
          </p:sp>
        </p:grpSp>
      </p:grpSp>
      <p:grpSp>
        <p:nvGrpSpPr>
          <p:cNvPr id="67" name="Seta de ligação"/>
          <p:cNvGrpSpPr/>
          <p:nvPr/>
        </p:nvGrpSpPr>
        <p:grpSpPr>
          <a:xfrm>
            <a:off x="5989320" y="3657600"/>
            <a:ext cx="384048" cy="384048"/>
            <a:chOff x="5989320" y="3657600"/>
            <a:chExt cx="384048" cy="384048"/>
          </a:xfrm>
        </p:grpSpPr>
        <p:sp>
          <p:nvSpPr>
            <p:cNvPr id="68" name="Círculo"/>
            <p:cNvSpPr/>
            <p:nvPr/>
          </p:nvSpPr>
          <p:spPr>
            <a:xfrm>
              <a:off x="5989320" y="3657600"/>
              <a:ext cx="384048" cy="38404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C172D"/>
              </a:solidFill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Chevron"/>
            <p:cNvSpPr/>
            <p:nvPr/>
          </p:nvSpPr>
          <p:spPr>
            <a:xfrm>
              <a:off x="6117336" y="3749039"/>
              <a:ext cx="109728" cy="201168"/>
            </a:xfrm>
            <a:prstGeom prst="chevron">
              <a:avLst/>
            </a:prstGeom>
            <a:solidFill>
              <a:srgbClr val="0C1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14784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btfpColumnIndicatorGroup2">
            <a:extLst>
              <a:ext uri="{FF2B5EF4-FFF2-40B4-BE49-F238E27FC236}">
                <a16:creationId xmlns:a16="http://schemas.microsoft.com/office/drawing/2014/main" id="{BAB3A1AE-1618-BFE7-BAB7-B4607C4BE6A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79" name="btfpColumnGapBlocker564067">
              <a:extLst>
                <a:ext uri="{FF2B5EF4-FFF2-40B4-BE49-F238E27FC236}">
                  <a16:creationId xmlns:a16="http://schemas.microsoft.com/office/drawing/2014/main" id="{A8164268-1149-32D2-1B66-C22FD683D713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btfpColumnGapBlocker183976">
              <a:extLst>
                <a:ext uri="{FF2B5EF4-FFF2-40B4-BE49-F238E27FC236}">
                  <a16:creationId xmlns:a16="http://schemas.microsoft.com/office/drawing/2014/main" id="{CBDCFADB-DECF-2254-2D19-51B3B2EB6CFA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5" name="btfpColumnIndicator753120">
              <a:extLst>
                <a:ext uri="{FF2B5EF4-FFF2-40B4-BE49-F238E27FC236}">
                  <a16:creationId xmlns:a16="http://schemas.microsoft.com/office/drawing/2014/main" id="{0DD1B776-848C-4E7F-039C-76E801746C01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btfpColumnIndicator895449">
              <a:extLst>
                <a:ext uri="{FF2B5EF4-FFF2-40B4-BE49-F238E27FC236}">
                  <a16:creationId xmlns:a16="http://schemas.microsoft.com/office/drawing/2014/main" id="{62B1606D-8148-FE13-2E2A-3BD4A2D3244A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btfpColumnIndicatorGroup1">
            <a:extLst>
              <a:ext uri="{FF2B5EF4-FFF2-40B4-BE49-F238E27FC236}">
                <a16:creationId xmlns:a16="http://schemas.microsoft.com/office/drawing/2014/main" id="{4220AA72-2A78-A50D-91D8-3F38E6ABDC8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78" name="btfpColumnGapBlocker796790">
              <a:extLst>
                <a:ext uri="{FF2B5EF4-FFF2-40B4-BE49-F238E27FC236}">
                  <a16:creationId xmlns:a16="http://schemas.microsoft.com/office/drawing/2014/main" id="{EDBE3752-17C9-720A-9740-689C119FD3ED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btfpColumnGapBlocker229281">
              <a:extLst>
                <a:ext uri="{FF2B5EF4-FFF2-40B4-BE49-F238E27FC236}">
                  <a16:creationId xmlns:a16="http://schemas.microsoft.com/office/drawing/2014/main" id="{6D3AAB4A-FAB3-B230-8771-09BE73EC6261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4" name="btfpColumnIndicator599412">
              <a:extLst>
                <a:ext uri="{FF2B5EF4-FFF2-40B4-BE49-F238E27FC236}">
                  <a16:creationId xmlns:a16="http://schemas.microsoft.com/office/drawing/2014/main" id="{B12F0D87-7F3C-ED79-6217-EA7F20B23E5C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btfpColumnIndicator176636">
              <a:extLst>
                <a:ext uri="{FF2B5EF4-FFF2-40B4-BE49-F238E27FC236}">
                  <a16:creationId xmlns:a16="http://schemas.microsoft.com/office/drawing/2014/main" id="{D3C43C8F-448E-817F-297A-96950B895E7C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1900"/>
              <a:t>No entanto, ainda há muito caminho pela frente, e sonhamos em mudar o patamar da educação no Brasil e na UFRJ, assim como os fundos de </a:t>
            </a:r>
            <a:r>
              <a:rPr sz="1900" i="1"/>
              <a:t>endowment</a:t>
            </a:r>
            <a:r>
              <a:rPr sz="1900"/>
              <a:t> fazem mundo afora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57784" y="1097280"/>
            <a:ext cx="57790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C172D"/>
                </a:solidFill>
              </a:rPr>
              <a:t>Ainda temos muito a crescer...</a:t>
            </a:r>
          </a:p>
        </p:txBody>
      </p:sp>
      <p:cxnSp>
        <p:nvCxnSpPr>
          <p:cNvPr id="4" name="Linha do subtítulo"/>
          <p:cNvCxnSpPr/>
          <p:nvPr/>
        </p:nvCxnSpPr>
        <p:spPr>
          <a:xfrm>
            <a:off x="557784" y="1481328"/>
            <a:ext cx="5779008" cy="0"/>
          </a:xfrm>
          <a:prstGeom prst="line">
            <a:avLst/>
          </a:prstGeom>
          <a:ln w="12700">
            <a:solidFill>
              <a:srgbClr val="0C1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ítulo"/>
          <p:cNvSpPr txBox="1"/>
          <p:nvPr/>
        </p:nvSpPr>
        <p:spPr>
          <a:xfrm>
            <a:off x="6812280" y="1097280"/>
            <a:ext cx="48280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C172D"/>
                </a:solidFill>
              </a:rPr>
              <a:t>...E a UFRJ tem um potencial enorme a ser alcançado</a:t>
            </a:r>
          </a:p>
        </p:txBody>
      </p:sp>
      <p:cxnSp>
        <p:nvCxnSpPr>
          <p:cNvPr id="6" name="Linha do subtítulo"/>
          <p:cNvCxnSpPr/>
          <p:nvPr/>
        </p:nvCxnSpPr>
        <p:spPr>
          <a:xfrm>
            <a:off x="6812280" y="1481328"/>
            <a:ext cx="4828032" cy="0"/>
          </a:xfrm>
          <a:prstGeom prst="line">
            <a:avLst/>
          </a:prstGeom>
          <a:ln w="12700">
            <a:solidFill>
              <a:srgbClr val="0C1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Tabela: comparação de endowments"/>
          <p:cNvGrpSpPr/>
          <p:nvPr/>
        </p:nvGrpSpPr>
        <p:grpSpPr>
          <a:xfrm>
            <a:off x="557784" y="1719072"/>
            <a:ext cx="5779008" cy="4288536"/>
            <a:chOff x="557784" y="1719072"/>
            <a:chExt cx="5779008" cy="4288536"/>
          </a:xfrm>
        </p:grpSpPr>
        <p:sp>
          <p:nvSpPr>
            <p:cNvPr id="8" name="Cabeçalho da coluna"/>
            <p:cNvSpPr/>
            <p:nvPr/>
          </p:nvSpPr>
          <p:spPr>
            <a:xfrm>
              <a:off x="557784" y="1719072"/>
              <a:ext cx="2240280" cy="640080"/>
            </a:xfrm>
            <a:prstGeom prst="roundRect">
              <a:avLst>
                <a:gd name="adj" fmla="val 20000"/>
              </a:avLst>
            </a:prstGeom>
            <a:solidFill>
              <a:srgbClr val="0C172D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0" rIns="73152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0" b="1" i="0">
                  <a:solidFill>
                    <a:srgbClr val="FFFFFF"/>
                  </a:solidFill>
                </a:rPr>
                <a:t>Patrimônio por </a:t>
              </a:r>
              <a:r>
                <a:rPr sz="1150" b="1" i="1">
                  <a:solidFill>
                    <a:srgbClr val="FFFFFF"/>
                  </a:solidFill>
                </a:rPr>
                <a:t>Endowment</a:t>
              </a:r>
            </a:p>
          </p:txBody>
        </p:sp>
        <p:sp>
          <p:nvSpPr>
            <p:cNvPr id="9" name="Cabeçalho da coluna"/>
            <p:cNvSpPr/>
            <p:nvPr/>
          </p:nvSpPr>
          <p:spPr>
            <a:xfrm>
              <a:off x="2852928" y="1719072"/>
              <a:ext cx="1691640" cy="640080"/>
            </a:xfrm>
            <a:prstGeom prst="roundRect">
              <a:avLst>
                <a:gd name="adj" fmla="val 20000"/>
              </a:avLst>
            </a:prstGeom>
            <a:solidFill>
              <a:srgbClr val="0C172D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0" rIns="73152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0" b="1" i="0">
                  <a:solidFill>
                    <a:srgbClr val="FFFFFF"/>
                  </a:solidFill>
                </a:rPr>
                <a:t>Repasse anual e % do orçamento</a:t>
              </a:r>
            </a:p>
          </p:txBody>
        </p:sp>
        <p:sp>
          <p:nvSpPr>
            <p:cNvPr id="10" name="Cabeçalho da coluna"/>
            <p:cNvSpPr/>
            <p:nvPr/>
          </p:nvSpPr>
          <p:spPr>
            <a:xfrm>
              <a:off x="4599432" y="1719072"/>
              <a:ext cx="1737360" cy="640080"/>
            </a:xfrm>
            <a:prstGeom prst="roundRect">
              <a:avLst>
                <a:gd name="adj" fmla="val 20000"/>
              </a:avLst>
            </a:prstGeom>
            <a:solidFill>
              <a:srgbClr val="0C172D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0" rIns="73152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0" b="1" i="0">
                  <a:solidFill>
                    <a:srgbClr val="FFFFFF"/>
                  </a:solidFill>
                </a:rPr>
                <a:t># de </a:t>
              </a:r>
              <a:r>
                <a:rPr sz="1150" b="1" i="1">
                  <a:solidFill>
                    <a:srgbClr val="FFFFFF"/>
                  </a:solidFill>
                </a:rPr>
                <a:t>alumnis</a:t>
              </a:r>
              <a:r>
                <a:rPr sz="1150" b="1" i="0">
                  <a:solidFill>
                    <a:srgbClr val="FFFFFF"/>
                  </a:solidFill>
                </a:rPr>
                <a:t> e % de doadores</a:t>
              </a:r>
            </a:p>
          </p:txBody>
        </p:sp>
        <p:sp>
          <p:nvSpPr>
            <p:cNvPr id="11" name="Fundo da tabela"/>
            <p:cNvSpPr/>
            <p:nvPr/>
          </p:nvSpPr>
          <p:spPr>
            <a:xfrm>
              <a:off x="557784" y="2487168"/>
              <a:ext cx="5779008" cy="352044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grpSp>
          <p:nvGrpSpPr>
            <p:cNvPr id="12" name="Linha: Harvard"/>
            <p:cNvGrpSpPr/>
            <p:nvPr/>
          </p:nvGrpSpPr>
          <p:grpSpPr>
            <a:xfrm>
              <a:off x="685800" y="2487168"/>
              <a:ext cx="5586984" cy="704088"/>
              <a:chOff x="685800" y="2487168"/>
              <a:chExt cx="5586984" cy="704088"/>
            </a:xfrm>
          </p:grpSpPr>
          <p:pic>
            <p:nvPicPr>
              <p:cNvPr id="13" name="Logo Harvard" descr="image.png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685800" y="2601468"/>
                <a:ext cx="475488" cy="475488"/>
              </a:xfrm>
              <a:prstGeom prst="rect">
                <a:avLst/>
              </a:prstGeom>
            </p:spPr>
          </p:pic>
          <p:sp>
            <p:nvSpPr>
              <p:cNvPr id="14" name="Instituição e patrimônio"/>
              <p:cNvSpPr txBox="1"/>
              <p:nvPr/>
            </p:nvSpPr>
            <p:spPr>
              <a:xfrm>
                <a:off x="1298448" y="2487168"/>
                <a:ext cx="150876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Harvard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US$ 51 Bi</a:t>
                </a:r>
              </a:p>
            </p:txBody>
          </p:sp>
          <p:sp>
            <p:nvSpPr>
              <p:cNvPr id="15" name="Repasse anual"/>
              <p:cNvSpPr txBox="1"/>
              <p:nvPr/>
            </p:nvSpPr>
            <p:spPr>
              <a:xfrm>
                <a:off x="2926080" y="2487168"/>
                <a:ext cx="155448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US$ 2,2 Bi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(~39%)</a:t>
                </a:r>
              </a:p>
            </p:txBody>
          </p:sp>
          <p:sp>
            <p:nvSpPr>
              <p:cNvPr id="16" name="Alumni e doadores"/>
              <p:cNvSpPr txBox="1"/>
              <p:nvPr/>
            </p:nvSpPr>
            <p:spPr>
              <a:xfrm>
                <a:off x="4672584" y="2487168"/>
                <a:ext cx="160020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420 k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(~37%)</a:t>
                </a:r>
              </a:p>
            </p:txBody>
          </p:sp>
        </p:grpSp>
        <p:grpSp>
          <p:nvGrpSpPr>
            <p:cNvPr id="17" name="Linha: Stanford"/>
            <p:cNvGrpSpPr/>
            <p:nvPr/>
          </p:nvGrpSpPr>
          <p:grpSpPr>
            <a:xfrm>
              <a:off x="685800" y="3191256"/>
              <a:ext cx="5586984" cy="704088"/>
              <a:chOff x="685800" y="3191256"/>
              <a:chExt cx="5586984" cy="704088"/>
            </a:xfrm>
          </p:grpSpPr>
          <p:cxnSp>
            <p:nvCxnSpPr>
              <p:cNvPr id="18" name="Separador"/>
              <p:cNvCxnSpPr/>
              <p:nvPr/>
            </p:nvCxnSpPr>
            <p:spPr>
              <a:xfrm>
                <a:off x="685800" y="3191256"/>
                <a:ext cx="5532120" cy="0"/>
              </a:xfrm>
              <a:prstGeom prst="line">
                <a:avLst/>
              </a:prstGeom>
              <a:ln w="9525">
                <a:solidFill>
                  <a:srgbClr val="D0D0D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Logo Stanford" descr="stanford.png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747253" y="3282696"/>
                <a:ext cx="352581" cy="521208"/>
              </a:xfrm>
              <a:prstGeom prst="rect">
                <a:avLst/>
              </a:prstGeom>
            </p:spPr>
          </p:pic>
          <p:sp>
            <p:nvSpPr>
              <p:cNvPr id="20" name="Instituição e patrimônio"/>
              <p:cNvSpPr txBox="1"/>
              <p:nvPr/>
            </p:nvSpPr>
            <p:spPr>
              <a:xfrm>
                <a:off x="1298448" y="3191256"/>
                <a:ext cx="150876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Stanford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US$ 44 Bi</a:t>
                </a:r>
              </a:p>
            </p:txBody>
          </p:sp>
          <p:sp>
            <p:nvSpPr>
              <p:cNvPr id="21" name="Repasse anual"/>
              <p:cNvSpPr txBox="1"/>
              <p:nvPr/>
            </p:nvSpPr>
            <p:spPr>
              <a:xfrm>
                <a:off x="2926080" y="3191256"/>
                <a:ext cx="155448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US$ 1,8 Bi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(~21%)</a:t>
                </a:r>
              </a:p>
            </p:txBody>
          </p:sp>
          <p:sp>
            <p:nvSpPr>
              <p:cNvPr id="22" name="Alumni e doadores"/>
              <p:cNvSpPr txBox="1"/>
              <p:nvPr/>
            </p:nvSpPr>
            <p:spPr>
              <a:xfrm>
                <a:off x="4672584" y="3191256"/>
                <a:ext cx="160020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225 k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(~34%)</a:t>
                </a:r>
              </a:p>
            </p:txBody>
          </p:sp>
        </p:grpSp>
        <p:grpSp>
          <p:nvGrpSpPr>
            <p:cNvPr id="23" name="Linha: Yale"/>
            <p:cNvGrpSpPr/>
            <p:nvPr/>
          </p:nvGrpSpPr>
          <p:grpSpPr>
            <a:xfrm>
              <a:off x="685800" y="3895344"/>
              <a:ext cx="5586984" cy="704088"/>
              <a:chOff x="685800" y="3895344"/>
              <a:chExt cx="5586984" cy="704088"/>
            </a:xfrm>
          </p:grpSpPr>
          <p:cxnSp>
            <p:nvCxnSpPr>
              <p:cNvPr id="24" name="Separador"/>
              <p:cNvCxnSpPr/>
              <p:nvPr/>
            </p:nvCxnSpPr>
            <p:spPr>
              <a:xfrm>
                <a:off x="685800" y="3895344"/>
                <a:ext cx="5532120" cy="0"/>
              </a:xfrm>
              <a:prstGeom prst="line">
                <a:avLst/>
              </a:prstGeom>
              <a:ln w="9525">
                <a:solidFill>
                  <a:srgbClr val="D0D0D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5" name="Logo Yale" descr="yale.png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>
              <a:xfrm>
                <a:off x="685800" y="3994305"/>
                <a:ext cx="475488" cy="506164"/>
              </a:xfrm>
              <a:prstGeom prst="rect">
                <a:avLst/>
              </a:prstGeom>
            </p:spPr>
          </p:pic>
          <p:sp>
            <p:nvSpPr>
              <p:cNvPr id="26" name="Instituição e patrimônio"/>
              <p:cNvSpPr txBox="1"/>
              <p:nvPr/>
            </p:nvSpPr>
            <p:spPr>
              <a:xfrm>
                <a:off x="1298448" y="3895344"/>
                <a:ext cx="150876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Yale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US$ 41 Bi</a:t>
                </a:r>
              </a:p>
            </p:txBody>
          </p:sp>
          <p:sp>
            <p:nvSpPr>
              <p:cNvPr id="27" name="Repasse anual"/>
              <p:cNvSpPr txBox="1"/>
              <p:nvPr/>
            </p:nvSpPr>
            <p:spPr>
              <a:xfrm>
                <a:off x="2926080" y="3895344"/>
                <a:ext cx="155448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US$ 1,8 Bi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(~35%)</a:t>
                </a:r>
              </a:p>
            </p:txBody>
          </p:sp>
          <p:sp>
            <p:nvSpPr>
              <p:cNvPr id="28" name="Alumni e doadores"/>
              <p:cNvSpPr txBox="1"/>
              <p:nvPr/>
            </p:nvSpPr>
            <p:spPr>
              <a:xfrm>
                <a:off x="4672584" y="3895344"/>
                <a:ext cx="160020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130 k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(~38%)</a:t>
                </a:r>
              </a:p>
            </p:txBody>
          </p:sp>
        </p:grpSp>
        <p:grpSp>
          <p:nvGrpSpPr>
            <p:cNvPr id="29" name="Linha: Poli USP"/>
            <p:cNvGrpSpPr/>
            <p:nvPr/>
          </p:nvGrpSpPr>
          <p:grpSpPr>
            <a:xfrm>
              <a:off x="685800" y="4599432"/>
              <a:ext cx="5586984" cy="704088"/>
              <a:chOff x="685800" y="4599432"/>
              <a:chExt cx="5586984" cy="704088"/>
            </a:xfrm>
          </p:grpSpPr>
          <p:cxnSp>
            <p:nvCxnSpPr>
              <p:cNvPr id="30" name="Separador"/>
              <p:cNvCxnSpPr/>
              <p:nvPr/>
            </p:nvCxnSpPr>
            <p:spPr>
              <a:xfrm>
                <a:off x="685800" y="4599432"/>
                <a:ext cx="5532120" cy="0"/>
              </a:xfrm>
              <a:prstGeom prst="line">
                <a:avLst/>
              </a:prstGeom>
              <a:ln w="9525">
                <a:solidFill>
                  <a:srgbClr val="D0D0D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" name="Logo Poli USP" descr="image.png"/>
              <p:cNvPicPr>
                <a:picLocks noChangeAspect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>
              <a:xfrm>
                <a:off x="685800" y="4713732"/>
                <a:ext cx="475488" cy="475488"/>
              </a:xfrm>
              <a:prstGeom prst="rect">
                <a:avLst/>
              </a:prstGeom>
            </p:spPr>
          </p:pic>
          <p:sp>
            <p:nvSpPr>
              <p:cNvPr id="32" name="Instituição e patrimônio"/>
              <p:cNvSpPr txBox="1"/>
              <p:nvPr/>
            </p:nvSpPr>
            <p:spPr>
              <a:xfrm>
                <a:off x="1298448" y="4599432"/>
                <a:ext cx="150876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Poli USP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R$ 50 M</a:t>
                </a:r>
              </a:p>
            </p:txBody>
          </p:sp>
          <p:sp>
            <p:nvSpPr>
              <p:cNvPr id="33" name="Repasse anual"/>
              <p:cNvSpPr txBox="1"/>
              <p:nvPr/>
            </p:nvSpPr>
            <p:spPr>
              <a:xfrm>
                <a:off x="2926080" y="4599432"/>
                <a:ext cx="155448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R$ 1,2 M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(&lt;1%)</a:t>
                </a:r>
              </a:p>
            </p:txBody>
          </p:sp>
          <p:sp>
            <p:nvSpPr>
              <p:cNvPr id="34" name="Alumni e doadores"/>
              <p:cNvSpPr txBox="1"/>
              <p:nvPr/>
            </p:nvSpPr>
            <p:spPr>
              <a:xfrm>
                <a:off x="4672584" y="4599432"/>
                <a:ext cx="160020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284 k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(~33%)</a:t>
                </a:r>
              </a:p>
            </p:txBody>
          </p:sp>
        </p:grpSp>
        <p:grpSp>
          <p:nvGrpSpPr>
            <p:cNvPr id="35" name="Linha: STEM UFRJ"/>
            <p:cNvGrpSpPr/>
            <p:nvPr/>
          </p:nvGrpSpPr>
          <p:grpSpPr>
            <a:xfrm>
              <a:off x="603504" y="5303520"/>
              <a:ext cx="5687568" cy="704088"/>
              <a:chOff x="603504" y="5303520"/>
              <a:chExt cx="5687568" cy="704088"/>
            </a:xfrm>
          </p:grpSpPr>
          <p:sp>
            <p:nvSpPr>
              <p:cNvPr id="36" name="Destaque Reditus"/>
              <p:cNvSpPr/>
              <p:nvPr/>
            </p:nvSpPr>
            <p:spPr>
              <a:xfrm>
                <a:off x="603504" y="5340096"/>
                <a:ext cx="5687568" cy="630936"/>
              </a:xfrm>
              <a:prstGeom prst="roundRect">
                <a:avLst>
                  <a:gd name="adj" fmla="val 10000"/>
                </a:avLst>
              </a:prstGeom>
              <a:solidFill>
                <a:srgbClr val="F2F2F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cxnSp>
            <p:nvCxnSpPr>
              <p:cNvPr id="37" name="Separador"/>
              <p:cNvCxnSpPr/>
              <p:nvPr/>
            </p:nvCxnSpPr>
            <p:spPr>
              <a:xfrm>
                <a:off x="685800" y="5303520"/>
                <a:ext cx="5532120" cy="0"/>
              </a:xfrm>
              <a:prstGeom prst="line">
                <a:avLst/>
              </a:prstGeom>
              <a:ln w="9525">
                <a:solidFill>
                  <a:srgbClr val="D0D0D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Logo STEM UFRJ" descr="image.png"/>
              <p:cNvPicPr>
                <a:picLocks noChangeAspect="1"/>
              </p:cNvPicPr>
              <p:nvPr/>
            </p:nvPicPr>
            <p:blipFill>
              <a:blip r:embed="rId7"/>
              <a:srcRect l="20400" t="5000" r="13900" b="9700"/>
              <a:stretch>
                <a:fillRect/>
              </a:stretch>
            </p:blipFill>
            <p:spPr>
              <a:xfrm>
                <a:off x="722820" y="5394960"/>
                <a:ext cx="401446" cy="521208"/>
              </a:xfrm>
              <a:prstGeom prst="rect">
                <a:avLst/>
              </a:prstGeom>
            </p:spPr>
          </p:pic>
          <p:sp>
            <p:nvSpPr>
              <p:cNvPr id="39" name="Instituição e patrimônio"/>
              <p:cNvSpPr txBox="1"/>
              <p:nvPr/>
            </p:nvSpPr>
            <p:spPr>
              <a:xfrm>
                <a:off x="1298448" y="5303520"/>
                <a:ext cx="150876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STEM UFRJ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R$ 20 M</a:t>
                </a:r>
              </a:p>
            </p:txBody>
          </p:sp>
          <p:sp>
            <p:nvSpPr>
              <p:cNvPr id="40" name="Repasse anual"/>
              <p:cNvSpPr txBox="1"/>
              <p:nvPr/>
            </p:nvSpPr>
            <p:spPr>
              <a:xfrm>
                <a:off x="2926080" y="5303520"/>
                <a:ext cx="155448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R$ 540 k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(&lt;1%)</a:t>
                </a:r>
              </a:p>
            </p:txBody>
          </p:sp>
          <p:sp>
            <p:nvSpPr>
              <p:cNvPr id="41" name="Alumni e doadores"/>
              <p:cNvSpPr txBox="1"/>
              <p:nvPr/>
            </p:nvSpPr>
            <p:spPr>
              <a:xfrm>
                <a:off x="4672584" y="5303520"/>
                <a:ext cx="1600200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1" i="0">
                    <a:solidFill>
                      <a:srgbClr val="0C172D"/>
                    </a:solidFill>
                  </a:rPr>
                  <a:t>130 k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250" b="0" i="0">
                    <a:solidFill>
                      <a:srgbClr val="0C172D"/>
                    </a:solidFill>
                  </a:rPr>
                  <a:t>(~2%)</a:t>
                </a:r>
              </a:p>
            </p:txBody>
          </p:sp>
        </p:grpSp>
      </p:grpSp>
      <p:grpSp>
        <p:nvGrpSpPr>
          <p:cNvPr id="42" name="Seta de ligação"/>
          <p:cNvGrpSpPr/>
          <p:nvPr/>
        </p:nvGrpSpPr>
        <p:grpSpPr>
          <a:xfrm>
            <a:off x="6400800" y="3749039"/>
            <a:ext cx="384048" cy="384048"/>
            <a:chOff x="6400800" y="3749039"/>
            <a:chExt cx="384048" cy="384048"/>
          </a:xfrm>
        </p:grpSpPr>
        <p:sp>
          <p:nvSpPr>
            <p:cNvPr id="43" name="Círculo"/>
            <p:cNvSpPr/>
            <p:nvPr/>
          </p:nvSpPr>
          <p:spPr>
            <a:xfrm>
              <a:off x="6400800" y="3749039"/>
              <a:ext cx="384048" cy="38404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C172D"/>
              </a:solidFill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Chevron"/>
            <p:cNvSpPr/>
            <p:nvPr/>
          </p:nvSpPr>
          <p:spPr>
            <a:xfrm>
              <a:off x="6528816" y="3840480"/>
              <a:ext cx="109728" cy="201168"/>
            </a:xfrm>
            <a:prstGeom prst="chevron">
              <a:avLst/>
            </a:prstGeom>
            <a:solidFill>
              <a:srgbClr val="0C1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5" name="Gráfico: Dentro da UFRJ"/>
          <p:cNvGrpSpPr/>
          <p:nvPr/>
        </p:nvGrpSpPr>
        <p:grpSpPr>
          <a:xfrm>
            <a:off x="6812280" y="1719072"/>
            <a:ext cx="2331720" cy="3264408"/>
            <a:chOff x="6812280" y="1719072"/>
            <a:chExt cx="2331720" cy="3264408"/>
          </a:xfrm>
        </p:grpSpPr>
        <p:sp>
          <p:nvSpPr>
            <p:cNvPr id="46" name="Título do gráfico"/>
            <p:cNvSpPr/>
            <p:nvPr/>
          </p:nvSpPr>
          <p:spPr>
            <a:xfrm>
              <a:off x="6812280" y="1719072"/>
              <a:ext cx="2331720" cy="411480"/>
            </a:xfrm>
            <a:prstGeom prst="roundRect">
              <a:avLst>
                <a:gd name="adj" fmla="val 20000"/>
              </a:avLst>
            </a:prstGeom>
            <a:solidFill>
              <a:srgbClr val="0C172D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0" rIns="73152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</a:rPr>
                <a:t>Dentro da UFRJ</a:t>
              </a:r>
            </a:p>
          </p:txBody>
        </p:sp>
        <p:sp>
          <p:nvSpPr>
            <p:cNvPr id="47" name="Fundo do gráfico"/>
            <p:cNvSpPr/>
            <p:nvPr/>
          </p:nvSpPr>
          <p:spPr>
            <a:xfrm>
              <a:off x="6812280" y="2240280"/>
              <a:ext cx="2331720" cy="27432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8" name="Barra: Alunos da Escola Politécnica¹"/>
            <p:cNvSpPr/>
            <p:nvPr/>
          </p:nvSpPr>
          <p:spPr>
            <a:xfrm>
              <a:off x="7040880" y="2624328"/>
              <a:ext cx="640080" cy="1417320"/>
            </a:xfrm>
            <a:prstGeom prst="rect">
              <a:avLst/>
            </a:prstGeom>
            <a:solidFill>
              <a:srgbClr val="C8C8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9" name="Barra: # de alunos já doadores"/>
            <p:cNvSpPr/>
            <p:nvPr/>
          </p:nvSpPr>
          <p:spPr>
            <a:xfrm>
              <a:off x="8275320" y="3995928"/>
              <a:ext cx="640080" cy="45720"/>
            </a:xfrm>
            <a:prstGeom prst="rect">
              <a:avLst/>
            </a:prstGeom>
            <a:solidFill>
              <a:srgbClr val="0C1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0" name="Valor maior"/>
            <p:cNvSpPr txBox="1"/>
            <p:nvPr/>
          </p:nvSpPr>
          <p:spPr>
            <a:xfrm>
              <a:off x="6858000" y="2350008"/>
              <a:ext cx="1005840" cy="237744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0C172D"/>
                  </a:solidFill>
                </a:rPr>
                <a:t>~5.100</a:t>
              </a:r>
            </a:p>
          </p:txBody>
        </p:sp>
        <p:sp>
          <p:nvSpPr>
            <p:cNvPr id="51" name="Valor menor"/>
            <p:cNvSpPr txBox="1"/>
            <p:nvPr/>
          </p:nvSpPr>
          <p:spPr>
            <a:xfrm>
              <a:off x="8092440" y="3721608"/>
              <a:ext cx="1005840" cy="237744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0C172D"/>
                  </a:solidFill>
                </a:rPr>
                <a:t>~150</a:t>
              </a:r>
            </a:p>
          </p:txBody>
        </p:sp>
        <p:cxnSp>
          <p:nvCxnSpPr>
            <p:cNvPr id="52" name="Seta de diferença"/>
            <p:cNvCxnSpPr/>
            <p:nvPr/>
          </p:nvCxnSpPr>
          <p:spPr>
            <a:xfrm>
              <a:off x="7978140" y="2624328"/>
              <a:ext cx="0" cy="1371600"/>
            </a:xfrm>
            <a:prstGeom prst="line">
              <a:avLst/>
            </a:prstGeom>
            <a:ln w="15875">
              <a:solidFill>
                <a:srgbClr val="0C172D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Fundo do múltiplo"/>
            <p:cNvSpPr/>
            <p:nvPr/>
          </p:nvSpPr>
          <p:spPr>
            <a:xfrm>
              <a:off x="7758683" y="3154680"/>
              <a:ext cx="438912" cy="3108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0C172D"/>
                  </a:solidFill>
                </a:rPr>
                <a:t>34x</a:t>
              </a:r>
            </a:p>
          </p:txBody>
        </p:sp>
        <p:cxnSp>
          <p:nvCxnSpPr>
            <p:cNvPr id="54" name="Eixo"/>
            <p:cNvCxnSpPr/>
            <p:nvPr/>
          </p:nvCxnSpPr>
          <p:spPr>
            <a:xfrm>
              <a:off x="6995160" y="4041648"/>
              <a:ext cx="1965960" cy="0"/>
            </a:xfrm>
            <a:prstGeom prst="line">
              <a:avLst/>
            </a:prstGeom>
            <a:ln w="12700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ótulo maior"/>
            <p:cNvSpPr txBox="1"/>
            <p:nvPr/>
          </p:nvSpPr>
          <p:spPr>
            <a:xfrm>
              <a:off x="6876288" y="4114800"/>
              <a:ext cx="969264" cy="7772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0C172D"/>
                  </a:solidFill>
                </a:rPr>
                <a:t>Alunos da Escola Politécnica¹</a:t>
              </a:r>
            </a:p>
          </p:txBody>
        </p:sp>
        <p:sp>
          <p:nvSpPr>
            <p:cNvPr id="56" name="Rótulo menor"/>
            <p:cNvSpPr txBox="1"/>
            <p:nvPr/>
          </p:nvSpPr>
          <p:spPr>
            <a:xfrm>
              <a:off x="8110728" y="4114800"/>
              <a:ext cx="969264" cy="7772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0C172D"/>
                  </a:solidFill>
                </a:rPr>
                <a:t># de alunos já doadores</a:t>
              </a:r>
            </a:p>
          </p:txBody>
        </p:sp>
      </p:grpSp>
      <p:grpSp>
        <p:nvGrpSpPr>
          <p:cNvPr id="57" name="Gráfico: Ex-alunos de renome"/>
          <p:cNvGrpSpPr/>
          <p:nvPr/>
        </p:nvGrpSpPr>
        <p:grpSpPr>
          <a:xfrm>
            <a:off x="9308592" y="1719072"/>
            <a:ext cx="2331720" cy="3264408"/>
            <a:chOff x="9308592" y="1719072"/>
            <a:chExt cx="2331720" cy="3264408"/>
          </a:xfrm>
        </p:grpSpPr>
        <p:sp>
          <p:nvSpPr>
            <p:cNvPr id="58" name="Título do gráfico"/>
            <p:cNvSpPr/>
            <p:nvPr/>
          </p:nvSpPr>
          <p:spPr>
            <a:xfrm>
              <a:off x="9308592" y="1719072"/>
              <a:ext cx="2331720" cy="411480"/>
            </a:xfrm>
            <a:prstGeom prst="roundRect">
              <a:avLst>
                <a:gd name="adj" fmla="val 20000"/>
              </a:avLst>
            </a:prstGeom>
            <a:solidFill>
              <a:srgbClr val="0C172D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0" rIns="73152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</a:rPr>
                <a:t>Ex-alunos de renome</a:t>
              </a:r>
            </a:p>
          </p:txBody>
        </p:sp>
        <p:sp>
          <p:nvSpPr>
            <p:cNvPr id="59" name="Fundo do gráfico"/>
            <p:cNvSpPr/>
            <p:nvPr/>
          </p:nvSpPr>
          <p:spPr>
            <a:xfrm>
              <a:off x="9308592" y="2240280"/>
              <a:ext cx="2331720" cy="27432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60" name="Barra: C-Levels formados na UFRJ"/>
            <p:cNvSpPr/>
            <p:nvPr/>
          </p:nvSpPr>
          <p:spPr>
            <a:xfrm>
              <a:off x="9537192" y="2624328"/>
              <a:ext cx="640080" cy="1417320"/>
            </a:xfrm>
            <a:prstGeom prst="rect">
              <a:avLst/>
            </a:prstGeom>
            <a:solidFill>
              <a:srgbClr val="C8C8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61" name="Barra: # de doadores do Reditus"/>
            <p:cNvSpPr/>
            <p:nvPr/>
          </p:nvSpPr>
          <p:spPr>
            <a:xfrm>
              <a:off x="10771632" y="3552028"/>
              <a:ext cx="640080" cy="489619"/>
            </a:xfrm>
            <a:prstGeom prst="rect">
              <a:avLst/>
            </a:prstGeom>
            <a:solidFill>
              <a:srgbClr val="0C1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62" name="Valor maior"/>
            <p:cNvSpPr txBox="1"/>
            <p:nvPr/>
          </p:nvSpPr>
          <p:spPr>
            <a:xfrm>
              <a:off x="9354312" y="2350008"/>
              <a:ext cx="1005840" cy="237744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0C172D"/>
                  </a:solidFill>
                </a:rPr>
                <a:t>275</a:t>
              </a:r>
            </a:p>
          </p:txBody>
        </p:sp>
        <p:sp>
          <p:nvSpPr>
            <p:cNvPr id="63" name="Valor menor"/>
            <p:cNvSpPr txBox="1"/>
            <p:nvPr/>
          </p:nvSpPr>
          <p:spPr>
            <a:xfrm>
              <a:off x="10588752" y="3277708"/>
              <a:ext cx="1005840" cy="237744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0C172D"/>
                  </a:solidFill>
                </a:rPr>
                <a:t>95</a:t>
              </a:r>
            </a:p>
          </p:txBody>
        </p:sp>
        <p:cxnSp>
          <p:nvCxnSpPr>
            <p:cNvPr id="64" name="Seta de diferença"/>
            <p:cNvCxnSpPr/>
            <p:nvPr/>
          </p:nvCxnSpPr>
          <p:spPr>
            <a:xfrm>
              <a:off x="10474452" y="2624328"/>
              <a:ext cx="0" cy="927700"/>
            </a:xfrm>
            <a:prstGeom prst="line">
              <a:avLst/>
            </a:prstGeom>
            <a:ln w="15875">
              <a:solidFill>
                <a:srgbClr val="0C172D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Fundo do múltiplo"/>
            <p:cNvSpPr/>
            <p:nvPr/>
          </p:nvSpPr>
          <p:spPr>
            <a:xfrm>
              <a:off x="10254996" y="2932730"/>
              <a:ext cx="438912" cy="3108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0C172D"/>
                  </a:solidFill>
                </a:rPr>
                <a:t>3x</a:t>
              </a:r>
            </a:p>
          </p:txBody>
        </p:sp>
        <p:cxnSp>
          <p:nvCxnSpPr>
            <p:cNvPr id="66" name="Eixo"/>
            <p:cNvCxnSpPr/>
            <p:nvPr/>
          </p:nvCxnSpPr>
          <p:spPr>
            <a:xfrm>
              <a:off x="9491472" y="4041648"/>
              <a:ext cx="1965960" cy="0"/>
            </a:xfrm>
            <a:prstGeom prst="line">
              <a:avLst/>
            </a:prstGeom>
            <a:ln w="12700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ótulo maior"/>
            <p:cNvSpPr txBox="1"/>
            <p:nvPr/>
          </p:nvSpPr>
          <p:spPr>
            <a:xfrm>
              <a:off x="9372600" y="4114800"/>
              <a:ext cx="969264" cy="7772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0C172D"/>
                  </a:solidFill>
                </a:rPr>
                <a:t>C-Levels formados na UFRJ</a:t>
              </a:r>
            </a:p>
          </p:txBody>
        </p:sp>
        <p:sp>
          <p:nvSpPr>
            <p:cNvPr id="68" name="Rótulo menor"/>
            <p:cNvSpPr txBox="1"/>
            <p:nvPr/>
          </p:nvSpPr>
          <p:spPr>
            <a:xfrm>
              <a:off x="10607040" y="4114800"/>
              <a:ext cx="969264" cy="7772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0C172D"/>
                  </a:solidFill>
                </a:rPr>
                <a:t># de doadores do Reditus</a:t>
              </a:r>
            </a:p>
          </p:txBody>
        </p:sp>
      </p:grpSp>
      <p:grpSp>
        <p:nvGrpSpPr>
          <p:cNvPr id="69" name="Mensagem-chave"/>
          <p:cNvGrpSpPr/>
          <p:nvPr/>
        </p:nvGrpSpPr>
        <p:grpSpPr>
          <a:xfrm>
            <a:off x="6812280" y="5120640"/>
            <a:ext cx="4828032" cy="886968"/>
            <a:chOff x="6812280" y="5120640"/>
            <a:chExt cx="4828032" cy="886968"/>
          </a:xfrm>
        </p:grpSpPr>
        <p:sp>
          <p:nvSpPr>
            <p:cNvPr id="70" name="Caixa da mensagem"/>
            <p:cNvSpPr/>
            <p:nvPr/>
          </p:nvSpPr>
          <p:spPr>
            <a:xfrm>
              <a:off x="6812280" y="5120640"/>
              <a:ext cx="4828032" cy="886968"/>
            </a:xfrm>
            <a:prstGeom prst="roundRect">
              <a:avLst>
                <a:gd name="adj" fmla="val 10000"/>
              </a:avLst>
            </a:prstGeom>
            <a:solidFill>
              <a:srgbClr val="0C172D"/>
            </a:solidFill>
            <a:ln>
              <a:noFill/>
            </a:ln>
            <a:effectLst>
              <a:outerShdw blurRad="1397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0" rIns="18288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FFFFF"/>
                  </a:solidFill>
                </a:rPr>
                <a:t>A força da rede alumni da UFRJ</a:t>
              </a:r>
              <a:r>
                <a:rPr sz="1300" b="0" i="0">
                  <a:solidFill>
                    <a:srgbClr val="FFFFFF"/>
                  </a:solidFill>
                </a:rPr>
                <a:t> pode multiplicar nosso impacto, cada contribuição conta para transformar a educação no Brasil</a:t>
              </a:r>
            </a:p>
          </p:txBody>
        </p:sp>
      </p:grpSp>
      <p:sp>
        <p:nvSpPr>
          <p:cNvPr id="71" name="Notas e fontes"/>
          <p:cNvSpPr txBox="1"/>
          <p:nvPr/>
        </p:nvSpPr>
        <p:spPr>
          <a:xfrm>
            <a:off x="557784" y="607161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1. Número aproximado para o Reditus considerando o foco em 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Fontes: Documentos publicados das respectivas instituições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23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1282142-965A-070A-8B59-15F6ED27162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53117">
              <a:extLst>
                <a:ext uri="{FF2B5EF4-FFF2-40B4-BE49-F238E27FC236}">
                  <a16:creationId xmlns:a16="http://schemas.microsoft.com/office/drawing/2014/main" id="{47981262-1CBD-4845-BA5D-1D2346BC6B9D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btfpColumnGapBlocker814187">
              <a:extLst>
                <a:ext uri="{FF2B5EF4-FFF2-40B4-BE49-F238E27FC236}">
                  <a16:creationId xmlns:a16="http://schemas.microsoft.com/office/drawing/2014/main" id="{C9EAA37E-7D23-21FD-08A0-268861142B0D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" name="btfpColumnIndicator133573">
              <a:extLst>
                <a:ext uri="{FF2B5EF4-FFF2-40B4-BE49-F238E27FC236}">
                  <a16:creationId xmlns:a16="http://schemas.microsoft.com/office/drawing/2014/main" id="{62EDBAD8-0AF6-627F-1637-F035762F7E92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104002">
              <a:extLst>
                <a:ext uri="{FF2B5EF4-FFF2-40B4-BE49-F238E27FC236}">
                  <a16:creationId xmlns:a16="http://schemas.microsoft.com/office/drawing/2014/main" id="{8A897C8B-85CB-F93A-97CB-1F52D51A21CD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B3579119-1D64-65C7-58F9-6B97BF74F8F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32345">
              <a:extLst>
                <a:ext uri="{FF2B5EF4-FFF2-40B4-BE49-F238E27FC236}">
                  <a16:creationId xmlns:a16="http://schemas.microsoft.com/office/drawing/2014/main" id="{0F72F23B-1BC4-8C87-A4E2-44E82550908B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858371">
              <a:extLst>
                <a:ext uri="{FF2B5EF4-FFF2-40B4-BE49-F238E27FC236}">
                  <a16:creationId xmlns:a16="http://schemas.microsoft.com/office/drawing/2014/main" id="{2BDABC54-8317-9869-A849-8E666683659C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btfpColumnIndicator384938">
              <a:extLst>
                <a:ext uri="{FF2B5EF4-FFF2-40B4-BE49-F238E27FC236}">
                  <a16:creationId xmlns:a16="http://schemas.microsoft.com/office/drawing/2014/main" id="{2F8267DF-2997-5F7D-EC0E-F389EA568BDC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505793">
              <a:extLst>
                <a:ext uri="{FF2B5EF4-FFF2-40B4-BE49-F238E27FC236}">
                  <a16:creationId xmlns:a16="http://schemas.microsoft.com/office/drawing/2014/main" id="{187E6B12-2721-3805-7022-0A608D2CE418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55CFA27A-26BA-A9D2-1F71-B2E4A3EF2650}"/>
              </a:ext>
            </a:extLst>
          </p:cNvPr>
          <p:cNvCxnSpPr/>
          <p:nvPr/>
        </p:nvCxnSpPr>
        <p:spPr>
          <a:xfrm>
            <a:off x="1832881" y="1701800"/>
            <a:ext cx="0" cy="4749800"/>
          </a:xfrm>
          <a:prstGeom prst="line">
            <a:avLst/>
          </a:prstGeom>
          <a:ln w="19050" cap="flat" cmpd="sng" algn="ctr">
            <a:solidFill>
              <a:srgbClr val="0C172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gendaTitle">
            <a:extLst>
              <a:ext uri="{FF2B5EF4-FFF2-40B4-BE49-F238E27FC236}">
                <a16:creationId xmlns:a16="http://schemas.microsoft.com/office/drawing/2014/main" id="{6ECFBC37-AE0F-5FB3-D44C-869281B75A1D}"/>
              </a:ext>
            </a:extLst>
          </p:cNvPr>
          <p:cNvSpPr txBox="1"/>
          <p:nvPr/>
        </p:nvSpPr>
        <p:spPr>
          <a:xfrm>
            <a:off x="546100" y="1778000"/>
            <a:ext cx="10160000" cy="235611"/>
          </a:xfrm>
          <a:prstGeom prst="rect">
            <a:avLst/>
          </a:prstGeom>
          <a:noFill/>
        </p:spPr>
        <p:txBody>
          <a:bodyPr vert="horz" lIns="18136" tIns="25226" rIns="72073" bIns="25226" rtlCol="0">
            <a:spAutoFit/>
          </a:bodyPr>
          <a:lstStyle/>
          <a:p>
            <a:r>
              <a:rPr lang="pt-BR" sz="1200" b="1" cap="all" spc="450" dirty="0">
                <a:solidFill>
                  <a:srgbClr val="0C172D"/>
                </a:solidFill>
              </a:rPr>
              <a:t>Agenda</a:t>
            </a:r>
          </a:p>
        </p:txBody>
      </p:sp>
      <p:sp>
        <p:nvSpPr>
          <p:cNvPr id="26" name="AgendaEmphasisBar">
            <a:extLst>
              <a:ext uri="{FF2B5EF4-FFF2-40B4-BE49-F238E27FC236}">
                <a16:creationId xmlns:a16="http://schemas.microsoft.com/office/drawing/2014/main" id="{681CB679-2F75-AE65-DA5A-0BD01F1082AF}"/>
              </a:ext>
            </a:extLst>
          </p:cNvPr>
          <p:cNvSpPr/>
          <p:nvPr/>
        </p:nvSpPr>
        <p:spPr>
          <a:xfrm>
            <a:off x="1832881" y="2750821"/>
            <a:ext cx="127000" cy="743179"/>
          </a:xfrm>
          <a:prstGeom prst="rect">
            <a:avLst/>
          </a:prstGeom>
          <a:solidFill>
            <a:srgbClr val="0C172D"/>
          </a:solidFill>
          <a:ln w="19050" cap="flat" cmpd="sng" algn="ctr">
            <a:solidFill>
              <a:srgbClr val="0C172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FFFF"/>
              </a:solidFill>
            </a:endParaRPr>
          </a:p>
        </p:txBody>
      </p:sp>
      <p:grpSp>
        <p:nvGrpSpPr>
          <p:cNvPr id="27" name="Agenda">
            <a:extLst>
              <a:ext uri="{FF2B5EF4-FFF2-40B4-BE49-F238E27FC236}">
                <a16:creationId xmlns:a16="http://schemas.microsoft.com/office/drawing/2014/main" id="{C19E9113-2E9C-3672-4B27-15634B551133}"/>
              </a:ext>
            </a:extLst>
          </p:cNvPr>
          <p:cNvGrpSpPr/>
          <p:nvPr/>
        </p:nvGrpSpPr>
        <p:grpSpPr>
          <a:xfrm>
            <a:off x="2186652" y="2171700"/>
            <a:ext cx="9446547" cy="4279900"/>
            <a:chOff x="2186652" y="2171700"/>
            <a:chExt cx="9446547" cy="4279900"/>
          </a:xfrm>
        </p:grpSpPr>
        <p:sp>
          <p:nvSpPr>
            <p:cNvPr id="28" name="AgendaTextBox">
              <a:extLst>
                <a:ext uri="{FF2B5EF4-FFF2-40B4-BE49-F238E27FC236}">
                  <a16:creationId xmlns:a16="http://schemas.microsoft.com/office/drawing/2014/main" id="{BEC5F90E-3155-540C-8CA0-CD7DE1E6F479}"/>
                </a:ext>
              </a:extLst>
            </p:cNvPr>
            <p:cNvSpPr txBox="1"/>
            <p:nvPr/>
          </p:nvSpPr>
          <p:spPr>
            <a:xfrm>
              <a:off x="2250152" y="2171700"/>
              <a:ext cx="9383047" cy="4279900"/>
            </a:xfrm>
            <a:prstGeom prst="rect">
              <a:avLst/>
            </a:prstGeom>
            <a:noFill/>
          </p:spPr>
          <p:txBody>
            <a:bodyPr vert="horz" wrap="square" rtlCol="0">
              <a:noAutofit/>
            </a:bodyPr>
            <a:lstStyle/>
            <a:p>
              <a:pPr>
                <a:spcBef>
                  <a:spcPts val="3600"/>
                </a:spcBef>
              </a:pPr>
              <a:r>
                <a:rPr lang="en-US" sz="2000" dirty="0" err="1">
                  <a:solidFill>
                    <a:srgbClr val="0C172D"/>
                  </a:solidFill>
                </a:rPr>
                <a:t>Introdu</a:t>
              </a:r>
              <a:r>
                <a:rPr lang="pt-BR" sz="2000" dirty="0" err="1">
                  <a:solidFill>
                    <a:srgbClr val="0C172D"/>
                  </a:solidFill>
                </a:rPr>
                <a:t>ção</a:t>
              </a:r>
              <a:r>
                <a:rPr lang="pt-BR" sz="2000" dirty="0">
                  <a:solidFill>
                    <a:srgbClr val="0C172D"/>
                  </a:solidFill>
                </a:rPr>
                <a:t> do Instituto Reditus</a:t>
              </a:r>
              <a:endParaRPr lang="en-US" sz="2000" dirty="0">
                <a:solidFill>
                  <a:srgbClr val="0C172D"/>
                </a:solidFill>
              </a:endParaRPr>
            </a:p>
            <a:p>
              <a:pPr>
                <a:spcBef>
                  <a:spcPts val="3600"/>
                </a:spcBef>
              </a:pPr>
              <a:r>
                <a:rPr lang="en-US" sz="2000" b="1" dirty="0" err="1">
                  <a:solidFill>
                    <a:srgbClr val="0C172D"/>
                  </a:solidFill>
                </a:rPr>
                <a:t>Painel</a:t>
              </a:r>
              <a:r>
                <a:rPr lang="en-US" sz="2000" b="1" dirty="0">
                  <a:solidFill>
                    <a:srgbClr val="0C172D"/>
                  </a:solidFill>
                </a:rPr>
                <a:t> | </a:t>
              </a:r>
              <a:r>
                <a:rPr lang="pt-BR" sz="2000" b="1" dirty="0">
                  <a:solidFill>
                    <a:srgbClr val="0C172D"/>
                  </a:solidFill>
                </a:rPr>
                <a:t>Projetos apoiados</a:t>
              </a:r>
              <a:endParaRPr lang="en-US" sz="2000" b="1" dirty="0">
                <a:solidFill>
                  <a:srgbClr val="0C172D"/>
                </a:solidFill>
              </a:endParaRPr>
            </a:p>
            <a:p>
              <a:pPr>
                <a:spcBef>
                  <a:spcPts val="3600"/>
                </a:spcBef>
              </a:pPr>
              <a:r>
                <a:rPr lang="pt-BR" sz="2000" dirty="0">
                  <a:solidFill>
                    <a:srgbClr val="0C172D"/>
                  </a:solidFill>
                </a:rPr>
                <a:t>Empreendedorismo, terceiro setor e perspectivas para o </a:t>
              </a:r>
              <a:br>
                <a:rPr lang="pt-BR" sz="2000" dirty="0">
                  <a:solidFill>
                    <a:srgbClr val="0C172D"/>
                  </a:solidFill>
                </a:rPr>
              </a:br>
              <a:r>
                <a:rPr lang="pt-BR" sz="2000" dirty="0">
                  <a:solidFill>
                    <a:srgbClr val="0C172D"/>
                  </a:solidFill>
                </a:rPr>
                <a:t>futuro brasileiro</a:t>
              </a:r>
              <a:r>
                <a:rPr lang="en-US" sz="2000" dirty="0">
                  <a:solidFill>
                    <a:srgbClr val="0C172D"/>
                  </a:solidFill>
                </a:rPr>
                <a:t> | Guilherme Benchimol</a:t>
              </a:r>
              <a:endParaRPr lang="pt-BR" sz="2000" dirty="0">
                <a:solidFill>
                  <a:srgbClr val="0C172D"/>
                </a:solidFill>
              </a:endParaRPr>
            </a:p>
          </p:txBody>
        </p:sp>
        <p:cxnSp>
          <p:nvCxnSpPr>
            <p:cNvPr id="29" name="AgendaSeparator1">
              <a:extLst>
                <a:ext uri="{FF2B5EF4-FFF2-40B4-BE49-F238E27FC236}">
                  <a16:creationId xmlns:a16="http://schemas.microsoft.com/office/drawing/2014/main" id="{F0BED1DB-DCD9-74C5-E035-D50A25865096}"/>
                </a:ext>
              </a:extLst>
            </p:cNvPr>
            <p:cNvCxnSpPr/>
            <p:nvPr/>
          </p:nvCxnSpPr>
          <p:spPr>
            <a:xfrm>
              <a:off x="2186652" y="2750820"/>
              <a:ext cx="4916552" cy="0"/>
            </a:xfrm>
            <a:prstGeom prst="line">
              <a:avLst/>
            </a:prstGeom>
            <a:ln w="9525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AgendaSeparator2">
              <a:extLst>
                <a:ext uri="{FF2B5EF4-FFF2-40B4-BE49-F238E27FC236}">
                  <a16:creationId xmlns:a16="http://schemas.microsoft.com/office/drawing/2014/main" id="{BDC50AE6-97BB-B74E-5BAF-DD660F74FC19}"/>
                </a:ext>
              </a:extLst>
            </p:cNvPr>
            <p:cNvCxnSpPr/>
            <p:nvPr/>
          </p:nvCxnSpPr>
          <p:spPr>
            <a:xfrm>
              <a:off x="2186652" y="3512820"/>
              <a:ext cx="4916552" cy="0"/>
            </a:xfrm>
            <a:prstGeom prst="line">
              <a:avLst/>
            </a:prstGeom>
            <a:ln w="9525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3907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btfpColumnIndicatorGroup2">
            <a:extLst>
              <a:ext uri="{FF2B5EF4-FFF2-40B4-BE49-F238E27FC236}">
                <a16:creationId xmlns:a16="http://schemas.microsoft.com/office/drawing/2014/main" id="{3D923398-1565-082E-EC3E-43CB0CC2F9F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1" name="btfpColumnGapBlocker629516">
              <a:extLst>
                <a:ext uri="{FF2B5EF4-FFF2-40B4-BE49-F238E27FC236}">
                  <a16:creationId xmlns:a16="http://schemas.microsoft.com/office/drawing/2014/main" id="{9D90E770-4494-4F23-499D-3104BEDE1BCF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btfpColumnGapBlocker957408">
              <a:extLst>
                <a:ext uri="{FF2B5EF4-FFF2-40B4-BE49-F238E27FC236}">
                  <a16:creationId xmlns:a16="http://schemas.microsoft.com/office/drawing/2014/main" id="{A8854FD7-A33B-1132-07D7-58C9731A425B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btfpColumnIndicator822691">
              <a:extLst>
                <a:ext uri="{FF2B5EF4-FFF2-40B4-BE49-F238E27FC236}">
                  <a16:creationId xmlns:a16="http://schemas.microsoft.com/office/drawing/2014/main" id="{96A3383C-4450-55D6-276A-65BF326AE31D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563228">
              <a:extLst>
                <a:ext uri="{FF2B5EF4-FFF2-40B4-BE49-F238E27FC236}">
                  <a16:creationId xmlns:a16="http://schemas.microsoft.com/office/drawing/2014/main" id="{5289439E-661B-37EA-3B2C-C3F58D3B0FB2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btfpColumnIndicatorGroup1">
            <a:extLst>
              <a:ext uri="{FF2B5EF4-FFF2-40B4-BE49-F238E27FC236}">
                <a16:creationId xmlns:a16="http://schemas.microsoft.com/office/drawing/2014/main" id="{E1AA6574-DA4B-3233-A4CA-4FACCB0B5EF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0" name="btfpColumnGapBlocker442319">
              <a:extLst>
                <a:ext uri="{FF2B5EF4-FFF2-40B4-BE49-F238E27FC236}">
                  <a16:creationId xmlns:a16="http://schemas.microsoft.com/office/drawing/2014/main" id="{5AC4DD2B-3AC1-3688-96FA-8593256AE76C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btfpColumnGapBlocker236480">
              <a:extLst>
                <a:ext uri="{FF2B5EF4-FFF2-40B4-BE49-F238E27FC236}">
                  <a16:creationId xmlns:a16="http://schemas.microsoft.com/office/drawing/2014/main" id="{508DE0E3-BB1D-FAB5-F2E9-B351CA253ACA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" name="btfpColumnIndicator249585">
              <a:extLst>
                <a:ext uri="{FF2B5EF4-FFF2-40B4-BE49-F238E27FC236}">
                  <a16:creationId xmlns:a16="http://schemas.microsoft.com/office/drawing/2014/main" id="{4CB55F79-129C-ACDB-09E4-BFEA7CB65C0D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349981">
              <a:extLst>
                <a:ext uri="{FF2B5EF4-FFF2-40B4-BE49-F238E27FC236}">
                  <a16:creationId xmlns:a16="http://schemas.microsoft.com/office/drawing/2014/main" id="{3B3716A0-398A-37FB-528B-EDBC993F5E3F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BCCEE82B-4351-41CC-B04A-181A863E1F7C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484" imgH="486" progId="TCLayout.ActiveDocument.1">
                  <p:embed/>
                </p:oleObj>
              </mc:Choice>
              <mc:Fallback>
                <p:oleObj name="thinkcell Slide" r:id="rId5" imgW="484" imgH="48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CEE82B-4351-41CC-B04A-181A863E1F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5ACC6A7-DB65-A209-E805-D1A4F6AA71D6}"/>
              </a:ext>
            </a:extLst>
          </p:cNvPr>
          <p:cNvSpPr/>
          <p:nvPr/>
        </p:nvSpPr>
        <p:spPr>
          <a:xfrm>
            <a:off x="0" y="-69266"/>
            <a:ext cx="4206238" cy="6995846"/>
          </a:xfrm>
          <a:prstGeom prst="rect">
            <a:avLst/>
          </a:prstGeom>
          <a:solidFill>
            <a:srgbClr val="0C172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r>
              <a:rPr lang="pt-BR" sz="3200" b="1" dirty="0"/>
              <a:t>Reditus </a:t>
            </a:r>
            <a:r>
              <a:rPr lang="pt-BR" sz="3200" b="1" dirty="0" err="1"/>
              <a:t>Talks</a:t>
            </a:r>
            <a:r>
              <a:rPr lang="pt-BR" sz="3200" b="1" dirty="0"/>
              <a:t> 2026</a:t>
            </a:r>
          </a:p>
          <a:p>
            <a:r>
              <a:rPr lang="pt-BR" sz="2800" dirty="0"/>
              <a:t>Projetos apoiados</a:t>
            </a:r>
          </a:p>
          <a:p>
            <a:endParaRPr lang="pt-BR" sz="3200" dirty="0"/>
          </a:p>
        </p:txBody>
      </p:sp>
      <p:sp>
        <p:nvSpPr>
          <p:cNvPr id="3077" name="Freeform 4">
            <a:extLst>
              <a:ext uri="{FF2B5EF4-FFF2-40B4-BE49-F238E27FC236}">
                <a16:creationId xmlns:a16="http://schemas.microsoft.com/office/drawing/2014/main" id="{980E9C8D-D48B-37A3-2496-32BE73B4BF7F}"/>
              </a:ext>
            </a:extLst>
          </p:cNvPr>
          <p:cNvSpPr>
            <a:spLocks/>
          </p:cNvSpPr>
          <p:nvPr/>
        </p:nvSpPr>
        <p:spPr>
          <a:xfrm>
            <a:off x="6173636" y="4312297"/>
            <a:ext cx="5538901" cy="1377894"/>
          </a:xfrm>
          <a:custGeom>
            <a:avLst/>
            <a:gdLst/>
            <a:ahLst/>
            <a:cxnLst/>
            <a:rect l="l" t="t" r="r" b="b"/>
            <a:pathLst>
              <a:path w="2957322" h="800684">
                <a:moveTo>
                  <a:pt x="400342" y="0"/>
                </a:moveTo>
                <a:lnTo>
                  <a:pt x="2556980" y="0"/>
                </a:lnTo>
                <a:cubicBezTo>
                  <a:pt x="2778083" y="0"/>
                  <a:pt x="2957322" y="179239"/>
                  <a:pt x="2957322" y="400342"/>
                </a:cubicBezTo>
                <a:lnTo>
                  <a:pt x="2957322" y="400342"/>
                </a:lnTo>
                <a:cubicBezTo>
                  <a:pt x="2957322" y="506519"/>
                  <a:pt x="2915143" y="608348"/>
                  <a:pt x="2840065" y="683426"/>
                </a:cubicBezTo>
                <a:cubicBezTo>
                  <a:pt x="2764986" y="758505"/>
                  <a:pt x="2663157" y="800684"/>
                  <a:pt x="2556980" y="800684"/>
                </a:cubicBezTo>
                <a:lnTo>
                  <a:pt x="400342" y="800684"/>
                </a:lnTo>
                <a:cubicBezTo>
                  <a:pt x="179239" y="800684"/>
                  <a:pt x="0" y="621444"/>
                  <a:pt x="0" y="400342"/>
                </a:cubicBezTo>
                <a:lnTo>
                  <a:pt x="0" y="400342"/>
                </a:lnTo>
                <a:cubicBezTo>
                  <a:pt x="0" y="179239"/>
                  <a:pt x="179239" y="0"/>
                  <a:pt x="400342" y="0"/>
                </a:cubicBezTo>
                <a:close/>
              </a:path>
            </a:pathLst>
          </a:custGeom>
          <a:solidFill>
            <a:srgbClr val="0C172D"/>
          </a:solidFill>
        </p:spPr>
        <p:txBody>
          <a:bodyPr>
            <a:noAutofit/>
          </a:bodyPr>
          <a:lstStyle/>
          <a:p>
            <a:endParaRPr lang="pt-BR" dirty="0"/>
          </a:p>
        </p:txBody>
      </p:sp>
      <p:sp>
        <p:nvSpPr>
          <p:cNvPr id="4001" name="Borda foto Elis"/>
          <p:cNvSpPr>
            <a:spLocks/>
          </p:cNvSpPr>
          <p:nvPr/>
        </p:nvSpPr>
        <p:spPr>
          <a:xfrm>
            <a:off x="4422224" y="4312297"/>
            <a:ext cx="1335588" cy="1335655"/>
          </a:xfrm>
          <a:custGeom>
            <a:avLst/>
            <a:gdLst/>
            <a:ahLst/>
            <a:cxnLst/>
            <a:rect l="l" t="t" r="r" b="b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F7F7F5"/>
          </a:solidFill>
        </p:spPr>
        <p:txBody>
          <a:bodyPr>
            <a:noAutofit/>
          </a:bodyPr>
          <a:lstStyle/>
          <a:p>
            <a:endParaRPr lang="pt-BR"/>
          </a:p>
        </p:txBody>
      </p:sp>
      <p:pic>
        <p:nvPicPr>
          <p:cNvPr id="4000" name="Foto Elis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422224" y="4312297"/>
            <a:ext cx="1335588" cy="1335655"/>
          </a:xfrm>
          <a:prstGeom prst="ellipse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4CC2625-2266-C70B-3910-5A05742BE402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372224" y="4312297"/>
            <a:ext cx="1335588" cy="1335655"/>
          </a:xfrm>
          <a:prstGeom prst="ellipse">
            <a:avLst/>
          </a:prstGeom>
        </p:spPr>
      </p:pic>
      <p:sp>
        <p:nvSpPr>
          <p:cNvPr id="3083" name="Freeform 11">
            <a:extLst>
              <a:ext uri="{FF2B5EF4-FFF2-40B4-BE49-F238E27FC236}">
                <a16:creationId xmlns:a16="http://schemas.microsoft.com/office/drawing/2014/main" id="{7BFA514D-FFBD-B96D-8E6C-2C3825CFDBB9}"/>
              </a:ext>
            </a:extLst>
          </p:cNvPr>
          <p:cNvSpPr>
            <a:spLocks/>
          </p:cNvSpPr>
          <p:nvPr/>
        </p:nvSpPr>
        <p:spPr>
          <a:xfrm>
            <a:off x="5372224" y="4312297"/>
            <a:ext cx="1335588" cy="1335655"/>
          </a:xfrm>
          <a:custGeom>
            <a:avLst/>
            <a:gdLst/>
            <a:ahLst/>
            <a:cxnLst/>
            <a:rect l="l" t="t" r="r" b="b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F7F7F5"/>
          </a:solidFill>
        </p:spPr>
        <p:txBody>
          <a:bodyPr>
            <a:noAutofit/>
          </a:bodyPr>
          <a:lstStyle/>
          <a:p>
            <a:endParaRPr lang="pt-BR"/>
          </a:p>
        </p:txBody>
      </p:sp>
      <p:sp>
        <p:nvSpPr>
          <p:cNvPr id="3078" name="TextBox 5">
            <a:extLst>
              <a:ext uri="{FF2B5EF4-FFF2-40B4-BE49-F238E27FC236}">
                <a16:creationId xmlns:a16="http://schemas.microsoft.com/office/drawing/2014/main" id="{C0CD975C-0D77-7489-1FE0-2405F7422825}"/>
              </a:ext>
            </a:extLst>
          </p:cNvPr>
          <p:cNvSpPr txBox="1"/>
          <p:nvPr/>
        </p:nvSpPr>
        <p:spPr>
          <a:xfrm>
            <a:off x="6173636" y="4399139"/>
            <a:ext cx="5267489" cy="14261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559"/>
              </a:lnSpc>
            </a:pPr>
            <a:endParaRPr/>
          </a:p>
        </p:txBody>
      </p:sp>
      <p:sp>
        <p:nvSpPr>
          <p:cNvPr id="3079" name="TextBox 21">
            <a:extLst>
              <a:ext uri="{FF2B5EF4-FFF2-40B4-BE49-F238E27FC236}">
                <a16:creationId xmlns:a16="http://schemas.microsoft.com/office/drawing/2014/main" id="{F7F7B88E-26D5-B4F9-4553-DCC55F7535B7}"/>
              </a:ext>
            </a:extLst>
          </p:cNvPr>
          <p:cNvSpPr txBox="1"/>
          <p:nvPr/>
        </p:nvSpPr>
        <p:spPr>
          <a:xfrm>
            <a:off x="7242534" y="4657466"/>
            <a:ext cx="4300000" cy="172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34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Elis e Thereza</a:t>
            </a:r>
          </a:p>
        </p:txBody>
      </p:sp>
      <p:sp>
        <p:nvSpPr>
          <p:cNvPr id="3080" name="TextBox 21">
            <a:extLst>
              <a:ext uri="{FF2B5EF4-FFF2-40B4-BE49-F238E27FC236}">
                <a16:creationId xmlns:a16="http://schemas.microsoft.com/office/drawing/2014/main" id="{8C9E89CE-51AB-8F1F-4CC9-DD09EA5D6227}"/>
              </a:ext>
            </a:extLst>
          </p:cNvPr>
          <p:cNvSpPr txBox="1"/>
          <p:nvPr/>
        </p:nvSpPr>
        <p:spPr>
          <a:xfrm>
            <a:off x="7242534" y="5076322"/>
            <a:ext cx="3760746" cy="434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34"/>
              </a:lnSpc>
              <a:spcBef>
                <a:spcPct val="0"/>
              </a:spcBef>
            </a:pPr>
            <a:r>
              <a:rPr lang="en-US" sz="1600" b="1" u="none" strike="noStrike" dirty="0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Programa de Inovação</a:t>
            </a:r>
          </a:p>
          <a:p>
            <a:pPr marL="0" lvl="0" indent="0" algn="l">
              <a:lnSpc>
                <a:spcPts val="1134"/>
              </a:lnSpc>
              <a:spcBef>
                <a:spcPct val="0"/>
              </a:spcBef>
            </a:pPr>
            <a:endParaRPr lang="en-US" sz="1600" dirty="0">
              <a:solidFill>
                <a:schemeClr val="bg1"/>
              </a:solidFill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1134"/>
              </a:lnSpc>
              <a:spcBef>
                <a:spcPct val="0"/>
              </a:spcBef>
            </a:pPr>
            <a:r>
              <a:rPr lang="en-US" sz="1600" dirty="0" err="1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Tem Menina no Circuito</a:t>
            </a:r>
            <a:endParaRPr lang="en-US" sz="1600" u="none" strike="noStrike" dirty="0">
              <a:solidFill>
                <a:schemeClr val="bg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sp>
        <p:nvSpPr>
          <p:cNvPr id="56" name="Freeform 4">
            <a:extLst>
              <a:ext uri="{FF2B5EF4-FFF2-40B4-BE49-F238E27FC236}">
                <a16:creationId xmlns:a16="http://schemas.microsoft.com/office/drawing/2014/main" id="{6F9FB295-87F3-F944-EFB9-1BAA49B4AD13}"/>
              </a:ext>
            </a:extLst>
          </p:cNvPr>
          <p:cNvSpPr>
            <a:spLocks/>
          </p:cNvSpPr>
          <p:nvPr/>
        </p:nvSpPr>
        <p:spPr>
          <a:xfrm>
            <a:off x="6173636" y="1167809"/>
            <a:ext cx="5538901" cy="1377894"/>
          </a:xfrm>
          <a:custGeom>
            <a:avLst/>
            <a:gdLst/>
            <a:ahLst/>
            <a:cxnLst/>
            <a:rect l="l" t="t" r="r" b="b"/>
            <a:pathLst>
              <a:path w="2957322" h="800684">
                <a:moveTo>
                  <a:pt x="400342" y="0"/>
                </a:moveTo>
                <a:lnTo>
                  <a:pt x="2556980" y="0"/>
                </a:lnTo>
                <a:cubicBezTo>
                  <a:pt x="2778083" y="0"/>
                  <a:pt x="2957322" y="179239"/>
                  <a:pt x="2957322" y="400342"/>
                </a:cubicBezTo>
                <a:lnTo>
                  <a:pt x="2957322" y="400342"/>
                </a:lnTo>
                <a:cubicBezTo>
                  <a:pt x="2957322" y="506519"/>
                  <a:pt x="2915143" y="608348"/>
                  <a:pt x="2840065" y="683426"/>
                </a:cubicBezTo>
                <a:cubicBezTo>
                  <a:pt x="2764986" y="758505"/>
                  <a:pt x="2663157" y="800684"/>
                  <a:pt x="2556980" y="800684"/>
                </a:cubicBezTo>
                <a:lnTo>
                  <a:pt x="400342" y="800684"/>
                </a:lnTo>
                <a:cubicBezTo>
                  <a:pt x="179239" y="800684"/>
                  <a:pt x="0" y="621444"/>
                  <a:pt x="0" y="400342"/>
                </a:cubicBezTo>
                <a:lnTo>
                  <a:pt x="0" y="400342"/>
                </a:lnTo>
                <a:cubicBezTo>
                  <a:pt x="0" y="179239"/>
                  <a:pt x="179239" y="0"/>
                  <a:pt x="400342" y="0"/>
                </a:cubicBezTo>
                <a:close/>
              </a:path>
            </a:pathLst>
          </a:custGeom>
          <a:solidFill>
            <a:srgbClr val="0C172D"/>
          </a:solidFill>
        </p:spPr>
        <p:txBody>
          <a:bodyPr>
            <a:noAutofit/>
          </a:bodyPr>
          <a:lstStyle/>
          <a:p>
            <a:endParaRPr lang="pt-BR" dirty="0"/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8A74557D-D5CA-0983-F2D8-027B41E701A1}"/>
              </a:ext>
            </a:extLst>
          </p:cNvPr>
          <p:cNvSpPr txBox="1"/>
          <p:nvPr/>
        </p:nvSpPr>
        <p:spPr>
          <a:xfrm>
            <a:off x="6173636" y="1254652"/>
            <a:ext cx="5267489" cy="14261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559"/>
              </a:lnSpc>
            </a:pPr>
            <a:endParaRPr/>
          </a:p>
        </p:txBody>
      </p:sp>
      <p:sp>
        <p:nvSpPr>
          <p:cNvPr id="58" name="TextBox 21">
            <a:extLst>
              <a:ext uri="{FF2B5EF4-FFF2-40B4-BE49-F238E27FC236}">
                <a16:creationId xmlns:a16="http://schemas.microsoft.com/office/drawing/2014/main" id="{502DF248-CA58-16CC-1419-E8FBB6175C02}"/>
              </a:ext>
            </a:extLst>
          </p:cNvPr>
          <p:cNvSpPr txBox="1"/>
          <p:nvPr/>
        </p:nvSpPr>
        <p:spPr>
          <a:xfrm>
            <a:off x="7242534" y="1402861"/>
            <a:ext cx="43000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pt-BR" sz="2000" b="1" u="none" strike="noStrik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Gabriel Amaral</a:t>
            </a:r>
            <a:endParaRPr lang="en-US" sz="2000" b="1" u="none" strike="noStrike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TextBox 21">
            <a:extLst>
              <a:ext uri="{FF2B5EF4-FFF2-40B4-BE49-F238E27FC236}">
                <a16:creationId xmlns:a16="http://schemas.microsoft.com/office/drawing/2014/main" id="{8AAD9C35-95A9-6D99-04F2-48598D2D5416}"/>
              </a:ext>
            </a:extLst>
          </p:cNvPr>
          <p:cNvSpPr txBox="1"/>
          <p:nvPr/>
        </p:nvSpPr>
        <p:spPr>
          <a:xfrm>
            <a:off x="7242534" y="1955824"/>
            <a:ext cx="4390666" cy="434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34"/>
              </a:lnSpc>
              <a:spcBef>
                <a:spcPct val="0"/>
              </a:spcBef>
            </a:pPr>
            <a:r>
              <a:rPr lang="en-US" sz="1600" b="1" u="none" strike="noStrike" dirty="0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Bolsa Trampolim</a:t>
            </a:r>
          </a:p>
          <a:p>
            <a:pPr marL="0" lvl="0" indent="0" algn="l">
              <a:lnSpc>
                <a:spcPts val="1134"/>
              </a:lnSpc>
              <a:spcBef>
                <a:spcPct val="0"/>
              </a:spcBef>
            </a:pPr>
            <a:endParaRPr lang="en-US" sz="1600" dirty="0">
              <a:solidFill>
                <a:schemeClr val="bg1"/>
              </a:solidFill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1134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Aluno apoiado</a:t>
            </a:r>
          </a:p>
        </p:txBody>
      </p:sp>
      <p:grpSp>
        <p:nvGrpSpPr>
          <p:cNvPr id="3108" name="Group 3107">
            <a:extLst>
              <a:ext uri="{FF2B5EF4-FFF2-40B4-BE49-F238E27FC236}">
                <a16:creationId xmlns:a16="http://schemas.microsoft.com/office/drawing/2014/main" id="{B93F44FE-8343-6F3A-F874-548BBCF75E00}"/>
              </a:ext>
            </a:extLst>
          </p:cNvPr>
          <p:cNvGrpSpPr/>
          <p:nvPr/>
        </p:nvGrpSpPr>
        <p:grpSpPr>
          <a:xfrm>
            <a:off x="5372224" y="1167809"/>
            <a:ext cx="1377897" cy="1377894"/>
            <a:chOff x="5372224" y="2452135"/>
            <a:chExt cx="1601231" cy="1601228"/>
          </a:xfrm>
        </p:grpSpPr>
        <p:sp>
          <p:nvSpPr>
            <p:cNvPr id="62" name="Freeform 11">
              <a:extLst>
                <a:ext uri="{FF2B5EF4-FFF2-40B4-BE49-F238E27FC236}">
                  <a16:creationId xmlns:a16="http://schemas.microsoft.com/office/drawing/2014/main" id="{F2414277-D3AC-FD8C-BC53-3448484F8255}"/>
                </a:ext>
              </a:extLst>
            </p:cNvPr>
            <p:cNvSpPr/>
            <p:nvPr/>
          </p:nvSpPr>
          <p:spPr>
            <a:xfrm>
              <a:off x="5372224" y="2452135"/>
              <a:ext cx="1601231" cy="1601228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7F7F5"/>
            </a:solidFill>
          </p:spPr>
          <p:txBody>
            <a:bodyPr/>
            <a:lstStyle/>
            <a:p>
              <a:endParaRPr lang="pt-BR"/>
            </a:p>
          </p:txBody>
        </p:sp>
        <p:pic>
          <p:nvPicPr>
            <p:cNvPr id="38" name="btfpPhotoPerson898322" descr="Two women sitting behind a flag&#10;&#10;AI-generated content may be incorrect.">
              <a:extLst>
                <a:ext uri="{FF2B5EF4-FFF2-40B4-BE49-F238E27FC236}">
                  <a16:creationId xmlns:a16="http://schemas.microsoft.com/office/drawing/2014/main" id="{DE572E6E-A79C-1DBE-5723-9388B717388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404446" y="2484398"/>
              <a:ext cx="1536786" cy="1536705"/>
            </a:xfrm>
            <a:prstGeom prst="ellipse">
              <a:avLst/>
            </a:prstGeom>
          </p:spPr>
        </p:pic>
      </p:grpSp>
      <p:sp>
        <p:nvSpPr>
          <p:cNvPr id="3122" name="Freeform 15">
            <a:extLst>
              <a:ext uri="{FF2B5EF4-FFF2-40B4-BE49-F238E27FC236}">
                <a16:creationId xmlns:a16="http://schemas.microsoft.com/office/drawing/2014/main" id="{A78B8FCA-13D2-E583-0D60-0A5A612B1B40}"/>
              </a:ext>
            </a:extLst>
          </p:cNvPr>
          <p:cNvSpPr/>
          <p:nvPr/>
        </p:nvSpPr>
        <p:spPr>
          <a:xfrm>
            <a:off x="218769" y="4469567"/>
            <a:ext cx="1032416" cy="567094"/>
          </a:xfrm>
          <a:custGeom>
            <a:avLst/>
            <a:gdLst/>
            <a:ahLst/>
            <a:cxnLst/>
            <a:rect l="l" t="t" r="r" b="b"/>
            <a:pathLst>
              <a:path w="529793" h="291009">
                <a:moveTo>
                  <a:pt x="0" y="0"/>
                </a:moveTo>
                <a:lnTo>
                  <a:pt x="529793" y="0"/>
                </a:lnTo>
                <a:lnTo>
                  <a:pt x="529793" y="291009"/>
                </a:lnTo>
                <a:lnTo>
                  <a:pt x="0" y="291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3124" name="Picture 3123" descr="A black and white logo&#10;&#10;AI-generated content may be incorrect.">
            <a:extLst>
              <a:ext uri="{FF2B5EF4-FFF2-40B4-BE49-F238E27FC236}">
                <a16:creationId xmlns:a16="http://schemas.microsoft.com/office/drawing/2014/main" id="{B8B03891-2783-8304-DBD0-186886F7C1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422" y="4426286"/>
            <a:ext cx="1497739" cy="748869"/>
          </a:xfrm>
          <a:prstGeom prst="rect">
            <a:avLst/>
          </a:prstGeom>
        </p:spPr>
      </p:pic>
      <p:pic>
        <p:nvPicPr>
          <p:cNvPr id="3126" name="Picture 3125" descr="A black and white logo&#10;&#10;AI-generated content may be incorrect.">
            <a:extLst>
              <a:ext uri="{FF2B5EF4-FFF2-40B4-BE49-F238E27FC236}">
                <a16:creationId xmlns:a16="http://schemas.microsoft.com/office/drawing/2014/main" id="{523E87E1-A671-BAF6-87E8-41F3A84641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34634" y="4521851"/>
            <a:ext cx="1055034" cy="586317"/>
          </a:xfrm>
          <a:prstGeom prst="rect">
            <a:avLst/>
          </a:prstGeom>
        </p:spPr>
      </p:pic>
      <p:sp>
        <p:nvSpPr>
          <p:cNvPr id="25" name="Freeform 4">
            <a:extLst>
              <a:ext uri="{FF2B5EF4-FFF2-40B4-BE49-F238E27FC236}">
                <a16:creationId xmlns:a16="http://schemas.microsoft.com/office/drawing/2014/main" id="{7802DB31-42A8-4CDE-444E-0186B8D806ED}"/>
              </a:ext>
            </a:extLst>
          </p:cNvPr>
          <p:cNvSpPr>
            <a:spLocks/>
          </p:cNvSpPr>
          <p:nvPr/>
        </p:nvSpPr>
        <p:spPr>
          <a:xfrm>
            <a:off x="6173636" y="2740053"/>
            <a:ext cx="5538901" cy="1377894"/>
          </a:xfrm>
          <a:custGeom>
            <a:avLst/>
            <a:gdLst/>
            <a:ahLst/>
            <a:cxnLst/>
            <a:rect l="l" t="t" r="r" b="b"/>
            <a:pathLst>
              <a:path w="2957322" h="800684">
                <a:moveTo>
                  <a:pt x="400342" y="0"/>
                </a:moveTo>
                <a:lnTo>
                  <a:pt x="2556980" y="0"/>
                </a:lnTo>
                <a:cubicBezTo>
                  <a:pt x="2778083" y="0"/>
                  <a:pt x="2957322" y="179239"/>
                  <a:pt x="2957322" y="400342"/>
                </a:cubicBezTo>
                <a:lnTo>
                  <a:pt x="2957322" y="400342"/>
                </a:lnTo>
                <a:cubicBezTo>
                  <a:pt x="2957322" y="506519"/>
                  <a:pt x="2915143" y="608348"/>
                  <a:pt x="2840065" y="683426"/>
                </a:cubicBezTo>
                <a:cubicBezTo>
                  <a:pt x="2764986" y="758505"/>
                  <a:pt x="2663157" y="800684"/>
                  <a:pt x="2556980" y="800684"/>
                </a:cubicBezTo>
                <a:lnTo>
                  <a:pt x="400342" y="800684"/>
                </a:lnTo>
                <a:cubicBezTo>
                  <a:pt x="179239" y="800684"/>
                  <a:pt x="0" y="621444"/>
                  <a:pt x="0" y="400342"/>
                </a:cubicBezTo>
                <a:lnTo>
                  <a:pt x="0" y="400342"/>
                </a:lnTo>
                <a:cubicBezTo>
                  <a:pt x="0" y="179239"/>
                  <a:pt x="179239" y="0"/>
                  <a:pt x="400342" y="0"/>
                </a:cubicBezTo>
                <a:close/>
              </a:path>
            </a:pathLst>
          </a:custGeom>
          <a:solidFill>
            <a:srgbClr val="0C172D"/>
          </a:solidFill>
        </p:spPr>
        <p:txBody>
          <a:bodyPr>
            <a:noAutofit/>
          </a:bodyPr>
          <a:lstStyle/>
          <a:p>
            <a:endParaRPr lang="pt-BR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901DC4B-3BEF-2B15-EC4A-C22A12EDE566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5372224" y="2740053"/>
            <a:ext cx="1335588" cy="1335655"/>
          </a:xfrm>
          <a:prstGeom prst="ellipse">
            <a:avLst/>
          </a:prstGeom>
        </p:spPr>
      </p:pic>
      <p:sp>
        <p:nvSpPr>
          <p:cNvPr id="3081" name="AutoShape 24">
            <a:extLst>
              <a:ext uri="{FF2B5EF4-FFF2-40B4-BE49-F238E27FC236}">
                <a16:creationId xmlns:a16="http://schemas.microsoft.com/office/drawing/2014/main" id="{44B7A425-2006-E610-A289-C08F75E67D7B}"/>
              </a:ext>
            </a:extLst>
          </p:cNvPr>
          <p:cNvSpPr/>
          <p:nvPr/>
        </p:nvSpPr>
        <p:spPr>
          <a:xfrm>
            <a:off x="5489687" y="3599386"/>
            <a:ext cx="0" cy="324525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621ACB5B-751F-7BAE-2EAE-BBE119CEDDE7}"/>
              </a:ext>
            </a:extLst>
          </p:cNvPr>
          <p:cNvSpPr>
            <a:spLocks/>
          </p:cNvSpPr>
          <p:nvPr/>
        </p:nvSpPr>
        <p:spPr>
          <a:xfrm>
            <a:off x="5372224" y="2740053"/>
            <a:ext cx="1335588" cy="1335655"/>
          </a:xfrm>
          <a:custGeom>
            <a:avLst/>
            <a:gdLst/>
            <a:ahLst/>
            <a:cxnLst/>
            <a:rect l="l" t="t" r="r" b="b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F7F7F5"/>
          </a:solidFill>
        </p:spPr>
        <p:txBody>
          <a:bodyPr>
            <a:noAutofit/>
          </a:bodyPr>
          <a:lstStyle/>
          <a:p>
            <a:endParaRPr lang="pt-BR"/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0807DC1D-F0E8-224A-C838-1039A49D4783}"/>
              </a:ext>
            </a:extLst>
          </p:cNvPr>
          <p:cNvSpPr txBox="1"/>
          <p:nvPr/>
        </p:nvSpPr>
        <p:spPr>
          <a:xfrm>
            <a:off x="6173636" y="2826895"/>
            <a:ext cx="5267489" cy="14261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559"/>
              </a:lnSpc>
            </a:pPr>
            <a:endParaRPr/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4ADAFB16-4955-A75E-4BD4-D537205F8054}"/>
              </a:ext>
            </a:extLst>
          </p:cNvPr>
          <p:cNvSpPr txBox="1"/>
          <p:nvPr/>
        </p:nvSpPr>
        <p:spPr>
          <a:xfrm>
            <a:off x="7242534" y="3085222"/>
            <a:ext cx="4300000" cy="172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34"/>
              </a:lnSpc>
              <a:spcBef>
                <a:spcPct val="0"/>
              </a:spcBef>
            </a:pPr>
            <a:r>
              <a:rPr lang="en-US" sz="2000" b="1" u="none" strike="noStrik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Ana Beatriz Godinho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1371212E-2586-F8A5-4736-63D38D8161C9}"/>
              </a:ext>
            </a:extLst>
          </p:cNvPr>
          <p:cNvSpPr txBox="1"/>
          <p:nvPr/>
        </p:nvSpPr>
        <p:spPr>
          <a:xfrm>
            <a:off x="7242534" y="3504078"/>
            <a:ext cx="3760746" cy="434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34"/>
              </a:lnSpc>
              <a:spcBef>
                <a:spcPct val="0"/>
              </a:spcBef>
            </a:pPr>
            <a:r>
              <a:rPr lang="en-US" sz="1600" b="1" u="none" strike="noStrike" dirty="0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Bolsa Social</a:t>
            </a:r>
          </a:p>
          <a:p>
            <a:pPr marL="0" lvl="0" indent="0" algn="l">
              <a:lnSpc>
                <a:spcPts val="1134"/>
              </a:lnSpc>
              <a:spcBef>
                <a:spcPct val="0"/>
              </a:spcBef>
            </a:pPr>
            <a:endParaRPr lang="en-US" sz="1600" dirty="0">
              <a:solidFill>
                <a:schemeClr val="bg1"/>
              </a:solidFill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1134"/>
              </a:lnSpc>
              <a:spcBef>
                <a:spcPct val="0"/>
              </a:spcBef>
            </a:pPr>
            <a:r>
              <a:rPr lang="en-US" sz="1600" dirty="0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Aluna apoiada</a:t>
            </a:r>
            <a:endParaRPr lang="en-US" sz="1600" u="none" strike="noStrike" dirty="0">
              <a:solidFill>
                <a:schemeClr val="bg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409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1282142-965A-070A-8B59-15F6ED27162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53117">
              <a:extLst>
                <a:ext uri="{FF2B5EF4-FFF2-40B4-BE49-F238E27FC236}">
                  <a16:creationId xmlns:a16="http://schemas.microsoft.com/office/drawing/2014/main" id="{47981262-1CBD-4845-BA5D-1D2346BC6B9D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btfpColumnGapBlocker814187">
              <a:extLst>
                <a:ext uri="{FF2B5EF4-FFF2-40B4-BE49-F238E27FC236}">
                  <a16:creationId xmlns:a16="http://schemas.microsoft.com/office/drawing/2014/main" id="{C9EAA37E-7D23-21FD-08A0-268861142B0D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" name="btfpColumnIndicator133573">
              <a:extLst>
                <a:ext uri="{FF2B5EF4-FFF2-40B4-BE49-F238E27FC236}">
                  <a16:creationId xmlns:a16="http://schemas.microsoft.com/office/drawing/2014/main" id="{62EDBAD8-0AF6-627F-1637-F035762F7E92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104002">
              <a:extLst>
                <a:ext uri="{FF2B5EF4-FFF2-40B4-BE49-F238E27FC236}">
                  <a16:creationId xmlns:a16="http://schemas.microsoft.com/office/drawing/2014/main" id="{8A897C8B-85CB-F93A-97CB-1F52D51A21CD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B3579119-1D64-65C7-58F9-6B97BF74F8F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32345">
              <a:extLst>
                <a:ext uri="{FF2B5EF4-FFF2-40B4-BE49-F238E27FC236}">
                  <a16:creationId xmlns:a16="http://schemas.microsoft.com/office/drawing/2014/main" id="{0F72F23B-1BC4-8C87-A4E2-44E82550908B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858371">
              <a:extLst>
                <a:ext uri="{FF2B5EF4-FFF2-40B4-BE49-F238E27FC236}">
                  <a16:creationId xmlns:a16="http://schemas.microsoft.com/office/drawing/2014/main" id="{2BDABC54-8317-9869-A849-8E666683659C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btfpColumnIndicator384938">
              <a:extLst>
                <a:ext uri="{FF2B5EF4-FFF2-40B4-BE49-F238E27FC236}">
                  <a16:creationId xmlns:a16="http://schemas.microsoft.com/office/drawing/2014/main" id="{2F8267DF-2997-5F7D-EC0E-F389EA568BDC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505793">
              <a:extLst>
                <a:ext uri="{FF2B5EF4-FFF2-40B4-BE49-F238E27FC236}">
                  <a16:creationId xmlns:a16="http://schemas.microsoft.com/office/drawing/2014/main" id="{187E6B12-2721-3805-7022-0A608D2CE418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55CFA27A-26BA-A9D2-1F71-B2E4A3EF2650}"/>
              </a:ext>
            </a:extLst>
          </p:cNvPr>
          <p:cNvCxnSpPr/>
          <p:nvPr/>
        </p:nvCxnSpPr>
        <p:spPr>
          <a:xfrm>
            <a:off x="1832881" y="1701800"/>
            <a:ext cx="0" cy="4749800"/>
          </a:xfrm>
          <a:prstGeom prst="line">
            <a:avLst/>
          </a:prstGeom>
          <a:ln w="19050" cap="flat" cmpd="sng" algn="ctr">
            <a:solidFill>
              <a:srgbClr val="0C172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gendaTitle">
            <a:extLst>
              <a:ext uri="{FF2B5EF4-FFF2-40B4-BE49-F238E27FC236}">
                <a16:creationId xmlns:a16="http://schemas.microsoft.com/office/drawing/2014/main" id="{D34CCE79-F9B8-FDE9-3F1D-F526BFDE0B78}"/>
              </a:ext>
            </a:extLst>
          </p:cNvPr>
          <p:cNvSpPr txBox="1"/>
          <p:nvPr/>
        </p:nvSpPr>
        <p:spPr>
          <a:xfrm>
            <a:off x="546100" y="1778000"/>
            <a:ext cx="10160000" cy="235611"/>
          </a:xfrm>
          <a:prstGeom prst="rect">
            <a:avLst/>
          </a:prstGeom>
          <a:noFill/>
        </p:spPr>
        <p:txBody>
          <a:bodyPr vert="horz" lIns="18136" tIns="25226" rIns="72073" bIns="25226" rtlCol="0">
            <a:spAutoFit/>
          </a:bodyPr>
          <a:lstStyle/>
          <a:p>
            <a:r>
              <a:rPr lang="pt-BR" sz="1200" b="1" cap="all" spc="450" dirty="0">
                <a:solidFill>
                  <a:srgbClr val="0C172D"/>
                </a:solidFill>
              </a:rPr>
              <a:t>Agenda</a:t>
            </a:r>
          </a:p>
        </p:txBody>
      </p:sp>
      <p:sp>
        <p:nvSpPr>
          <p:cNvPr id="26" name="AgendaEmphasisBar">
            <a:extLst>
              <a:ext uri="{FF2B5EF4-FFF2-40B4-BE49-F238E27FC236}">
                <a16:creationId xmlns:a16="http://schemas.microsoft.com/office/drawing/2014/main" id="{C0790F2F-367F-878B-209E-D85A1F3B12D5}"/>
              </a:ext>
            </a:extLst>
          </p:cNvPr>
          <p:cNvSpPr/>
          <p:nvPr/>
        </p:nvSpPr>
        <p:spPr>
          <a:xfrm>
            <a:off x="1832881" y="3512821"/>
            <a:ext cx="127000" cy="743179"/>
          </a:xfrm>
          <a:prstGeom prst="rect">
            <a:avLst/>
          </a:prstGeom>
          <a:solidFill>
            <a:srgbClr val="002060"/>
          </a:solidFill>
          <a:ln w="19050" cap="flat" cmpd="sng" algn="ctr">
            <a:solidFill>
              <a:srgbClr val="0C172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FFFF"/>
              </a:solidFill>
            </a:endParaRPr>
          </a:p>
        </p:txBody>
      </p:sp>
      <p:grpSp>
        <p:nvGrpSpPr>
          <p:cNvPr id="27" name="Agenda">
            <a:extLst>
              <a:ext uri="{FF2B5EF4-FFF2-40B4-BE49-F238E27FC236}">
                <a16:creationId xmlns:a16="http://schemas.microsoft.com/office/drawing/2014/main" id="{6EFB96A3-3548-F591-08D6-C8164DC761BB}"/>
              </a:ext>
            </a:extLst>
          </p:cNvPr>
          <p:cNvGrpSpPr/>
          <p:nvPr/>
        </p:nvGrpSpPr>
        <p:grpSpPr>
          <a:xfrm>
            <a:off x="2186652" y="2171700"/>
            <a:ext cx="9446547" cy="4279900"/>
            <a:chOff x="2186652" y="2171700"/>
            <a:chExt cx="9446547" cy="4279900"/>
          </a:xfrm>
        </p:grpSpPr>
        <p:sp>
          <p:nvSpPr>
            <p:cNvPr id="28" name="AgendaTextBox">
              <a:extLst>
                <a:ext uri="{FF2B5EF4-FFF2-40B4-BE49-F238E27FC236}">
                  <a16:creationId xmlns:a16="http://schemas.microsoft.com/office/drawing/2014/main" id="{0A5ED5C8-7F39-8B0E-AB14-3CCAC9CCDCBE}"/>
                </a:ext>
              </a:extLst>
            </p:cNvPr>
            <p:cNvSpPr txBox="1"/>
            <p:nvPr/>
          </p:nvSpPr>
          <p:spPr>
            <a:xfrm>
              <a:off x="2250152" y="2171700"/>
              <a:ext cx="9383047" cy="4279900"/>
            </a:xfrm>
            <a:prstGeom prst="rect">
              <a:avLst/>
            </a:prstGeom>
            <a:noFill/>
          </p:spPr>
          <p:txBody>
            <a:bodyPr vert="horz" wrap="square" rtlCol="0">
              <a:noAutofit/>
            </a:bodyPr>
            <a:lstStyle/>
            <a:p>
              <a:pPr>
                <a:spcBef>
                  <a:spcPts val="3600"/>
                </a:spcBef>
              </a:pPr>
              <a:r>
                <a:rPr lang="en-US" sz="2000" dirty="0" err="1">
                  <a:solidFill>
                    <a:srgbClr val="0C172D"/>
                  </a:solidFill>
                </a:rPr>
                <a:t>Introdu</a:t>
              </a:r>
              <a:r>
                <a:rPr lang="pt-BR" sz="2000" dirty="0" err="1">
                  <a:solidFill>
                    <a:srgbClr val="0C172D"/>
                  </a:solidFill>
                </a:rPr>
                <a:t>ção</a:t>
              </a:r>
              <a:r>
                <a:rPr lang="pt-BR" sz="2000" dirty="0">
                  <a:solidFill>
                    <a:srgbClr val="0C172D"/>
                  </a:solidFill>
                </a:rPr>
                <a:t> do Instituto Reditus</a:t>
              </a:r>
              <a:endParaRPr lang="en-US" sz="2000" dirty="0">
                <a:solidFill>
                  <a:srgbClr val="0C172D"/>
                </a:solidFill>
              </a:endParaRPr>
            </a:p>
            <a:p>
              <a:pPr>
                <a:spcBef>
                  <a:spcPts val="3600"/>
                </a:spcBef>
              </a:pPr>
              <a:r>
                <a:rPr lang="en-US" sz="2000" dirty="0" err="1">
                  <a:solidFill>
                    <a:srgbClr val="0C172D"/>
                  </a:solidFill>
                </a:rPr>
                <a:t>Painel</a:t>
              </a:r>
              <a:r>
                <a:rPr lang="en-US" sz="2000" dirty="0">
                  <a:solidFill>
                    <a:srgbClr val="0C172D"/>
                  </a:solidFill>
                </a:rPr>
                <a:t> | </a:t>
              </a:r>
              <a:r>
                <a:rPr lang="pt-BR" sz="2000" dirty="0">
                  <a:solidFill>
                    <a:srgbClr val="0C172D"/>
                  </a:solidFill>
                </a:rPr>
                <a:t>Projetos apoiados</a:t>
              </a:r>
              <a:endParaRPr lang="en-US" sz="2000" dirty="0">
                <a:solidFill>
                  <a:srgbClr val="0C172D"/>
                </a:solidFill>
              </a:endParaRPr>
            </a:p>
            <a:p>
              <a:pPr>
                <a:spcBef>
                  <a:spcPts val="3600"/>
                </a:spcBef>
              </a:pPr>
              <a:r>
                <a:rPr lang="pt-BR" sz="2000" b="1" dirty="0">
                  <a:solidFill>
                    <a:srgbClr val="0C172D"/>
                  </a:solidFill>
                </a:rPr>
                <a:t>Empreendedorismo, terceiro setor e perspectivas para o </a:t>
              </a:r>
              <a:br>
                <a:rPr lang="pt-BR" sz="2000" b="1" dirty="0">
                  <a:solidFill>
                    <a:srgbClr val="0C172D"/>
                  </a:solidFill>
                </a:rPr>
              </a:br>
              <a:r>
                <a:rPr lang="pt-BR" sz="2000" b="1" dirty="0">
                  <a:solidFill>
                    <a:srgbClr val="0C172D"/>
                  </a:solidFill>
                </a:rPr>
                <a:t>futuro brasileiro</a:t>
              </a:r>
              <a:r>
                <a:rPr lang="en-US" sz="2000" b="1" dirty="0">
                  <a:solidFill>
                    <a:srgbClr val="0C172D"/>
                  </a:solidFill>
                </a:rPr>
                <a:t> | Guilherme Benchimol</a:t>
              </a:r>
              <a:endParaRPr lang="pt-BR" sz="2000" b="1" dirty="0">
                <a:solidFill>
                  <a:srgbClr val="0C172D"/>
                </a:solidFill>
              </a:endParaRPr>
            </a:p>
          </p:txBody>
        </p:sp>
        <p:cxnSp>
          <p:nvCxnSpPr>
            <p:cNvPr id="29" name="AgendaSeparator1">
              <a:extLst>
                <a:ext uri="{FF2B5EF4-FFF2-40B4-BE49-F238E27FC236}">
                  <a16:creationId xmlns:a16="http://schemas.microsoft.com/office/drawing/2014/main" id="{79124B7D-653B-99A6-0BB6-D2B3ED6718F5}"/>
                </a:ext>
              </a:extLst>
            </p:cNvPr>
            <p:cNvCxnSpPr/>
            <p:nvPr/>
          </p:nvCxnSpPr>
          <p:spPr>
            <a:xfrm>
              <a:off x="2186652" y="2750820"/>
              <a:ext cx="4916552" cy="0"/>
            </a:xfrm>
            <a:prstGeom prst="line">
              <a:avLst/>
            </a:prstGeom>
            <a:ln w="9525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AgendaSeparator2">
              <a:extLst>
                <a:ext uri="{FF2B5EF4-FFF2-40B4-BE49-F238E27FC236}">
                  <a16:creationId xmlns:a16="http://schemas.microsoft.com/office/drawing/2014/main" id="{0B5A041B-C171-4E99-B17E-08FB68779D73}"/>
                </a:ext>
              </a:extLst>
            </p:cNvPr>
            <p:cNvCxnSpPr/>
            <p:nvPr/>
          </p:nvCxnSpPr>
          <p:spPr>
            <a:xfrm>
              <a:off x="2186652" y="3512820"/>
              <a:ext cx="4916552" cy="0"/>
            </a:xfrm>
            <a:prstGeom prst="line">
              <a:avLst/>
            </a:prstGeom>
            <a:ln w="9525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1765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73FBBC-C5F1-9612-B64E-DF9FAE0E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CB0D53B-2800-F890-74FE-6F3CBC67D051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04103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484" imgH="486" progId="TCLayout.ActiveDocument.1">
                  <p:embed/>
                </p:oleObj>
              </mc:Choice>
              <mc:Fallback>
                <p:oleObj name="thinkcell Slide" r:id="rId5" imgW="484" imgH="48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B0D53B-2800-F890-74FE-6F3CBC67D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D65FA888-307B-CBEF-F0FC-FF8A6193CD5D}"/>
              </a:ext>
            </a:extLst>
          </p:cNvPr>
          <p:cNvGrpSpPr/>
          <p:nvPr/>
        </p:nvGrpSpPr>
        <p:grpSpPr>
          <a:xfrm>
            <a:off x="6666605" y="872836"/>
            <a:ext cx="5267489" cy="1427260"/>
            <a:chOff x="6173636" y="1893346"/>
            <a:chExt cx="5267489" cy="1514670"/>
          </a:xfrm>
        </p:grpSpPr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57E4BD0D-E13E-3ED9-1DA7-14BB13427AC0}"/>
                </a:ext>
              </a:extLst>
            </p:cNvPr>
            <p:cNvSpPr/>
            <p:nvPr/>
          </p:nvSpPr>
          <p:spPr>
            <a:xfrm>
              <a:off x="6173636" y="1893346"/>
              <a:ext cx="5267489" cy="1426154"/>
            </a:xfrm>
            <a:custGeom>
              <a:avLst/>
              <a:gdLst/>
              <a:ahLst/>
              <a:cxnLst/>
              <a:rect l="l" t="t" r="r" b="b"/>
              <a:pathLst>
                <a:path w="2957322" h="800684">
                  <a:moveTo>
                    <a:pt x="400342" y="0"/>
                  </a:moveTo>
                  <a:lnTo>
                    <a:pt x="2556980" y="0"/>
                  </a:lnTo>
                  <a:cubicBezTo>
                    <a:pt x="2778083" y="0"/>
                    <a:pt x="2957322" y="179239"/>
                    <a:pt x="2957322" y="400342"/>
                  </a:cubicBezTo>
                  <a:lnTo>
                    <a:pt x="2957322" y="400342"/>
                  </a:lnTo>
                  <a:cubicBezTo>
                    <a:pt x="2957322" y="506519"/>
                    <a:pt x="2915143" y="608348"/>
                    <a:pt x="2840065" y="683426"/>
                  </a:cubicBezTo>
                  <a:cubicBezTo>
                    <a:pt x="2764986" y="758505"/>
                    <a:pt x="2663157" y="800684"/>
                    <a:pt x="2556980" y="800684"/>
                  </a:cubicBezTo>
                  <a:lnTo>
                    <a:pt x="400342" y="800684"/>
                  </a:lnTo>
                  <a:cubicBezTo>
                    <a:pt x="179239" y="800684"/>
                    <a:pt x="0" y="621444"/>
                    <a:pt x="0" y="400342"/>
                  </a:cubicBezTo>
                  <a:lnTo>
                    <a:pt x="0" y="400342"/>
                  </a:lnTo>
                  <a:cubicBezTo>
                    <a:pt x="0" y="179239"/>
                    <a:pt x="179239" y="0"/>
                    <a:pt x="400342" y="0"/>
                  </a:cubicBezTo>
                  <a:close/>
                </a:path>
              </a:pathLst>
            </a:custGeom>
            <a:solidFill>
              <a:schemeClr val="tx1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FE425DD5-E557-AF53-39CB-9AA24353BC88}"/>
                </a:ext>
              </a:extLst>
            </p:cNvPr>
            <p:cNvSpPr txBox="1"/>
            <p:nvPr/>
          </p:nvSpPr>
          <p:spPr>
            <a:xfrm>
              <a:off x="6173636" y="1981862"/>
              <a:ext cx="5267489" cy="1426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55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969FDDE0-1B1F-BC2B-37C6-2496A51CB5EB}"/>
                </a:ext>
              </a:extLst>
            </p:cNvPr>
            <p:cNvSpPr txBox="1"/>
            <p:nvPr/>
          </p:nvSpPr>
          <p:spPr>
            <a:xfrm>
              <a:off x="7242534" y="2240189"/>
              <a:ext cx="3222266" cy="1720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134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Open Sans"/>
                  <a:sym typeface="Open Sans"/>
                </a:rPr>
                <a:t>Guilherme Benchimol</a:t>
              </a:r>
            </a:p>
          </p:txBody>
        </p:sp>
        <p:sp>
          <p:nvSpPr>
            <p:cNvPr id="36" name="TextBox 21">
              <a:extLst>
                <a:ext uri="{FF2B5EF4-FFF2-40B4-BE49-F238E27FC236}">
                  <a16:creationId xmlns:a16="http://schemas.microsoft.com/office/drawing/2014/main" id="{890270B5-46CB-D96E-205C-7D67FE71ECA5}"/>
                </a:ext>
              </a:extLst>
            </p:cNvPr>
            <p:cNvSpPr txBox="1"/>
            <p:nvPr/>
          </p:nvSpPr>
          <p:spPr>
            <a:xfrm>
              <a:off x="7242534" y="2659045"/>
              <a:ext cx="3760746" cy="4346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134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Open Sans"/>
                  <a:cs typeface="Open Sans"/>
                  <a:sym typeface="Open Sans"/>
                </a:rPr>
                <a:t>Fundador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Open Sans"/>
                  <a:cs typeface="Open Sans"/>
                  <a:sym typeface="Open Sans"/>
                </a:rPr>
                <a:t> e </a:t>
              </a:r>
              <a:r>
                <a:rPr kumimoji="0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Open Sans"/>
                  <a:cs typeface="Open Sans"/>
                  <a:sym typeface="Open Sans"/>
                </a:rPr>
                <a:t>Conselheiro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Open Sans"/>
                <a:sym typeface="Open Sans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134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Open Sans"/>
                <a:sym typeface="Open Sans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134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Open Sans"/>
                  <a:cs typeface="Open Sans"/>
                  <a:sym typeface="Open Sans"/>
                </a:rPr>
                <a:t>XP Investimentos</a:t>
              </a:r>
            </a:p>
          </p:txBody>
        </p:sp>
      </p:grpSp>
      <p:grpSp>
        <p:nvGrpSpPr>
          <p:cNvPr id="47" name="btfpColumnIndicatorGroup2">
            <a:extLst>
              <a:ext uri="{FF2B5EF4-FFF2-40B4-BE49-F238E27FC236}">
                <a16:creationId xmlns:a16="http://schemas.microsoft.com/office/drawing/2014/main" id="{20BD4B7F-6F7C-9542-1B3D-94A12D06DA7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5" name="btfpColumnGapBlocker128001">
              <a:extLst>
                <a:ext uri="{FF2B5EF4-FFF2-40B4-BE49-F238E27FC236}">
                  <a16:creationId xmlns:a16="http://schemas.microsoft.com/office/drawing/2014/main" id="{1BB147B6-5991-7CF4-3478-C44DA64B5B22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3" name="btfpColumnGapBlocker842534">
              <a:extLst>
                <a:ext uri="{FF2B5EF4-FFF2-40B4-BE49-F238E27FC236}">
                  <a16:creationId xmlns:a16="http://schemas.microsoft.com/office/drawing/2014/main" id="{A39C6C7D-6559-0A9F-87CB-FEE4701F8B46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40" name="btfpColumnIndicator272144">
              <a:extLst>
                <a:ext uri="{FF2B5EF4-FFF2-40B4-BE49-F238E27FC236}">
                  <a16:creationId xmlns:a16="http://schemas.microsoft.com/office/drawing/2014/main" id="{FC76EA5C-F8FC-71E5-9FF8-9D452ECD3B92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btfpColumnIndicator493913">
              <a:extLst>
                <a:ext uri="{FF2B5EF4-FFF2-40B4-BE49-F238E27FC236}">
                  <a16:creationId xmlns:a16="http://schemas.microsoft.com/office/drawing/2014/main" id="{49050D07-2BEF-7489-ED16-F7E338BAB0A5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btfpColumnIndicatorGroup1">
            <a:extLst>
              <a:ext uri="{FF2B5EF4-FFF2-40B4-BE49-F238E27FC236}">
                <a16:creationId xmlns:a16="http://schemas.microsoft.com/office/drawing/2014/main" id="{ED9ABCBD-2339-F897-2064-B8A8EA316A8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4" name="btfpColumnGapBlocker813826">
              <a:extLst>
                <a:ext uri="{FF2B5EF4-FFF2-40B4-BE49-F238E27FC236}">
                  <a16:creationId xmlns:a16="http://schemas.microsoft.com/office/drawing/2014/main" id="{B28A2A25-5CFB-F2D3-A35D-89143E3BF053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1" name="btfpColumnGapBlocker541512">
              <a:extLst>
                <a:ext uri="{FF2B5EF4-FFF2-40B4-BE49-F238E27FC236}">
                  <a16:creationId xmlns:a16="http://schemas.microsoft.com/office/drawing/2014/main" id="{37D88DCF-FB65-A30D-D32F-647F140E6371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39" name="btfpColumnIndicator654313">
              <a:extLst>
                <a:ext uri="{FF2B5EF4-FFF2-40B4-BE49-F238E27FC236}">
                  <a16:creationId xmlns:a16="http://schemas.microsoft.com/office/drawing/2014/main" id="{88E71F5C-F2F6-9C5D-ECD5-CCD16B9180F9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803732">
              <a:extLst>
                <a:ext uri="{FF2B5EF4-FFF2-40B4-BE49-F238E27FC236}">
                  <a16:creationId xmlns:a16="http://schemas.microsoft.com/office/drawing/2014/main" id="{5519F642-294A-EE12-A700-DE1639120F95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EB754-C816-A35E-788B-3222D0BC0B45}"/>
              </a:ext>
            </a:extLst>
          </p:cNvPr>
          <p:cNvSpPr/>
          <p:nvPr/>
        </p:nvSpPr>
        <p:spPr>
          <a:xfrm>
            <a:off x="0" y="-69266"/>
            <a:ext cx="4206238" cy="6995846"/>
          </a:xfrm>
          <a:prstGeom prst="rect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Reditus </a:t>
            </a:r>
            <a:r>
              <a:rPr kumimoji="0" lang="pt-B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Talks</a:t>
            </a:r>
            <a:r>
              <a:rPr kumimoji="0" lang="pt-BR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Painel</a:t>
            </a:r>
            <a:endParaRPr kumimoji="0" lang="pt-BR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" name="Freeform 15">
            <a:extLst>
              <a:ext uri="{FF2B5EF4-FFF2-40B4-BE49-F238E27FC236}">
                <a16:creationId xmlns:a16="http://schemas.microsoft.com/office/drawing/2014/main" id="{F367F82B-991E-B792-786B-C1B142EEAED2}"/>
              </a:ext>
            </a:extLst>
          </p:cNvPr>
          <p:cNvSpPr/>
          <p:nvPr/>
        </p:nvSpPr>
        <p:spPr>
          <a:xfrm>
            <a:off x="218769" y="2578359"/>
            <a:ext cx="1032416" cy="567094"/>
          </a:xfrm>
          <a:custGeom>
            <a:avLst/>
            <a:gdLst/>
            <a:ahLst/>
            <a:cxnLst/>
            <a:rect l="l" t="t" r="r" b="b"/>
            <a:pathLst>
              <a:path w="529793" h="291009">
                <a:moveTo>
                  <a:pt x="0" y="0"/>
                </a:moveTo>
                <a:lnTo>
                  <a:pt x="529793" y="0"/>
                </a:lnTo>
                <a:lnTo>
                  <a:pt x="529793" y="291009"/>
                </a:lnTo>
                <a:lnTo>
                  <a:pt x="0" y="2910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0" name="btfpColumnHeaderBox797981">
            <a:extLst>
              <a:ext uri="{FF2B5EF4-FFF2-40B4-BE49-F238E27FC236}">
                <a16:creationId xmlns:a16="http://schemas.microsoft.com/office/drawing/2014/main" id="{47A64CC5-71EC-912A-81A8-799CCF7B0AC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18769" y="3913934"/>
            <a:ext cx="1795044" cy="285432"/>
            <a:chOff x="354025" y="2459919"/>
            <a:chExt cx="11279175" cy="285432"/>
          </a:xfrm>
        </p:grpSpPr>
        <p:sp>
          <p:nvSpPr>
            <p:cNvPr id="48" name="btfpColumnHeaderBoxText797981">
              <a:extLst>
                <a:ext uri="{FF2B5EF4-FFF2-40B4-BE49-F238E27FC236}">
                  <a16:creationId xmlns:a16="http://schemas.microsoft.com/office/drawing/2014/main" id="{ED5E4902-EC59-8A85-1155-5FEBBAFB20C5}"/>
                </a:ext>
              </a:extLst>
            </p:cNvPr>
            <p:cNvSpPr txBox="1"/>
            <p:nvPr/>
          </p:nvSpPr>
          <p:spPr>
            <a:xfrm>
              <a:off x="354025" y="2459919"/>
              <a:ext cx="11279175" cy="285432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Faça sua pergunta!</a:t>
              </a:r>
            </a:p>
          </p:txBody>
        </p:sp>
        <p:cxnSp>
          <p:nvCxnSpPr>
            <p:cNvPr id="49" name="btfpColumnHeaderBoxLine797981">
              <a:extLst>
                <a:ext uri="{FF2B5EF4-FFF2-40B4-BE49-F238E27FC236}">
                  <a16:creationId xmlns:a16="http://schemas.microsoft.com/office/drawing/2014/main" id="{C9003FE2-6378-680B-FDD6-41340445A1B3}"/>
                </a:ext>
              </a:extLst>
            </p:cNvPr>
            <p:cNvCxnSpPr/>
            <p:nvPr/>
          </p:nvCxnSpPr>
          <p:spPr>
            <a:xfrm>
              <a:off x="354025" y="2745351"/>
              <a:ext cx="11279175" cy="0"/>
            </a:xfrm>
            <a:prstGeom prst="line">
              <a:avLst/>
            </a:prstGeom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456E50DA-7080-908A-E1BC-7C75253ACD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69" y="4334312"/>
            <a:ext cx="1795044" cy="1876145"/>
          </a:xfrm>
          <a:prstGeom prst="rect">
            <a:avLst/>
          </a:prstGeom>
        </p:spPr>
      </p:pic>
      <p:pic>
        <p:nvPicPr>
          <p:cNvPr id="1026" name="Picture 2" descr="Benchimol: Empreendedorimo É Saída para Geração De Renda e Emprego">
            <a:extLst>
              <a:ext uri="{FF2B5EF4-FFF2-40B4-BE49-F238E27FC236}">
                <a16:creationId xmlns:a16="http://schemas.microsoft.com/office/drawing/2014/main" id="{EB538320-A71C-B7D3-A0E8-4D1A5A51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873" y="265944"/>
            <a:ext cx="2409181" cy="240918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mmentBox">
            <a:extLst>
              <a:ext uri="{FF2B5EF4-FFF2-40B4-BE49-F238E27FC236}">
                <a16:creationId xmlns:a16="http://schemas.microsoft.com/office/drawing/2014/main" id="{58D636B1-A165-D31B-65C9-B81E08AE9CC7}"/>
              </a:ext>
            </a:extLst>
          </p:cNvPr>
          <p:cNvSpPr/>
          <p:nvPr/>
        </p:nvSpPr>
        <p:spPr>
          <a:xfrm>
            <a:off x="273050" y="4414071"/>
            <a:ext cx="2222500" cy="1016000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CC7EAE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r>
              <a:rPr lang="pt-BR" sz="1200" b="1" dirty="0">
                <a:solidFill>
                  <a:srgbClr val="FFFFFF"/>
                </a:solidFill>
                <a:latin typeface="Arial" panose="020B0604020202020204" pitchFamily="34" charset="0"/>
              </a:rPr>
              <a:t>atualizar</a:t>
            </a:r>
          </a:p>
        </p:txBody>
      </p:sp>
      <p:pic>
        <p:nvPicPr>
          <p:cNvPr id="1030" name="Picture 6" descr="Mundo Das Marcas: XP">
            <a:extLst>
              <a:ext uri="{FF2B5EF4-FFF2-40B4-BE49-F238E27FC236}">
                <a16:creationId xmlns:a16="http://schemas.microsoft.com/office/drawing/2014/main" id="{257DFF14-3B7C-DE17-449E-EB0A9491F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16" y="2624135"/>
            <a:ext cx="630104" cy="56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Pergunta 1: Empreendedorismo">
            <a:extLst>
              <a:ext uri="{FF2B5EF4-FFF2-40B4-BE49-F238E27FC236}">
                <a16:creationId xmlns:a16="http://schemas.microsoft.com/office/drawing/2014/main" id="{7B5BAB29-3E89-42BA-B2C5-D13222998AB6}"/>
              </a:ext>
            </a:extLst>
          </p:cNvPr>
          <p:cNvGrpSpPr/>
          <p:nvPr/>
        </p:nvGrpSpPr>
        <p:grpSpPr>
          <a:xfrm>
            <a:off x="4846320" y="2697480"/>
            <a:ext cx="6766560" cy="1005840"/>
            <a:chOff x="4846320" y="2697480"/>
            <a:chExt cx="6766560" cy="1005840"/>
          </a:xfrm>
        </p:grpSpPr>
        <p:sp>
          <p:nvSpPr>
            <p:cNvPr id="23" name="Barra">
              <a:extLst>
                <a:ext uri="{FF2B5EF4-FFF2-40B4-BE49-F238E27FC236}">
                  <a16:creationId xmlns:a16="http://schemas.microsoft.com/office/drawing/2014/main" id="{B53FCA5E-8F93-1837-962A-3F64DCDA6026}"/>
                </a:ext>
              </a:extLst>
            </p:cNvPr>
            <p:cNvSpPr/>
            <p:nvPr/>
          </p:nvSpPr>
          <p:spPr>
            <a:xfrm>
              <a:off x="4846320" y="2697480"/>
              <a:ext cx="64008" cy="1005840"/>
            </a:xfrm>
            <a:prstGeom prst="rect">
              <a:avLst/>
            </a:prstGeom>
            <a:solidFill>
              <a:srgbClr val="0C1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o">
              <a:extLst>
                <a:ext uri="{FF2B5EF4-FFF2-40B4-BE49-F238E27FC236}">
                  <a16:creationId xmlns:a16="http://schemas.microsoft.com/office/drawing/2014/main" id="{207F2ACA-1AD1-3F01-4CF3-166FF172CC68}"/>
                </a:ext>
              </a:extLst>
            </p:cNvPr>
            <p:cNvSpPr txBox="1"/>
            <p:nvPr/>
          </p:nvSpPr>
          <p:spPr>
            <a:xfrm>
              <a:off x="5120640" y="2697480"/>
              <a:ext cx="649224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spcBef>
                  <a:spcPts val="0"/>
                </a:spcBef>
                <a:spcAft>
                  <a:spcPts val="500"/>
                </a:spcAft>
              </a:pPr>
              <a:r>
                <a:rPr sz="1200" b="1">
                  <a:solidFill>
                    <a:srgbClr val="5B6B85"/>
                  </a:solidFill>
                </a:rPr>
                <a:t>EMPREENDEDORISMO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0C172D"/>
                  </a:solidFill>
                </a:rPr>
                <a:t>O que move alguém a construir algo</a:t>
              </a:r>
              <a:br/>
              <a:r>
                <a:rPr sz="1900" b="1">
                  <a:solidFill>
                    <a:srgbClr val="0C172D"/>
                  </a:solidFill>
                </a:rPr>
                <a:t>maior do que si mesmo?</a:t>
              </a:r>
            </a:p>
          </p:txBody>
        </p:sp>
      </p:grpSp>
      <p:grpSp>
        <p:nvGrpSpPr>
          <p:cNvPr id="26" name="Pergunta 2: Terceiro Setor">
            <a:extLst>
              <a:ext uri="{FF2B5EF4-FFF2-40B4-BE49-F238E27FC236}">
                <a16:creationId xmlns:a16="http://schemas.microsoft.com/office/drawing/2014/main" id="{8362A20C-8811-3F72-6E84-A11BA413C334}"/>
              </a:ext>
            </a:extLst>
          </p:cNvPr>
          <p:cNvGrpSpPr/>
          <p:nvPr/>
        </p:nvGrpSpPr>
        <p:grpSpPr>
          <a:xfrm>
            <a:off x="4846320" y="3959352"/>
            <a:ext cx="6766560" cy="1005840"/>
            <a:chOff x="4846320" y="3959352"/>
            <a:chExt cx="6766560" cy="1005840"/>
          </a:xfrm>
        </p:grpSpPr>
        <p:sp>
          <p:nvSpPr>
            <p:cNvPr id="27" name="Barra">
              <a:extLst>
                <a:ext uri="{FF2B5EF4-FFF2-40B4-BE49-F238E27FC236}">
                  <a16:creationId xmlns:a16="http://schemas.microsoft.com/office/drawing/2014/main" id="{6756EB22-7D6B-29B6-4B03-356DA52147A5}"/>
                </a:ext>
              </a:extLst>
            </p:cNvPr>
            <p:cNvSpPr/>
            <p:nvPr/>
          </p:nvSpPr>
          <p:spPr>
            <a:xfrm>
              <a:off x="4846320" y="3959352"/>
              <a:ext cx="64008" cy="1005840"/>
            </a:xfrm>
            <a:prstGeom prst="rect">
              <a:avLst/>
            </a:prstGeom>
            <a:solidFill>
              <a:srgbClr val="0C1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o">
              <a:extLst>
                <a:ext uri="{FF2B5EF4-FFF2-40B4-BE49-F238E27FC236}">
                  <a16:creationId xmlns:a16="http://schemas.microsoft.com/office/drawing/2014/main" id="{C518245C-3CD0-6605-73DA-BB44629993FB}"/>
                </a:ext>
              </a:extLst>
            </p:cNvPr>
            <p:cNvSpPr txBox="1"/>
            <p:nvPr/>
          </p:nvSpPr>
          <p:spPr>
            <a:xfrm>
              <a:off x="5120640" y="3959352"/>
              <a:ext cx="649224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spcBef>
                  <a:spcPts val="0"/>
                </a:spcBef>
                <a:spcAft>
                  <a:spcPts val="500"/>
                </a:spcAft>
              </a:pPr>
              <a:r>
                <a:rPr sz="1200" b="1">
                  <a:solidFill>
                    <a:srgbClr val="5B6B85"/>
                  </a:solidFill>
                </a:rPr>
                <a:t>TERCEIRO SETOR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0C172D"/>
                  </a:solidFill>
                </a:rPr>
                <a:t>O que o terceiro setor e a iniciativa privada podem construir juntos que nenhum dos dois faria sozinho?</a:t>
              </a:r>
            </a:p>
          </p:txBody>
        </p:sp>
      </p:grpSp>
      <p:grpSp>
        <p:nvGrpSpPr>
          <p:cNvPr id="29" name="Pergunta 3: Futuro Brasileiro">
            <a:extLst>
              <a:ext uri="{FF2B5EF4-FFF2-40B4-BE49-F238E27FC236}">
                <a16:creationId xmlns:a16="http://schemas.microsoft.com/office/drawing/2014/main" id="{8F2C5EB9-668E-60FE-30E8-EB5B66981B59}"/>
              </a:ext>
            </a:extLst>
          </p:cNvPr>
          <p:cNvGrpSpPr/>
          <p:nvPr/>
        </p:nvGrpSpPr>
        <p:grpSpPr>
          <a:xfrm>
            <a:off x="4846320" y="5221224"/>
            <a:ext cx="6766560" cy="1005840"/>
            <a:chOff x="4846320" y="5221224"/>
            <a:chExt cx="6766560" cy="1005840"/>
          </a:xfrm>
        </p:grpSpPr>
        <p:sp>
          <p:nvSpPr>
            <p:cNvPr id="31" name="Barra">
              <a:extLst>
                <a:ext uri="{FF2B5EF4-FFF2-40B4-BE49-F238E27FC236}">
                  <a16:creationId xmlns:a16="http://schemas.microsoft.com/office/drawing/2014/main" id="{0AFB91E4-B971-DCBD-4EFB-AB7E8FB96CAA}"/>
                </a:ext>
              </a:extLst>
            </p:cNvPr>
            <p:cNvSpPr/>
            <p:nvPr/>
          </p:nvSpPr>
          <p:spPr>
            <a:xfrm>
              <a:off x="4846320" y="5221224"/>
              <a:ext cx="64008" cy="1005840"/>
            </a:xfrm>
            <a:prstGeom prst="rect">
              <a:avLst/>
            </a:prstGeom>
            <a:solidFill>
              <a:srgbClr val="0C1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o">
              <a:extLst>
                <a:ext uri="{FF2B5EF4-FFF2-40B4-BE49-F238E27FC236}">
                  <a16:creationId xmlns:a16="http://schemas.microsoft.com/office/drawing/2014/main" id="{F2547E83-DD7F-CC26-7732-24A42B11905B}"/>
                </a:ext>
              </a:extLst>
            </p:cNvPr>
            <p:cNvSpPr txBox="1"/>
            <p:nvPr/>
          </p:nvSpPr>
          <p:spPr>
            <a:xfrm>
              <a:off x="5120640" y="5221224"/>
              <a:ext cx="649224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spcBef>
                  <a:spcPts val="0"/>
                </a:spcBef>
                <a:spcAft>
                  <a:spcPts val="500"/>
                </a:spcAft>
              </a:pPr>
              <a:r>
                <a:rPr sz="1200" b="1">
                  <a:solidFill>
                    <a:srgbClr val="5B6B85"/>
                  </a:solidFill>
                </a:rPr>
                <a:t>FUTURO BRASILEIRO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0C172D"/>
                  </a:solidFill>
                </a:rPr>
                <a:t>Que Brasil queremos deixar para a próxima geração, e qual é o nosso papel nisso?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8491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FFFB-6C51-9938-9715-1522BACA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D17120E-66D9-B942-9D9D-A1E67089BAF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9019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404" imgH="405" progId="TCLayout.ActiveDocument.1">
                  <p:embed/>
                </p:oleObj>
              </mc:Choice>
              <mc:Fallback>
                <p:oleObj name="thinkcell Slide" r:id="rId14" imgW="404" imgH="40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DA4B7C8-D007-4D68-AA57-6FEBCBB123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35F2C78D-08D6-517F-F816-135CED87C14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2" name="btfpColumnGapBlocker345531">
              <a:extLst>
                <a:ext uri="{FF2B5EF4-FFF2-40B4-BE49-F238E27FC236}">
                  <a16:creationId xmlns:a16="http://schemas.microsoft.com/office/drawing/2014/main" id="{70582C09-3920-63FC-4A72-DAAE8C86C79F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btfpColumnGapBlocker699344">
              <a:extLst>
                <a:ext uri="{FF2B5EF4-FFF2-40B4-BE49-F238E27FC236}">
                  <a16:creationId xmlns:a16="http://schemas.microsoft.com/office/drawing/2014/main" id="{DD7748CC-7C11-9B7D-1C1A-CE2F3E70CD27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btfpColumnIndicator903710">
              <a:extLst>
                <a:ext uri="{FF2B5EF4-FFF2-40B4-BE49-F238E27FC236}">
                  <a16:creationId xmlns:a16="http://schemas.microsoft.com/office/drawing/2014/main" id="{9D95EFD6-76BA-7807-5D1E-911C00DA5967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474090">
              <a:extLst>
                <a:ext uri="{FF2B5EF4-FFF2-40B4-BE49-F238E27FC236}">
                  <a16:creationId xmlns:a16="http://schemas.microsoft.com/office/drawing/2014/main" id="{8F23C180-9E62-2809-895F-239A2B6D8751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DA115AE9-675F-3717-17BD-0D24A28F32C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0" name="btfpColumnGapBlocker402593">
              <a:extLst>
                <a:ext uri="{FF2B5EF4-FFF2-40B4-BE49-F238E27FC236}">
                  <a16:creationId xmlns:a16="http://schemas.microsoft.com/office/drawing/2014/main" id="{2E962232-326D-0A52-9D99-85ED70B1E08C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btfpColumnGapBlocker357119">
              <a:extLst>
                <a:ext uri="{FF2B5EF4-FFF2-40B4-BE49-F238E27FC236}">
                  <a16:creationId xmlns:a16="http://schemas.microsoft.com/office/drawing/2014/main" id="{487F0AF3-BE50-2085-0292-680C2A5D3FF1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" name="btfpColumnIndicator196116">
              <a:extLst>
                <a:ext uri="{FF2B5EF4-FFF2-40B4-BE49-F238E27FC236}">
                  <a16:creationId xmlns:a16="http://schemas.microsoft.com/office/drawing/2014/main" id="{507895F2-FF66-A7CB-9BFD-6E26792773D2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464293">
              <a:extLst>
                <a:ext uri="{FF2B5EF4-FFF2-40B4-BE49-F238E27FC236}">
                  <a16:creationId xmlns:a16="http://schemas.microsoft.com/office/drawing/2014/main" id="{E071ACF4-1FCD-0E33-0A24-E0951C9DF578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ounded Rectangle 63">
            <a:extLst>
              <a:ext uri="{FF2B5EF4-FFF2-40B4-BE49-F238E27FC236}">
                <a16:creationId xmlns:a16="http://schemas.microsoft.com/office/drawing/2014/main" id="{ED53F7C1-1248-DB03-9A9E-0B260E9EE3D8}"/>
              </a:ext>
            </a:extLst>
          </p:cNvPr>
          <p:cNvSpPr>
            <a:spLocks/>
          </p:cNvSpPr>
          <p:nvPr/>
        </p:nvSpPr>
        <p:spPr>
          <a:xfrm rot="10800000" flipV="1">
            <a:off x="6194404" y="1125440"/>
            <a:ext cx="5544612" cy="765757"/>
          </a:xfrm>
          <a:prstGeom prst="roundRect">
            <a:avLst>
              <a:gd name="adj" fmla="val 11522"/>
            </a:avLst>
          </a:prstGeom>
          <a:solidFill>
            <a:srgbClr val="034B6F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D00"/>
              </a:buClr>
              <a:buSzTx/>
              <a:buFontTx/>
              <a:buNone/>
              <a:tabLst/>
              <a:defRPr/>
            </a:pPr>
            <a:endParaRPr kumimoji="0" lang="pt-BR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3" name="Rounded Rectangle 63">
            <a:extLst>
              <a:ext uri="{FF2B5EF4-FFF2-40B4-BE49-F238E27FC236}">
                <a16:creationId xmlns:a16="http://schemas.microsoft.com/office/drawing/2014/main" id="{B3538F23-3B24-B8CC-0EBE-579888BB63EE}"/>
              </a:ext>
            </a:extLst>
          </p:cNvPr>
          <p:cNvSpPr>
            <a:spLocks/>
          </p:cNvSpPr>
          <p:nvPr/>
        </p:nvSpPr>
        <p:spPr>
          <a:xfrm rot="10800000" flipV="1">
            <a:off x="450179" y="1125440"/>
            <a:ext cx="5544612" cy="765757"/>
          </a:xfrm>
          <a:prstGeom prst="roundRect">
            <a:avLst>
              <a:gd name="adj" fmla="val 11522"/>
            </a:avLst>
          </a:prstGeom>
          <a:solidFill>
            <a:srgbClr val="034B6F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D00"/>
              </a:buClr>
              <a:buSzTx/>
              <a:buFontTx/>
              <a:buNone/>
              <a:tabLst/>
              <a:defRPr/>
            </a:pPr>
            <a:endParaRPr kumimoji="0" lang="pt-BR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Itau Display Pro" panose="020B0503020204020204" pitchFamily="34" charset="0"/>
              <a:sym typeface=""/>
            </a:endParaRPr>
          </a:p>
        </p:txBody>
      </p:sp>
      <p:sp>
        <p:nvSpPr>
          <p:cNvPr id="4" name="Retângulo Arredondado 64">
            <a:extLst>
              <a:ext uri="{FF2B5EF4-FFF2-40B4-BE49-F238E27FC236}">
                <a16:creationId xmlns:a16="http://schemas.microsoft.com/office/drawing/2014/main" id="{46090E13-C813-02F4-81F4-09015002A35F}"/>
              </a:ext>
            </a:extLst>
          </p:cNvPr>
          <p:cNvSpPr>
            <a:spLocks/>
          </p:cNvSpPr>
          <p:nvPr/>
        </p:nvSpPr>
        <p:spPr>
          <a:xfrm>
            <a:off x="450179" y="1610801"/>
            <a:ext cx="11571775" cy="4761155"/>
          </a:xfrm>
          <a:prstGeom prst="roundRect">
            <a:avLst>
              <a:gd name="adj" fmla="val 2169"/>
            </a:avLst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Retângulo Arredondado 64">
            <a:extLst>
              <a:ext uri="{FF2B5EF4-FFF2-40B4-BE49-F238E27FC236}">
                <a16:creationId xmlns:a16="http://schemas.microsoft.com/office/drawing/2014/main" id="{6F6C6028-27CF-C2EE-2848-5A48B40A39B3}"/>
              </a:ext>
            </a:extLst>
          </p:cNvPr>
          <p:cNvSpPr>
            <a:spLocks/>
          </p:cNvSpPr>
          <p:nvPr/>
        </p:nvSpPr>
        <p:spPr>
          <a:xfrm>
            <a:off x="6210360" y="1610801"/>
            <a:ext cx="5811593" cy="4761155"/>
          </a:xfrm>
          <a:prstGeom prst="roundRect">
            <a:avLst>
              <a:gd name="adj" fmla="val 2169"/>
            </a:avLst>
          </a:prstGeom>
          <a:solidFill>
            <a:schemeClr val="bg1"/>
          </a:solidFill>
          <a:ln w="6350" cap="sq" cmpd="sng" algn="ctr">
            <a:noFill/>
            <a:prstDash val="solid"/>
            <a:miter lim="800000"/>
          </a:ln>
          <a:effectLst>
            <a:outerShdw blurRad="139700" sx="101000" sy="101000" algn="ctr" rotWithShape="0">
              <a:prstClr val="black">
                <a:alpha val="23000"/>
              </a:prstClr>
            </a:outerShdw>
          </a:effectLst>
        </p:spPr>
        <p:txBody>
          <a:bodyPr rot="0" spcFirstLastPara="0" vertOverflow="overflow" horzOverflow="overflow" vert="horz" wrap="square" lIns="72000" tIns="0" rIns="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AA6AFF8E-CC2F-B4BD-76FD-A854D6ED6507}"/>
              </a:ext>
            </a:extLst>
          </p:cNvPr>
          <p:cNvSpPr/>
          <p:nvPr/>
        </p:nvSpPr>
        <p:spPr>
          <a:xfrm>
            <a:off x="9190100" y="1706936"/>
            <a:ext cx="2699980" cy="4556813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  <a:effectLst>
            <a:outerShdw blurRad="914201" dist="50800" dir="5400000" algn="ctr" rotWithShape="0">
              <a:srgbClr val="000000">
                <a:alpha val="2248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pt-BR" sz="160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A02BEF-4253-3D9F-7892-C2EE4683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pt-BR" sz="2000" dirty="0"/>
              <a:t>Nosso sonho é crescer de R$24M para +R$100M e fazer muito mais pela UFRJ e pelo Brasil</a:t>
            </a:r>
          </a:p>
        </p:txBody>
      </p:sp>
      <p:sp>
        <p:nvSpPr>
          <p:cNvPr id="1071" name="Espaço Reservado para Texto 1070">
            <a:extLst>
              <a:ext uri="{FF2B5EF4-FFF2-40B4-BE49-F238E27FC236}">
                <a16:creationId xmlns:a16="http://schemas.microsoft.com/office/drawing/2014/main" id="{1E3467C1-69C6-8DFE-DABD-8C30C1CE4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Google Shape;297;p10">
            <a:extLst>
              <a:ext uri="{FF2B5EF4-FFF2-40B4-BE49-F238E27FC236}">
                <a16:creationId xmlns:a16="http://schemas.microsoft.com/office/drawing/2014/main" id="{9193C3DB-D628-FAFD-39BE-49F78BA76C10}"/>
              </a:ext>
            </a:extLst>
          </p:cNvPr>
          <p:cNvSpPr txBox="1"/>
          <p:nvPr/>
        </p:nvSpPr>
        <p:spPr>
          <a:xfrm>
            <a:off x="554736" y="1255680"/>
            <a:ext cx="5974108" cy="22897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93000"/>
              </a:lnSpc>
              <a:spcBef>
                <a:spcPct val="0"/>
              </a:spcBef>
              <a:buNone/>
              <a:defRPr sz="2000" b="1" spc="0" baseline="0">
                <a:ln w="6350" cap="flat">
                  <a:noFill/>
                  <a:miter lim="800000"/>
                </a:ln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PT" sz="1600">
                <a:solidFill>
                  <a:schemeClr val="bg1"/>
                </a:solidFill>
                <a:sym typeface="Arial"/>
              </a:rPr>
              <a:t>Com isso, será possível crescer os programas atuais...</a:t>
            </a:r>
            <a:endParaRPr sz="1600">
              <a:solidFill>
                <a:schemeClr val="bg1"/>
              </a:solidFill>
              <a:sym typeface="Arial"/>
            </a:endParaRPr>
          </a:p>
        </p:txBody>
      </p:sp>
      <p:sp>
        <p:nvSpPr>
          <p:cNvPr id="1059" name="Google Shape;297;p10">
            <a:extLst>
              <a:ext uri="{FF2B5EF4-FFF2-40B4-BE49-F238E27FC236}">
                <a16:creationId xmlns:a16="http://schemas.microsoft.com/office/drawing/2014/main" id="{DF73B881-9B49-3EC6-E1DD-30A5C774F5AB}"/>
              </a:ext>
            </a:extLst>
          </p:cNvPr>
          <p:cNvSpPr txBox="1"/>
          <p:nvPr/>
        </p:nvSpPr>
        <p:spPr>
          <a:xfrm>
            <a:off x="6292649" y="1255680"/>
            <a:ext cx="5974108" cy="22897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93000"/>
              </a:lnSpc>
              <a:spcBef>
                <a:spcPct val="0"/>
              </a:spcBef>
              <a:buNone/>
              <a:defRPr sz="2000" b="1" spc="0" baseline="0">
                <a:ln w="6350" cap="flat">
                  <a:noFill/>
                  <a:miter lim="800000"/>
                </a:ln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PT" sz="1600" dirty="0">
                <a:solidFill>
                  <a:schemeClr val="bg1"/>
                </a:solidFill>
                <a:sym typeface="Arial"/>
              </a:rPr>
              <a:t>... e criar ainda mais novos programas</a:t>
            </a:r>
            <a:endParaRPr sz="1600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064" name="Retângulo 1063">
            <a:extLst>
              <a:ext uri="{FF2B5EF4-FFF2-40B4-BE49-F238E27FC236}">
                <a16:creationId xmlns:a16="http://schemas.microsoft.com/office/drawing/2014/main" id="{FA506F05-86BA-FBB9-6864-C0A03DC5A787}"/>
              </a:ext>
            </a:extLst>
          </p:cNvPr>
          <p:cNvSpPr/>
          <p:nvPr/>
        </p:nvSpPr>
        <p:spPr>
          <a:xfrm>
            <a:off x="6278105" y="1706936"/>
            <a:ext cx="2699980" cy="4556813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  <a:effectLst>
            <a:outerShdw blurRad="914201" dist="50800" dir="5400000" algn="ctr" rotWithShape="0">
              <a:srgbClr val="000000">
                <a:alpha val="2248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pt-BR" sz="1600">
              <a:solidFill>
                <a:schemeClr val="tx1"/>
              </a:solidFill>
            </a:endParaRPr>
          </a:p>
        </p:txBody>
      </p:sp>
      <p:pic>
        <p:nvPicPr>
          <p:cNvPr id="35" name="Picture 34" descr="A building with trees and a person walking&#10;&#10;AI-generated content may be incorrect.">
            <a:extLst>
              <a:ext uri="{FF2B5EF4-FFF2-40B4-BE49-F238E27FC236}">
                <a16:creationId xmlns:a16="http://schemas.microsoft.com/office/drawing/2014/main" id="{B4446494-CC3D-750E-B7BF-30C01CB7ADA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9106"/>
          <a:stretch>
            <a:fillRect/>
          </a:stretch>
        </p:blipFill>
        <p:spPr>
          <a:xfrm>
            <a:off x="6292647" y="1711762"/>
            <a:ext cx="2688336" cy="1920626"/>
          </a:xfrm>
          <a:prstGeom prst="rect">
            <a:avLst/>
          </a:prstGeom>
        </p:spPr>
      </p:pic>
      <p:sp>
        <p:nvSpPr>
          <p:cNvPr id="1066" name="Retângulo 1065">
            <a:extLst>
              <a:ext uri="{FF2B5EF4-FFF2-40B4-BE49-F238E27FC236}">
                <a16:creationId xmlns:a16="http://schemas.microsoft.com/office/drawing/2014/main" id="{D64365EF-0946-A844-CF22-5A0A8F5C023A}"/>
              </a:ext>
            </a:extLst>
          </p:cNvPr>
          <p:cNvSpPr/>
          <p:nvPr/>
        </p:nvSpPr>
        <p:spPr>
          <a:xfrm>
            <a:off x="6292647" y="1711762"/>
            <a:ext cx="2682347" cy="1920630"/>
          </a:xfrm>
          <a:prstGeom prst="rect">
            <a:avLst/>
          </a:prstGeom>
          <a:gradFill>
            <a:gsLst>
              <a:gs pos="21000">
                <a:srgbClr val="000000">
                  <a:alpha val="15000"/>
                </a:srgbClr>
              </a:gs>
              <a:gs pos="0">
                <a:schemeClr val="tx1">
                  <a:alpha val="28000"/>
                </a:schemeClr>
              </a:gs>
              <a:gs pos="75000">
                <a:schemeClr val="tx1">
                  <a:alpha val="28318"/>
                </a:schemeClr>
              </a:gs>
              <a:gs pos="100000">
                <a:schemeClr val="tx1">
                  <a:alpha val="78000"/>
                </a:schemeClr>
              </a:gs>
            </a:gsLst>
            <a:lin ang="540000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pt-BR" sz="1600" err="1">
              <a:solidFill>
                <a:schemeClr val="bg1"/>
              </a:solidFill>
            </a:endParaRPr>
          </a:p>
        </p:txBody>
      </p:sp>
      <p:sp>
        <p:nvSpPr>
          <p:cNvPr id="1067" name="CaixaDeTexto 1066">
            <a:extLst>
              <a:ext uri="{FF2B5EF4-FFF2-40B4-BE49-F238E27FC236}">
                <a16:creationId xmlns:a16="http://schemas.microsoft.com/office/drawing/2014/main" id="{5EE7F688-B386-A5FB-7C9D-C8D8AC6C3FA7}"/>
              </a:ext>
            </a:extLst>
          </p:cNvPr>
          <p:cNvSpPr txBox="1"/>
          <p:nvPr/>
        </p:nvSpPr>
        <p:spPr>
          <a:xfrm>
            <a:off x="6399159" y="3355682"/>
            <a:ext cx="3127514" cy="21544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b">
            <a:spAutoFit/>
          </a:bodyPr>
          <a:lstStyle/>
          <a:p>
            <a:pPr lvl="0"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400"/>
            </a:pPr>
            <a:r>
              <a:rPr lang="pt-PT" b="1" dirty="0" err="1">
                <a:solidFill>
                  <a:schemeClr val="bg1"/>
                </a:solidFill>
                <a:sym typeface="Arial"/>
              </a:rPr>
              <a:t>Expans</a:t>
            </a:r>
            <a:r>
              <a:rPr lang="en-US" b="1" dirty="0" err="1">
                <a:solidFill>
                  <a:schemeClr val="bg1"/>
                </a:solidFill>
                <a:sym typeface="Arial"/>
              </a:rPr>
              <a:t>ão</a:t>
            </a:r>
            <a:r>
              <a:rPr lang="en-US" b="1" dirty="0">
                <a:solidFill>
                  <a:schemeClr val="bg1"/>
                </a:solidFill>
                <a:sym typeface="Arial"/>
              </a:rPr>
              <a:t> </a:t>
            </a:r>
            <a:r>
              <a:rPr lang="en-US" b="1" dirty="0" err="1">
                <a:solidFill>
                  <a:schemeClr val="bg1"/>
                </a:solidFill>
                <a:sym typeface="Arial"/>
              </a:rPr>
              <a:t>Acadêmica</a:t>
            </a:r>
            <a:endParaRPr lang="pt-PT" b="1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068" name="CaixaDeTexto 1067">
            <a:extLst>
              <a:ext uri="{FF2B5EF4-FFF2-40B4-BE49-F238E27FC236}">
                <a16:creationId xmlns:a16="http://schemas.microsoft.com/office/drawing/2014/main" id="{386A2F27-2CB5-9857-8B04-091A039062BE}"/>
              </a:ext>
            </a:extLst>
          </p:cNvPr>
          <p:cNvSpPr txBox="1"/>
          <p:nvPr/>
        </p:nvSpPr>
        <p:spPr>
          <a:xfrm>
            <a:off x="6292649" y="3715503"/>
            <a:ext cx="2682347" cy="24751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144000" tIns="108000" rIns="144000" bIns="108000" anchor="t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200" b="1" dirty="0">
                <a:solidFill>
                  <a:schemeClr val="accent4">
                    <a:lumMod val="10000"/>
                  </a:schemeClr>
                </a:solidFill>
              </a:rPr>
              <a:t>PUC-Rio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Alex Behring, ex-aluno e cofundador da 3G Capital, doou </a:t>
            </a:r>
            <a:r>
              <a:rPr lang="pt-BR" sz="1200" b="1" dirty="0">
                <a:solidFill>
                  <a:schemeClr val="accent4">
                    <a:lumMod val="10000"/>
                  </a:schemeClr>
                </a:solidFill>
              </a:rPr>
              <a:t>R$ 35M 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via Fundação Behring, a maior doação individual da universidade, para </a:t>
            </a:r>
            <a:r>
              <a:rPr lang="pt-BR" sz="1200" b="1" dirty="0">
                <a:solidFill>
                  <a:schemeClr val="accent4">
                    <a:lumMod val="10000"/>
                  </a:schemeClr>
                </a:solidFill>
              </a:rPr>
              <a:t>criar o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pt-BR" sz="1200" b="1" dirty="0">
                <a:solidFill>
                  <a:schemeClr val="accent4">
                    <a:lumMod val="10000"/>
                  </a:schemeClr>
                </a:solidFill>
              </a:rPr>
              <a:t>Instituto de IA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.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Em 2025, a PUC </a:t>
            </a:r>
            <a:r>
              <a:rPr lang="pt-BR" sz="1200" b="1" dirty="0">
                <a:solidFill>
                  <a:schemeClr val="accent4">
                    <a:lumMod val="10000"/>
                  </a:schemeClr>
                </a:solidFill>
              </a:rPr>
              <a:t>lançou o bacharelado em IA 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e prepara o Edifício Behring (3.300 m²) no campus da Gávea - RJ.</a:t>
            </a:r>
          </a:p>
        </p:txBody>
      </p:sp>
      <p:pic>
        <p:nvPicPr>
          <p:cNvPr id="1069" name="Gráfico 1068" descr="Lâmpada e engrenagem">
            <a:extLst>
              <a:ext uri="{FF2B5EF4-FFF2-40B4-BE49-F238E27FC236}">
                <a16:creationId xmlns:a16="http://schemas.microsoft.com/office/drawing/2014/main" id="{9F90ACA4-5B77-9566-D4A3-2A3546A9D6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92647" y="1746579"/>
            <a:ext cx="459136" cy="459136"/>
          </a:xfrm>
          <a:prstGeom prst="rect">
            <a:avLst/>
          </a:prstGeom>
        </p:spPr>
      </p:pic>
      <p:sp>
        <p:nvSpPr>
          <p:cNvPr id="45" name="Google Shape;297;p10">
            <a:extLst>
              <a:ext uri="{FF2B5EF4-FFF2-40B4-BE49-F238E27FC236}">
                <a16:creationId xmlns:a16="http://schemas.microsoft.com/office/drawing/2014/main" id="{D762EF9C-2762-FF11-D6C9-ED507241ABFA}"/>
              </a:ext>
            </a:extLst>
          </p:cNvPr>
          <p:cNvSpPr txBox="1"/>
          <p:nvPr/>
        </p:nvSpPr>
        <p:spPr>
          <a:xfrm>
            <a:off x="1813763" y="1791496"/>
            <a:ext cx="1314080" cy="20585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93000"/>
              </a:lnSpc>
              <a:spcBef>
                <a:spcPct val="0"/>
              </a:spcBef>
              <a:buNone/>
              <a:defRPr sz="2000" b="1" spc="0" baseline="0">
                <a:ln w="6350" cap="flat">
                  <a:noFill/>
                  <a:miter lim="800000"/>
                </a:ln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PT" sz="1600">
                <a:sym typeface="Arial"/>
              </a:rPr>
              <a:t>Atualmente </a:t>
            </a:r>
            <a:endParaRPr sz="1600">
              <a:sym typeface="Arial"/>
            </a:endParaRPr>
          </a:p>
        </p:txBody>
      </p:sp>
      <p:sp>
        <p:nvSpPr>
          <p:cNvPr id="50" name="Google Shape;297;p10">
            <a:extLst>
              <a:ext uri="{FF2B5EF4-FFF2-40B4-BE49-F238E27FC236}">
                <a16:creationId xmlns:a16="http://schemas.microsoft.com/office/drawing/2014/main" id="{20FC201A-9E6A-78B3-6E3B-3CFE223AA2B9}"/>
              </a:ext>
            </a:extLst>
          </p:cNvPr>
          <p:cNvSpPr txBox="1"/>
          <p:nvPr/>
        </p:nvSpPr>
        <p:spPr>
          <a:xfrm>
            <a:off x="4133213" y="1791496"/>
            <a:ext cx="1314080" cy="20585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93000"/>
              </a:lnSpc>
              <a:spcBef>
                <a:spcPct val="0"/>
              </a:spcBef>
              <a:buNone/>
              <a:defRPr sz="2000" b="1" spc="0" baseline="0">
                <a:ln w="6350" cap="flat">
                  <a:noFill/>
                  <a:miter lim="800000"/>
                </a:ln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PT" sz="1600" dirty="0">
                <a:sym typeface="Arial"/>
              </a:rPr>
              <a:t>Futuro </a:t>
            </a:r>
            <a:endParaRPr sz="1600" dirty="0">
              <a:sym typeface="Arial"/>
            </a:endParaRPr>
          </a:p>
        </p:txBody>
      </p: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05ABDF45-6C05-CE8C-C661-6146B5522E2B}"/>
              </a:ext>
            </a:extLst>
          </p:cNvPr>
          <p:cNvGrpSpPr/>
          <p:nvPr/>
        </p:nvGrpSpPr>
        <p:grpSpPr>
          <a:xfrm>
            <a:off x="518840" y="2184443"/>
            <a:ext cx="5469225" cy="1061605"/>
            <a:chOff x="518840" y="2141354"/>
            <a:chExt cx="5469225" cy="1061605"/>
          </a:xfrm>
        </p:grpSpPr>
        <p:grpSp>
          <p:nvGrpSpPr>
            <p:cNvPr id="1077" name="Group 1076">
              <a:extLst>
                <a:ext uri="{FF2B5EF4-FFF2-40B4-BE49-F238E27FC236}">
                  <a16:creationId xmlns:a16="http://schemas.microsoft.com/office/drawing/2014/main" id="{15A4A9C9-9149-4B28-566F-7F0479D99EE6}"/>
                </a:ext>
              </a:extLst>
            </p:cNvPr>
            <p:cNvGrpSpPr/>
            <p:nvPr/>
          </p:nvGrpSpPr>
          <p:grpSpPr>
            <a:xfrm>
              <a:off x="518840" y="2141354"/>
              <a:ext cx="1210774" cy="1061605"/>
              <a:chOff x="518840" y="2141354"/>
              <a:chExt cx="1210774" cy="1061605"/>
            </a:xfrm>
          </p:grpSpPr>
          <p:sp>
            <p:nvSpPr>
              <p:cNvPr id="28" name="Google Shape;297;p10">
                <a:extLst>
                  <a:ext uri="{FF2B5EF4-FFF2-40B4-BE49-F238E27FC236}">
                    <a16:creationId xmlns:a16="http://schemas.microsoft.com/office/drawing/2014/main" id="{20D72C1C-69F4-DE7C-D9E9-30BA150F67B1}"/>
                  </a:ext>
                </a:extLst>
              </p:cNvPr>
              <p:cNvSpPr txBox="1"/>
              <p:nvPr/>
            </p:nvSpPr>
            <p:spPr>
              <a:xfrm>
                <a:off x="518840" y="2679779"/>
                <a:ext cx="1210774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400"/>
                </a:pPr>
                <a:r>
                  <a:rPr lang="pt-PT" sz="1400" b="1" i="0" u="none" strike="noStrike" cap="none" dirty="0">
                    <a:latin typeface="Arial"/>
                    <a:ea typeface="Arial"/>
                    <a:cs typeface="Arial"/>
                    <a:sym typeface="Arial"/>
                  </a:rPr>
                  <a:t>Bolsa Reditus</a:t>
                </a:r>
                <a:endParaRPr sz="1400" b="1" i="0" u="none" strike="noStrike" cap="none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" name="Gráfico 28" descr="Livros">
                <a:extLst>
                  <a:ext uri="{FF2B5EF4-FFF2-40B4-BE49-F238E27FC236}">
                    <a16:creationId xmlns:a16="http://schemas.microsoft.com/office/drawing/2014/main" id="{6CC9A731-D62E-E5D4-4024-6B4DFB116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536896" y="2141354"/>
                <a:ext cx="471890" cy="471890"/>
              </a:xfrm>
              <a:prstGeom prst="rect">
                <a:avLst/>
              </a:prstGeom>
            </p:spPr>
          </p:pic>
        </p:grpSp>
        <p:sp>
          <p:nvSpPr>
            <p:cNvPr id="48" name="TextBox 20">
              <a:extLst>
                <a:ext uri="{FF2B5EF4-FFF2-40B4-BE49-F238E27FC236}">
                  <a16:creationId xmlns:a16="http://schemas.microsoft.com/office/drawing/2014/main" id="{B4B4AFDF-E4D4-F8C8-C863-A0A93B6D7D14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1801526" y="2215736"/>
              <a:ext cx="1854852" cy="9541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›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34B6F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42</a:t>
              </a: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 </a:t>
              </a: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bolsistas</a:t>
              </a: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dirty="0">
                  <a:solidFill>
                    <a:srgbClr val="034B6F"/>
                  </a:solidFill>
                </a:rPr>
                <a:t>R$400k</a:t>
              </a:r>
              <a:r>
                <a:rPr lang="pt-BR" sz="1800" dirty="0">
                  <a:solidFill>
                    <a:srgbClr val="000000"/>
                  </a:solidFill>
                </a:rPr>
                <a:t> </a:t>
              </a:r>
              <a:r>
                <a:rPr lang="pt-BR" dirty="0">
                  <a:solidFill>
                    <a:srgbClr val="000000"/>
                  </a:solidFill>
                </a:rPr>
                <a:t>investidos anualmente</a:t>
              </a:r>
              <a:endPara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20">
              <a:extLst>
                <a:ext uri="{FF2B5EF4-FFF2-40B4-BE49-F238E27FC236}">
                  <a16:creationId xmlns:a16="http://schemas.microsoft.com/office/drawing/2014/main" id="{38B135AF-B066-1E57-75DF-D39CA6235EF1}"/>
                </a:ext>
              </a:extLst>
            </p:cNvPr>
            <p:cNvSpPr txBox="1"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4133213" y="2215736"/>
              <a:ext cx="1854852" cy="9541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›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34B6F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58</a:t>
              </a: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 </a:t>
              </a: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bolsistas</a:t>
              </a: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dirty="0">
                  <a:solidFill>
                    <a:srgbClr val="034B6F"/>
                  </a:solidFill>
                </a:rPr>
                <a:t>R$700k</a:t>
              </a:r>
              <a:r>
                <a:rPr lang="pt-BR" sz="1800" dirty="0">
                  <a:solidFill>
                    <a:srgbClr val="034B6F"/>
                  </a:solidFill>
                </a:rPr>
                <a:t> </a:t>
              </a:r>
              <a:r>
                <a:rPr lang="pt-BR" dirty="0">
                  <a:solidFill>
                    <a:srgbClr val="000000"/>
                  </a:solidFill>
                </a:rPr>
                <a:t>investidos anualmente</a:t>
              </a:r>
              <a:endPara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endParaRPr>
            </a:p>
          </p:txBody>
        </p:sp>
        <p:grpSp>
          <p:nvGrpSpPr>
            <p:cNvPr id="1053" name="Agrupar 1052">
              <a:extLst>
                <a:ext uri="{FF2B5EF4-FFF2-40B4-BE49-F238E27FC236}">
                  <a16:creationId xmlns:a16="http://schemas.microsoft.com/office/drawing/2014/main" id="{1A74125C-BAF1-C382-681E-59871EA25547}"/>
                </a:ext>
              </a:extLst>
            </p:cNvPr>
            <p:cNvGrpSpPr/>
            <p:nvPr/>
          </p:nvGrpSpPr>
          <p:grpSpPr>
            <a:xfrm>
              <a:off x="3776808" y="2573788"/>
              <a:ext cx="235976" cy="238003"/>
              <a:chOff x="1701647" y="1333370"/>
              <a:chExt cx="746386" cy="751536"/>
            </a:xfrm>
          </p:grpSpPr>
          <p:sp>
            <p:nvSpPr>
              <p:cNvPr id="1054" name="Elipse 1053">
                <a:extLst>
                  <a:ext uri="{FF2B5EF4-FFF2-40B4-BE49-F238E27FC236}">
                    <a16:creationId xmlns:a16="http://schemas.microsoft.com/office/drawing/2014/main" id="{3EE89110-782A-E2DE-431E-355F5D51BE78}"/>
                  </a:ext>
                </a:extLst>
              </p:cNvPr>
              <p:cNvSpPr/>
              <p:nvPr/>
            </p:nvSpPr>
            <p:spPr>
              <a:xfrm>
                <a:off x="1701647" y="1338520"/>
                <a:ext cx="746381" cy="746386"/>
              </a:xfrm>
              <a:prstGeom prst="ellipse">
                <a:avLst/>
              </a:prstGeom>
              <a:solidFill>
                <a:schemeClr val="bg1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1055" name="Imagem 1054">
                <a:extLst>
                  <a:ext uri="{FF2B5EF4-FFF2-40B4-BE49-F238E27FC236}">
                    <a16:creationId xmlns:a16="http://schemas.microsoft.com/office/drawing/2014/main" id="{35DF0551-76BB-776A-D456-5DB77BFA5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01647" y="1333370"/>
                <a:ext cx="746386" cy="746386"/>
              </a:xfrm>
              <a:prstGeom prst="rect">
                <a:avLst/>
              </a:prstGeom>
            </p:spPr>
          </p:pic>
        </p:grpSp>
      </p:grpSp>
      <p:cxnSp>
        <p:nvCxnSpPr>
          <p:cNvPr id="1049" name="LineBasicStrong 32">
            <a:extLst>
              <a:ext uri="{FF2B5EF4-FFF2-40B4-BE49-F238E27FC236}">
                <a16:creationId xmlns:a16="http://schemas.microsoft.com/office/drawing/2014/main" id="{6EAF95DE-CA47-4455-E86D-04ACA0EC4391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63939" y="3433137"/>
            <a:ext cx="5630465" cy="0"/>
          </a:xfrm>
          <a:prstGeom prst="straightConnector1">
            <a:avLst/>
          </a:prstGeom>
          <a:ln w="12700" cap="flat">
            <a:solidFill>
              <a:schemeClr val="bg2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35003BC5-71F9-B58D-50A1-60E76CB59CDE}"/>
              </a:ext>
            </a:extLst>
          </p:cNvPr>
          <p:cNvGrpSpPr/>
          <p:nvPr/>
        </p:nvGrpSpPr>
        <p:grpSpPr>
          <a:xfrm>
            <a:off x="535441" y="3620226"/>
            <a:ext cx="5452625" cy="1135254"/>
            <a:chOff x="535441" y="3490959"/>
            <a:chExt cx="5452625" cy="1135254"/>
          </a:xfrm>
        </p:grpSpPr>
        <p:grpSp>
          <p:nvGrpSpPr>
            <p:cNvPr id="1078" name="Group 1077">
              <a:extLst>
                <a:ext uri="{FF2B5EF4-FFF2-40B4-BE49-F238E27FC236}">
                  <a16:creationId xmlns:a16="http://schemas.microsoft.com/office/drawing/2014/main" id="{91BD7DFF-3068-B18A-F77A-2A6A9518E87F}"/>
                </a:ext>
              </a:extLst>
            </p:cNvPr>
            <p:cNvGrpSpPr/>
            <p:nvPr/>
          </p:nvGrpSpPr>
          <p:grpSpPr>
            <a:xfrm>
              <a:off x="535441" y="3490959"/>
              <a:ext cx="1210774" cy="1135254"/>
              <a:chOff x="535441" y="3490959"/>
              <a:chExt cx="1210774" cy="1135254"/>
            </a:xfrm>
          </p:grpSpPr>
          <p:sp>
            <p:nvSpPr>
              <p:cNvPr id="21" name="Google Shape;297;p10">
                <a:extLst>
                  <a:ext uri="{FF2B5EF4-FFF2-40B4-BE49-F238E27FC236}">
                    <a16:creationId xmlns:a16="http://schemas.microsoft.com/office/drawing/2014/main" id="{8C09D0C1-63CD-7E9C-E25F-A540B86CA245}"/>
                  </a:ext>
                </a:extLst>
              </p:cNvPr>
              <p:cNvSpPr txBox="1"/>
              <p:nvPr/>
            </p:nvSpPr>
            <p:spPr>
              <a:xfrm>
                <a:off x="535441" y="4103033"/>
                <a:ext cx="1210774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400"/>
                </a:pPr>
                <a:r>
                  <a:rPr lang="pt-PT" sz="1400" b="1" i="0" u="none" strike="noStrike" cap="none" dirty="0">
                    <a:latin typeface="Arial"/>
                    <a:ea typeface="Arial"/>
                    <a:cs typeface="Arial"/>
                    <a:sym typeface="Arial"/>
                  </a:rPr>
                  <a:t>Programa de</a:t>
                </a:r>
                <a:r>
                  <a:rPr lang="pt-PT" b="1" dirty="0"/>
                  <a:t> </a:t>
                </a:r>
                <a:r>
                  <a:rPr lang="pt-PT" sz="1400" b="1" dirty="0">
                    <a:latin typeface="Arial"/>
                    <a:ea typeface="Arial"/>
                    <a:cs typeface="Arial"/>
                    <a:sym typeface="Arial"/>
                  </a:rPr>
                  <a:t>Inovação</a:t>
                </a:r>
                <a:endParaRPr sz="1400" b="1" i="0" u="none" strike="noStrike" cap="none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" name="Gráfico 22" descr="Lâmpada">
                <a:extLst>
                  <a:ext uri="{FF2B5EF4-FFF2-40B4-BE49-F238E27FC236}">
                    <a16:creationId xmlns:a16="http://schemas.microsoft.com/office/drawing/2014/main" id="{E4AEDA8E-762B-AE62-F08E-A51CE607CE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554736" y="3490959"/>
                <a:ext cx="536652" cy="536652"/>
              </a:xfrm>
              <a:prstGeom prst="rect">
                <a:avLst/>
              </a:prstGeom>
            </p:spPr>
          </p:pic>
        </p:grpSp>
        <p:sp>
          <p:nvSpPr>
            <p:cNvPr id="49" name="TextBox 20">
              <a:extLst>
                <a:ext uri="{FF2B5EF4-FFF2-40B4-BE49-F238E27FC236}">
                  <a16:creationId xmlns:a16="http://schemas.microsoft.com/office/drawing/2014/main" id="{96D86904-E8FE-3356-3A27-15FE68D4956B}"/>
                </a:ext>
              </a:extLst>
            </p:cNvPr>
            <p:cNvSpPr txBox="1"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1801525" y="3490959"/>
              <a:ext cx="1854853" cy="9541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›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dirty="0">
                  <a:solidFill>
                    <a:srgbClr val="034B6F"/>
                  </a:solidFill>
                </a:rPr>
                <a:t>18</a:t>
              </a:r>
              <a:r>
                <a:rPr lang="pt-BR" sz="1800" b="1" dirty="0">
                  <a:solidFill>
                    <a:schemeClr val="accent3"/>
                  </a:solidFill>
                </a:rPr>
                <a:t> </a:t>
              </a: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projetos por ano</a:t>
              </a: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dirty="0">
                  <a:solidFill>
                    <a:srgbClr val="034B6F"/>
                  </a:solidFill>
                </a:rPr>
                <a:t>R$400k</a:t>
              </a:r>
              <a:r>
                <a:rPr lang="pt-BR" dirty="0">
                  <a:solidFill>
                    <a:srgbClr val="034B6F"/>
                  </a:solidFill>
                </a:rPr>
                <a:t> </a:t>
              </a:r>
              <a:r>
                <a:rPr lang="pt-BR" dirty="0">
                  <a:solidFill>
                    <a:srgbClr val="000000"/>
                  </a:solidFill>
                </a:rPr>
                <a:t>investidos anualmente</a:t>
              </a:r>
              <a:endPara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20">
              <a:extLst>
                <a:ext uri="{FF2B5EF4-FFF2-40B4-BE49-F238E27FC236}">
                  <a16:creationId xmlns:a16="http://schemas.microsoft.com/office/drawing/2014/main" id="{F64CE33C-B63F-EF8D-536D-28F90CD3C415}"/>
                </a:ext>
              </a:extLst>
            </p:cNvPr>
            <p:cNvSpPr txBox="1"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4133213" y="3490959"/>
              <a:ext cx="1854853" cy="9541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›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dirty="0">
                  <a:solidFill>
                    <a:srgbClr val="034B6F"/>
                  </a:solidFill>
                </a:rPr>
                <a:t>34</a:t>
              </a:r>
              <a:r>
                <a:rPr lang="pt-BR" sz="1800" b="1" dirty="0">
                  <a:solidFill>
                    <a:schemeClr val="accent3"/>
                  </a:solidFill>
                </a:rPr>
                <a:t> </a:t>
              </a: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projetos por ano</a:t>
              </a: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dirty="0">
                  <a:solidFill>
                    <a:srgbClr val="034B6F"/>
                  </a:solidFill>
                </a:rPr>
                <a:t>R$750k</a:t>
              </a:r>
              <a:r>
                <a:rPr lang="pt-BR" dirty="0">
                  <a:solidFill>
                    <a:srgbClr val="034B6F"/>
                  </a:solidFill>
                </a:rPr>
                <a:t> </a:t>
              </a:r>
              <a:r>
                <a:rPr lang="pt-BR" dirty="0">
                  <a:solidFill>
                    <a:srgbClr val="000000"/>
                  </a:solidFill>
                </a:rPr>
                <a:t>investidos anualmente</a:t>
              </a:r>
              <a:endPara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endParaRPr>
            </a:p>
          </p:txBody>
        </p:sp>
        <p:grpSp>
          <p:nvGrpSpPr>
            <p:cNvPr id="1056" name="Agrupar 1055">
              <a:extLst>
                <a:ext uri="{FF2B5EF4-FFF2-40B4-BE49-F238E27FC236}">
                  <a16:creationId xmlns:a16="http://schemas.microsoft.com/office/drawing/2014/main" id="{42EDCF83-4A42-FB58-84FC-6371F6B4D128}"/>
                </a:ext>
              </a:extLst>
            </p:cNvPr>
            <p:cNvGrpSpPr/>
            <p:nvPr/>
          </p:nvGrpSpPr>
          <p:grpSpPr>
            <a:xfrm>
              <a:off x="3776808" y="3849011"/>
              <a:ext cx="235976" cy="238003"/>
              <a:chOff x="1701647" y="1333370"/>
              <a:chExt cx="746386" cy="751536"/>
            </a:xfrm>
          </p:grpSpPr>
          <p:sp>
            <p:nvSpPr>
              <p:cNvPr id="1057" name="Elipse 1056">
                <a:extLst>
                  <a:ext uri="{FF2B5EF4-FFF2-40B4-BE49-F238E27FC236}">
                    <a16:creationId xmlns:a16="http://schemas.microsoft.com/office/drawing/2014/main" id="{FC65715F-3D02-C44C-6EE6-BCBCA83925AF}"/>
                  </a:ext>
                </a:extLst>
              </p:cNvPr>
              <p:cNvSpPr/>
              <p:nvPr/>
            </p:nvSpPr>
            <p:spPr>
              <a:xfrm>
                <a:off x="1701647" y="1338520"/>
                <a:ext cx="746381" cy="746386"/>
              </a:xfrm>
              <a:prstGeom prst="ellipse">
                <a:avLst/>
              </a:prstGeom>
              <a:solidFill>
                <a:schemeClr val="bg1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1058" name="Imagem 1057">
                <a:extLst>
                  <a:ext uri="{FF2B5EF4-FFF2-40B4-BE49-F238E27FC236}">
                    <a16:creationId xmlns:a16="http://schemas.microsoft.com/office/drawing/2014/main" id="{77AAA7B6-598D-EF3C-B5C0-5F73C9037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01647" y="1333370"/>
                <a:ext cx="746386" cy="746386"/>
              </a:xfrm>
              <a:prstGeom prst="rect">
                <a:avLst/>
              </a:prstGeom>
            </p:spPr>
          </p:pic>
        </p:grpSp>
      </p:grpSp>
      <p:cxnSp>
        <p:nvCxnSpPr>
          <p:cNvPr id="31" name="LineBasicStrong 32">
            <a:extLst>
              <a:ext uri="{FF2B5EF4-FFF2-40B4-BE49-F238E27FC236}">
                <a16:creationId xmlns:a16="http://schemas.microsoft.com/office/drawing/2014/main" id="{211DB70D-5D85-53DA-F62E-9BFCC017EFAC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563939" y="4942569"/>
            <a:ext cx="5630465" cy="0"/>
          </a:xfrm>
          <a:prstGeom prst="straightConnector1">
            <a:avLst/>
          </a:prstGeom>
          <a:ln w="12700" cap="flat">
            <a:solidFill>
              <a:schemeClr val="bg2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E7CF89C1-01F2-093B-6066-E935B0534453}"/>
              </a:ext>
            </a:extLst>
          </p:cNvPr>
          <p:cNvGrpSpPr/>
          <p:nvPr/>
        </p:nvGrpSpPr>
        <p:grpSpPr>
          <a:xfrm>
            <a:off x="518840" y="5129656"/>
            <a:ext cx="5469225" cy="1061605"/>
            <a:chOff x="518840" y="5129656"/>
            <a:chExt cx="5469225" cy="1061605"/>
          </a:xfrm>
        </p:grpSpPr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7B51B295-A44C-F26D-3E93-BFDF8A82967A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801526" y="5183405"/>
              <a:ext cx="1854852" cy="9541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›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34B6F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6</a:t>
              </a: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 </a:t>
              </a: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bolsistas</a:t>
              </a: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dirty="0">
                  <a:solidFill>
                    <a:srgbClr val="034B6F"/>
                  </a:solidFill>
                </a:rPr>
                <a:t>R$130k</a:t>
              </a:r>
              <a:r>
                <a:rPr lang="pt-BR" sz="1800" dirty="0">
                  <a:solidFill>
                    <a:srgbClr val="000000"/>
                  </a:solidFill>
                </a:rPr>
                <a:t> </a:t>
              </a:r>
              <a:r>
                <a:rPr lang="pt-BR" dirty="0">
                  <a:solidFill>
                    <a:srgbClr val="000000"/>
                  </a:solidFill>
                </a:rPr>
                <a:t>investidos anualmente</a:t>
              </a:r>
              <a:endPara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20">
              <a:extLst>
                <a:ext uri="{FF2B5EF4-FFF2-40B4-BE49-F238E27FC236}">
                  <a16:creationId xmlns:a16="http://schemas.microsoft.com/office/drawing/2014/main" id="{D630B11C-49C7-74A1-009A-7F53C4459B71}"/>
                </a:ext>
              </a:extLst>
            </p:cNvPr>
            <p:cNvSpPr txBox="1"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4133213" y="5183405"/>
              <a:ext cx="1854852" cy="9541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›"/>
                <a:defRPr sz="1600"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SzTx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kern="1200" dirty="0">
                  <a:solidFill>
                    <a:srgbClr val="034B6F"/>
                  </a:solidFill>
                </a:rPr>
                <a:t>12</a:t>
              </a: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 </a:t>
              </a: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itchFamily="2" charset="0"/>
                  <a:cs typeface="Arial" panose="020B0604020202020204" pitchFamily="34" charset="0"/>
                </a:rPr>
                <a:t>bolsistas</a:t>
              </a: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pt-BR" sz="1800" b="1" dirty="0">
                  <a:solidFill>
                    <a:srgbClr val="034B6F"/>
                  </a:solidFill>
                </a:rPr>
                <a:t>R$260k</a:t>
              </a:r>
              <a:r>
                <a:rPr lang="pt-BR" sz="1800" dirty="0">
                  <a:solidFill>
                    <a:srgbClr val="034B6F"/>
                  </a:solidFill>
                </a:rPr>
                <a:t> </a:t>
              </a:r>
              <a:r>
                <a:rPr lang="pt-BR" dirty="0">
                  <a:solidFill>
                    <a:srgbClr val="000000"/>
                  </a:solidFill>
                </a:rPr>
                <a:t>investidos anualmente</a:t>
              </a:r>
              <a:endPara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Agrupar 1052">
              <a:extLst>
                <a:ext uri="{FF2B5EF4-FFF2-40B4-BE49-F238E27FC236}">
                  <a16:creationId xmlns:a16="http://schemas.microsoft.com/office/drawing/2014/main" id="{961CD8B0-0EC5-19AD-6016-BC51E604FAA4}"/>
                </a:ext>
              </a:extLst>
            </p:cNvPr>
            <p:cNvGrpSpPr/>
            <p:nvPr/>
          </p:nvGrpSpPr>
          <p:grpSpPr>
            <a:xfrm>
              <a:off x="3776808" y="5541457"/>
              <a:ext cx="235976" cy="238003"/>
              <a:chOff x="1701647" y="1333370"/>
              <a:chExt cx="746386" cy="751536"/>
            </a:xfrm>
          </p:grpSpPr>
          <p:sp>
            <p:nvSpPr>
              <p:cNvPr id="27" name="Elipse 1053">
                <a:extLst>
                  <a:ext uri="{FF2B5EF4-FFF2-40B4-BE49-F238E27FC236}">
                    <a16:creationId xmlns:a16="http://schemas.microsoft.com/office/drawing/2014/main" id="{3FEF1F2D-5248-D068-A510-F22442804FD9}"/>
                  </a:ext>
                </a:extLst>
              </p:cNvPr>
              <p:cNvSpPr/>
              <p:nvPr/>
            </p:nvSpPr>
            <p:spPr>
              <a:xfrm>
                <a:off x="1701647" y="1338520"/>
                <a:ext cx="746381" cy="746386"/>
              </a:xfrm>
              <a:prstGeom prst="ellipse">
                <a:avLst/>
              </a:prstGeom>
              <a:solidFill>
                <a:schemeClr val="bg1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30" name="Imagem 1054">
                <a:extLst>
                  <a:ext uri="{FF2B5EF4-FFF2-40B4-BE49-F238E27FC236}">
                    <a16:creationId xmlns:a16="http://schemas.microsoft.com/office/drawing/2014/main" id="{F9A6EA6E-BC85-6097-AB83-1A67AC2D78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01647" y="1333370"/>
                <a:ext cx="746386" cy="746386"/>
              </a:xfrm>
              <a:prstGeom prst="rect">
                <a:avLst/>
              </a:prstGeom>
            </p:spPr>
          </p:pic>
        </p:grpSp>
        <p:grpSp>
          <p:nvGrpSpPr>
            <p:cNvPr id="1079" name="Group 1078">
              <a:extLst>
                <a:ext uri="{FF2B5EF4-FFF2-40B4-BE49-F238E27FC236}">
                  <a16:creationId xmlns:a16="http://schemas.microsoft.com/office/drawing/2014/main" id="{AC8003B5-151A-0CC8-EF06-8B5EF75FAB47}"/>
                </a:ext>
              </a:extLst>
            </p:cNvPr>
            <p:cNvGrpSpPr/>
            <p:nvPr/>
          </p:nvGrpSpPr>
          <p:grpSpPr>
            <a:xfrm>
              <a:off x="518840" y="5129656"/>
              <a:ext cx="1210774" cy="1061605"/>
              <a:chOff x="518840" y="5129656"/>
              <a:chExt cx="1210774" cy="1061605"/>
            </a:xfrm>
          </p:grpSpPr>
          <p:sp>
            <p:nvSpPr>
              <p:cNvPr id="6" name="Google Shape;297;p10">
                <a:extLst>
                  <a:ext uri="{FF2B5EF4-FFF2-40B4-BE49-F238E27FC236}">
                    <a16:creationId xmlns:a16="http://schemas.microsoft.com/office/drawing/2014/main" id="{964AC3F9-26DC-7B48-DB5C-8B5B6D7D88B2}"/>
                  </a:ext>
                </a:extLst>
              </p:cNvPr>
              <p:cNvSpPr txBox="1"/>
              <p:nvPr/>
            </p:nvSpPr>
            <p:spPr>
              <a:xfrm>
                <a:off x="518840" y="5668081"/>
                <a:ext cx="1210774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400"/>
                </a:pPr>
                <a:r>
                  <a:rPr lang="pt-PT" sz="1400" b="1" i="0" u="none" strike="noStrike" cap="none" dirty="0">
                    <a:latin typeface="Arial"/>
                    <a:ea typeface="Arial"/>
                    <a:cs typeface="Arial"/>
                    <a:sym typeface="Arial"/>
                  </a:rPr>
                  <a:t>Bolsa Trampolim</a:t>
                </a:r>
                <a:endParaRPr sz="1400" b="1" i="0" u="none" strike="noStrike" cap="none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" name="CustomIcon">
                <a:extLst>
                  <a:ext uri="{FF2B5EF4-FFF2-40B4-BE49-F238E27FC236}">
                    <a16:creationId xmlns:a16="http://schemas.microsoft.com/office/drawing/2014/main" id="{C5995BC4-5900-3601-B693-8D83668FDA91}"/>
                  </a:ext>
                </a:extLst>
              </p:cNvPr>
              <p:cNvPicPr>
                <a:picLocks/>
              </p:cNvPicPr>
              <p:nvPr>
                <p:custDataLst>
                  <p:tags r:id="rId7"/>
                </p:custDataLst>
              </p:nvPr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536896" y="5129656"/>
                <a:ext cx="475488" cy="475488"/>
              </a:xfrm>
              <a:prstGeom prst="rect">
                <a:avLst/>
              </a:prstGeom>
            </p:spPr>
          </p:pic>
        </p:grpSp>
      </p:grpSp>
      <p:sp>
        <p:nvSpPr>
          <p:cNvPr id="8" name="CaixaDeTexto 1085">
            <a:extLst>
              <a:ext uri="{FF2B5EF4-FFF2-40B4-BE49-F238E27FC236}">
                <a16:creationId xmlns:a16="http://schemas.microsoft.com/office/drawing/2014/main" id="{07BB7565-AD7C-B382-7995-B6802B725AE3}"/>
              </a:ext>
            </a:extLst>
          </p:cNvPr>
          <p:cNvSpPr txBox="1"/>
          <p:nvPr/>
        </p:nvSpPr>
        <p:spPr>
          <a:xfrm>
            <a:off x="9229510" y="3702289"/>
            <a:ext cx="2682347" cy="24884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144000" tIns="108000" rIns="144000" bIns="108000" anchor="t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200" b="1" dirty="0">
                <a:solidFill>
                  <a:schemeClr val="accent4">
                    <a:lumMod val="10000"/>
                  </a:schemeClr>
                </a:solidFill>
              </a:rPr>
              <a:t>Stanford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Phil Knight, fundador da Nike e ex-aluno de MBA de Stanford (‘62), doou </a:t>
            </a:r>
            <a:r>
              <a:rPr lang="pt-BR" sz="1200" b="1" dirty="0">
                <a:solidFill>
                  <a:schemeClr val="accent4">
                    <a:lumMod val="10000"/>
                  </a:schemeClr>
                </a:solidFill>
              </a:rPr>
              <a:t>+$100M 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em 2006 para a </a:t>
            </a:r>
            <a:r>
              <a:rPr lang="pt-BR" sz="1200" b="1" dirty="0">
                <a:solidFill>
                  <a:schemeClr val="accent4">
                    <a:lumMod val="10000"/>
                  </a:schemeClr>
                </a:solidFill>
              </a:rPr>
              <a:t>construção de um campus 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para a Stanford </a:t>
            </a:r>
            <a:r>
              <a:rPr lang="pt-BR" sz="1200" dirty="0" err="1">
                <a:solidFill>
                  <a:schemeClr val="accent4">
                    <a:lumMod val="10000"/>
                  </a:schemeClr>
                </a:solidFill>
              </a:rPr>
              <a:t>Graduate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accent4">
                    <a:lumMod val="10000"/>
                  </a:schemeClr>
                </a:solidFill>
              </a:rPr>
              <a:t>School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accent4">
                    <a:lumMod val="10000"/>
                  </a:schemeClr>
                </a:solidFill>
              </a:rPr>
              <a:t>of</a:t>
            </a: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 Business (GSB).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accent4">
                    <a:lumMod val="10000"/>
                  </a:schemeClr>
                </a:solidFill>
              </a:rPr>
              <a:t>Nomeado Knight Management Center, o campus possui 8 prédios e se tornou centro da GSB, com foco em inovação.</a:t>
            </a:r>
          </a:p>
        </p:txBody>
      </p:sp>
      <p:pic>
        <p:nvPicPr>
          <p:cNvPr id="34" name="Picture 2" descr=" ">
            <a:extLst>
              <a:ext uri="{FF2B5EF4-FFF2-40B4-BE49-F238E27FC236}">
                <a16:creationId xmlns:a16="http://schemas.microsoft.com/office/drawing/2014/main" id="{DFB00D6E-42C6-36C7-59BF-EC2EAED38E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" t="5284" r="13081"/>
          <a:stretch/>
        </p:blipFill>
        <p:spPr bwMode="auto">
          <a:xfrm>
            <a:off x="9190100" y="1716900"/>
            <a:ext cx="2729007" cy="191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tângulo 1088">
            <a:extLst>
              <a:ext uri="{FF2B5EF4-FFF2-40B4-BE49-F238E27FC236}">
                <a16:creationId xmlns:a16="http://schemas.microsoft.com/office/drawing/2014/main" id="{D2A0B10B-15F8-CB34-7D97-116B24240B4E}"/>
              </a:ext>
            </a:extLst>
          </p:cNvPr>
          <p:cNvSpPr/>
          <p:nvPr/>
        </p:nvSpPr>
        <p:spPr>
          <a:xfrm>
            <a:off x="9190100" y="1711763"/>
            <a:ext cx="2729009" cy="1917480"/>
          </a:xfrm>
          <a:prstGeom prst="rect">
            <a:avLst/>
          </a:prstGeom>
          <a:gradFill>
            <a:gsLst>
              <a:gs pos="21000">
                <a:srgbClr val="000000">
                  <a:alpha val="15000"/>
                </a:srgbClr>
              </a:gs>
              <a:gs pos="0">
                <a:schemeClr val="tx1">
                  <a:alpha val="28000"/>
                </a:schemeClr>
              </a:gs>
              <a:gs pos="75000">
                <a:schemeClr val="tx1">
                  <a:alpha val="28318"/>
                </a:schemeClr>
              </a:gs>
              <a:gs pos="100000">
                <a:schemeClr val="tx1">
                  <a:alpha val="78000"/>
                </a:schemeClr>
              </a:gs>
            </a:gsLst>
            <a:lin ang="540000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pt-BR" sz="1600" err="1">
              <a:solidFill>
                <a:schemeClr val="bg1"/>
              </a:solidFill>
            </a:endParaRPr>
          </a:p>
        </p:txBody>
      </p:sp>
      <p:sp>
        <p:nvSpPr>
          <p:cNvPr id="37" name="CaixaDeTexto 1084">
            <a:extLst>
              <a:ext uri="{FF2B5EF4-FFF2-40B4-BE49-F238E27FC236}">
                <a16:creationId xmlns:a16="http://schemas.microsoft.com/office/drawing/2014/main" id="{CE626D60-134E-7E3E-A0F2-7075C86EF317}"/>
              </a:ext>
            </a:extLst>
          </p:cNvPr>
          <p:cNvSpPr txBox="1"/>
          <p:nvPr/>
        </p:nvSpPr>
        <p:spPr>
          <a:xfrm>
            <a:off x="9336020" y="3294127"/>
            <a:ext cx="3127514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b">
            <a:spAutoFit/>
          </a:bodyPr>
          <a:lstStyle/>
          <a:p>
            <a:pPr lvl="0"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400"/>
            </a:pPr>
            <a:r>
              <a:rPr lang="pt-PT" b="1">
                <a:solidFill>
                  <a:schemeClr val="bg1"/>
                </a:solidFill>
                <a:sym typeface="Arial"/>
              </a:rPr>
              <a:t>Infraestrutura</a:t>
            </a:r>
          </a:p>
        </p:txBody>
      </p:sp>
      <p:pic>
        <p:nvPicPr>
          <p:cNvPr id="38" name="Gráfico 1089" descr="Banco">
            <a:extLst>
              <a:ext uri="{FF2B5EF4-FFF2-40B4-BE49-F238E27FC236}">
                <a16:creationId xmlns:a16="http://schemas.microsoft.com/office/drawing/2014/main" id="{12362EEC-24B1-3867-DC13-C2CC04D9A11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196826" y="1763813"/>
            <a:ext cx="478425" cy="4784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90764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00">
          <a:extLst>
            <a:ext uri="{FF2B5EF4-FFF2-40B4-BE49-F238E27FC236}">
              <a16:creationId xmlns:a16="http://schemas.microsoft.com/office/drawing/2014/main" id="{CFA016CB-A33A-55AB-1161-82A87BD9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265;p4">
            <a:extLst>
              <a:ext uri="{FF2B5EF4-FFF2-40B4-BE49-F238E27FC236}">
                <a16:creationId xmlns:a16="http://schemas.microsoft.com/office/drawing/2014/main" id="{4ECA5403-C6F0-3BA4-1D19-4BB84FD12233}"/>
              </a:ext>
            </a:extLst>
          </p:cNvPr>
          <p:cNvPicPr preferRelativeResize="0"/>
          <p:nvPr/>
        </p:nvPicPr>
        <p:blipFill rotWithShape="1">
          <a:blip r:embed="rId5">
            <a:alphaModFix amt="31000"/>
          </a:blip>
          <a:srcRect l="23759" r="17201" b="38504"/>
          <a:stretch/>
        </p:blipFill>
        <p:spPr>
          <a:xfrm>
            <a:off x="-749300" y="-356863"/>
            <a:ext cx="6959600" cy="7571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BDD9DEC-97DA-C502-3BAE-4BCD77E2151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96730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25" imgH="424" progId="TCLayout.ActiveDocument.1">
                  <p:embed/>
                </p:oleObj>
              </mc:Choice>
              <mc:Fallback>
                <p:oleObj name="thinkcell Slide" r:id="rId6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DD9DEC-97DA-C502-3BAE-4BCD77E215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" name="Picture 4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6BA4FA7-21B5-B4FF-981E-03894883F7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0811" y="2038388"/>
            <a:ext cx="3276965" cy="3276965"/>
          </a:xfrm>
          <a:prstGeom prst="rect">
            <a:avLst/>
          </a:prstGeom>
        </p:spPr>
      </p:pic>
      <p:grpSp>
        <p:nvGrpSpPr>
          <p:cNvPr id="20" name="btfpColumnIndicatorGroup2">
            <a:extLst>
              <a:ext uri="{FF2B5EF4-FFF2-40B4-BE49-F238E27FC236}">
                <a16:creationId xmlns:a16="http://schemas.microsoft.com/office/drawing/2014/main" id="{CBC6412C-8618-FFE5-37A2-FBD8B95678D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8" name="btfpColumnGapBlocker984013">
              <a:extLst>
                <a:ext uri="{FF2B5EF4-FFF2-40B4-BE49-F238E27FC236}">
                  <a16:creationId xmlns:a16="http://schemas.microsoft.com/office/drawing/2014/main" id="{8F5B0064-0443-DDEA-CC5F-30D11C199ECD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002060"/>
                </a:solidFill>
              </a:endParaRPr>
            </a:p>
          </p:txBody>
        </p:sp>
        <p:sp>
          <p:nvSpPr>
            <p:cNvPr id="16" name="btfpColumnGapBlocker117926">
              <a:extLst>
                <a:ext uri="{FF2B5EF4-FFF2-40B4-BE49-F238E27FC236}">
                  <a16:creationId xmlns:a16="http://schemas.microsoft.com/office/drawing/2014/main" id="{B4485B4E-D64E-000A-1E9E-2B8809DF3796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002060"/>
                </a:solidFill>
              </a:endParaRPr>
            </a:p>
          </p:txBody>
        </p:sp>
        <p:cxnSp>
          <p:nvCxnSpPr>
            <p:cNvPr id="13" name="btfpColumnIndicator116491">
              <a:extLst>
                <a:ext uri="{FF2B5EF4-FFF2-40B4-BE49-F238E27FC236}">
                  <a16:creationId xmlns:a16="http://schemas.microsoft.com/office/drawing/2014/main" id="{588D4773-CA35-F2A4-1BA9-C570F9554935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895818">
              <a:extLst>
                <a:ext uri="{FF2B5EF4-FFF2-40B4-BE49-F238E27FC236}">
                  <a16:creationId xmlns:a16="http://schemas.microsoft.com/office/drawing/2014/main" id="{C6030D4B-8CB7-11EA-89FB-8D3BAF43D2DA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btfpColumnIndicatorGroup1">
            <a:extLst>
              <a:ext uri="{FF2B5EF4-FFF2-40B4-BE49-F238E27FC236}">
                <a16:creationId xmlns:a16="http://schemas.microsoft.com/office/drawing/2014/main" id="{4E795356-4825-11E8-CD02-88260C1BBCC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7" name="btfpColumnGapBlocker333037">
              <a:extLst>
                <a:ext uri="{FF2B5EF4-FFF2-40B4-BE49-F238E27FC236}">
                  <a16:creationId xmlns:a16="http://schemas.microsoft.com/office/drawing/2014/main" id="{02FE911C-D1B2-0400-5B31-45E8220D1AD0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002060"/>
                </a:solidFill>
              </a:endParaRPr>
            </a:p>
          </p:txBody>
        </p:sp>
        <p:sp>
          <p:nvSpPr>
            <p:cNvPr id="15" name="btfpColumnGapBlocker879207">
              <a:extLst>
                <a:ext uri="{FF2B5EF4-FFF2-40B4-BE49-F238E27FC236}">
                  <a16:creationId xmlns:a16="http://schemas.microsoft.com/office/drawing/2014/main" id="{B9124E1A-4C84-6219-BCF0-1B16A3A7FFFC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002060"/>
                </a:solidFill>
              </a:endParaRPr>
            </a:p>
          </p:txBody>
        </p:sp>
        <p:cxnSp>
          <p:nvCxnSpPr>
            <p:cNvPr id="9" name="btfpColumnIndicator794970">
              <a:extLst>
                <a:ext uri="{FF2B5EF4-FFF2-40B4-BE49-F238E27FC236}">
                  <a16:creationId xmlns:a16="http://schemas.microsoft.com/office/drawing/2014/main" id="{EF178940-B59A-944B-B5F1-DDA515870B47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154736">
              <a:extLst>
                <a:ext uri="{FF2B5EF4-FFF2-40B4-BE49-F238E27FC236}">
                  <a16:creationId xmlns:a16="http://schemas.microsoft.com/office/drawing/2014/main" id="{29F2BBCD-688D-0A1B-E454-004D4B0A8055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Google Shape;1132;p18">
            <a:extLst>
              <a:ext uri="{FF2B5EF4-FFF2-40B4-BE49-F238E27FC236}">
                <a16:creationId xmlns:a16="http://schemas.microsoft.com/office/drawing/2014/main" id="{310EE171-82C5-C720-FF7D-4176CF15EB6C}"/>
              </a:ext>
            </a:extLst>
          </p:cNvPr>
          <p:cNvSpPr txBox="1"/>
          <p:nvPr/>
        </p:nvSpPr>
        <p:spPr>
          <a:xfrm>
            <a:off x="3783798" y="371140"/>
            <a:ext cx="7850990" cy="152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pt-BR" sz="2000" b="1" i="0" u="none" strike="noStrike" cap="none" dirty="0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Agradecemos a presença e contribuição de todos.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pt-BR" sz="2000" b="1" i="0" u="none" strike="noStrike" cap="none" dirty="0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2000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Existem </a:t>
            </a:r>
            <a:r>
              <a:rPr lang="pt-BR" sz="2000" b="1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diversas formas de contribuir </a:t>
            </a:r>
            <a:r>
              <a:rPr lang="pt-BR" sz="2000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com o Reditus</a:t>
            </a:r>
            <a:r>
              <a:rPr lang="pt-BR" sz="2000" dirty="0">
                <a:solidFill>
                  <a:srgbClr val="0C172D"/>
                </a:solidFill>
              </a:rPr>
              <a:t>.</a:t>
            </a:r>
            <a:r>
              <a:rPr lang="pt-BR" sz="2000" b="1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2000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Entenda como </a:t>
            </a:r>
            <a:r>
              <a:rPr lang="pt-BR" sz="2000" b="1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você pode fazer a diferença!</a:t>
            </a:r>
            <a:endParaRPr lang="pt-BR" b="1" i="0" u="none" strike="noStrike" cap="none" dirty="0">
              <a:solidFill>
                <a:srgbClr val="0C17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33;p18">
            <a:extLst>
              <a:ext uri="{FF2B5EF4-FFF2-40B4-BE49-F238E27FC236}">
                <a16:creationId xmlns:a16="http://schemas.microsoft.com/office/drawing/2014/main" id="{75E1F702-5476-7EAA-C183-CBC36E9D526B}"/>
              </a:ext>
            </a:extLst>
          </p:cNvPr>
          <p:cNvSpPr txBox="1"/>
          <p:nvPr/>
        </p:nvSpPr>
        <p:spPr>
          <a:xfrm>
            <a:off x="5793967" y="5676040"/>
            <a:ext cx="38306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2000" b="1" dirty="0">
                <a:solidFill>
                  <a:srgbClr val="0C172D"/>
                </a:solidFill>
              </a:rPr>
              <a:t>Sua doação nos </a:t>
            </a:r>
            <a:r>
              <a:rPr lang="pt-BR" sz="2000" b="1" dirty="0" err="1">
                <a:solidFill>
                  <a:srgbClr val="0C172D"/>
                </a:solidFill>
              </a:rPr>
              <a:t>impulsona</a:t>
            </a:r>
            <a:r>
              <a:rPr lang="pt-BR" sz="2000" b="1" i="0" u="none" strike="noStrike" cap="none" dirty="0">
                <a:solidFill>
                  <a:srgbClr val="0C172D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3750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C0570BA-AAE3-B4AA-896E-6D63D11A2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tfpColumnIndicatorGroup2">
            <a:extLst>
              <a:ext uri="{FF2B5EF4-FFF2-40B4-BE49-F238E27FC236}">
                <a16:creationId xmlns:a16="http://schemas.microsoft.com/office/drawing/2014/main" id="{F934F673-BDC5-C051-84F7-8A3E2385DC5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9" name="btfpColumnGapBlocker403277">
              <a:extLst>
                <a:ext uri="{FF2B5EF4-FFF2-40B4-BE49-F238E27FC236}">
                  <a16:creationId xmlns:a16="http://schemas.microsoft.com/office/drawing/2014/main" id="{39DAD75B-169B-8870-3357-E13C0F91B951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btfpColumnGapBlocker650445">
              <a:extLst>
                <a:ext uri="{FF2B5EF4-FFF2-40B4-BE49-F238E27FC236}">
                  <a16:creationId xmlns:a16="http://schemas.microsoft.com/office/drawing/2014/main" id="{70567735-5713-7E13-A7E6-B73AF18514CE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" name="btfpColumnIndicator781726">
              <a:extLst>
                <a:ext uri="{FF2B5EF4-FFF2-40B4-BE49-F238E27FC236}">
                  <a16:creationId xmlns:a16="http://schemas.microsoft.com/office/drawing/2014/main" id="{45B6D301-9950-D510-C97F-53B57B9ABC9F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706610">
              <a:extLst>
                <a:ext uri="{FF2B5EF4-FFF2-40B4-BE49-F238E27FC236}">
                  <a16:creationId xmlns:a16="http://schemas.microsoft.com/office/drawing/2014/main" id="{0453DBDD-FBE7-30A5-4338-B568B4CC36CD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btfpColumnIndicatorGroup1">
            <a:extLst>
              <a:ext uri="{FF2B5EF4-FFF2-40B4-BE49-F238E27FC236}">
                <a16:creationId xmlns:a16="http://schemas.microsoft.com/office/drawing/2014/main" id="{13341942-2112-3503-5BDB-9A300320979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" name="btfpColumnGapBlocker127935">
              <a:extLst>
                <a:ext uri="{FF2B5EF4-FFF2-40B4-BE49-F238E27FC236}">
                  <a16:creationId xmlns:a16="http://schemas.microsoft.com/office/drawing/2014/main" id="{41608175-2511-D015-5A81-0B400F8E80F6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btfpColumnGapBlocker647450">
              <a:extLst>
                <a:ext uri="{FF2B5EF4-FFF2-40B4-BE49-F238E27FC236}">
                  <a16:creationId xmlns:a16="http://schemas.microsoft.com/office/drawing/2014/main" id="{4A6C0F7C-FA99-F356-180A-A5D76383152E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" name="btfpColumnIndicator560358">
              <a:extLst>
                <a:ext uri="{FF2B5EF4-FFF2-40B4-BE49-F238E27FC236}">
                  <a16:creationId xmlns:a16="http://schemas.microsoft.com/office/drawing/2014/main" id="{164D0EA3-435A-D933-B90B-91EB535C47B2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665454">
              <a:extLst>
                <a:ext uri="{FF2B5EF4-FFF2-40B4-BE49-F238E27FC236}">
                  <a16:creationId xmlns:a16="http://schemas.microsoft.com/office/drawing/2014/main" id="{9DCC3038-F1CE-4032-9D37-1D4806032DAF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Google Shape;104;p1">
            <a:extLst>
              <a:ext uri="{FF2B5EF4-FFF2-40B4-BE49-F238E27FC236}">
                <a16:creationId xmlns:a16="http://schemas.microsoft.com/office/drawing/2014/main" id="{DA599C41-92AE-1522-D913-1169AB7A4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6099" y="2836530"/>
            <a:ext cx="55498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3600" b="1" dirty="0">
                <a:solidFill>
                  <a:srgbClr val="0C172D"/>
                </a:solidFill>
              </a:rPr>
              <a:t>Cotas de bolsa campanha</a:t>
            </a:r>
            <a:endParaRPr sz="3600" b="1" dirty="0">
              <a:solidFill>
                <a:srgbClr val="0C172D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3555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956894-4CDA-F1D7-1612-AEBDD481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btfpColumnIndicatorGroup2">
            <a:extLst>
              <a:ext uri="{FF2B5EF4-FFF2-40B4-BE49-F238E27FC236}">
                <a16:creationId xmlns:a16="http://schemas.microsoft.com/office/drawing/2014/main" id="{4ABB7656-10D7-409D-F09E-C188CDCEB4D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8" name="btfpColumnGapBlocker728763">
              <a:extLst>
                <a:ext uri="{FF2B5EF4-FFF2-40B4-BE49-F238E27FC236}">
                  <a16:creationId xmlns:a16="http://schemas.microsoft.com/office/drawing/2014/main" id="{97D14151-B3FF-D24E-E8E4-C013AC5AB8F7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btfpColumnGapBlocker391006">
              <a:extLst>
                <a:ext uri="{FF2B5EF4-FFF2-40B4-BE49-F238E27FC236}">
                  <a16:creationId xmlns:a16="http://schemas.microsoft.com/office/drawing/2014/main" id="{25686024-2772-8D1A-5005-670952D71BD3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btfpColumnIndicator711501">
              <a:extLst>
                <a:ext uri="{FF2B5EF4-FFF2-40B4-BE49-F238E27FC236}">
                  <a16:creationId xmlns:a16="http://schemas.microsoft.com/office/drawing/2014/main" id="{2FE490A7-01EB-320D-B8E6-7BA0DE56C868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558411">
              <a:extLst>
                <a:ext uri="{FF2B5EF4-FFF2-40B4-BE49-F238E27FC236}">
                  <a16:creationId xmlns:a16="http://schemas.microsoft.com/office/drawing/2014/main" id="{D866CB14-FC0A-15D8-7371-9EE9286423EE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btfpColumnIndicatorGroup1">
            <a:extLst>
              <a:ext uri="{FF2B5EF4-FFF2-40B4-BE49-F238E27FC236}">
                <a16:creationId xmlns:a16="http://schemas.microsoft.com/office/drawing/2014/main" id="{9EEAB020-8307-379D-B92D-F2D3E77C9C3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7" name="btfpColumnGapBlocker637755">
              <a:extLst>
                <a:ext uri="{FF2B5EF4-FFF2-40B4-BE49-F238E27FC236}">
                  <a16:creationId xmlns:a16="http://schemas.microsoft.com/office/drawing/2014/main" id="{10D38EF8-41F3-80B3-F2E9-ECD3C475E1A6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777797">
              <a:extLst>
                <a:ext uri="{FF2B5EF4-FFF2-40B4-BE49-F238E27FC236}">
                  <a16:creationId xmlns:a16="http://schemas.microsoft.com/office/drawing/2014/main" id="{8E52CFB5-0B7B-8357-6C42-1F2E7B03F840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btfpColumnIndicator881320">
              <a:extLst>
                <a:ext uri="{FF2B5EF4-FFF2-40B4-BE49-F238E27FC236}">
                  <a16:creationId xmlns:a16="http://schemas.microsoft.com/office/drawing/2014/main" id="{73017A4E-C132-3D65-DD14-10074E3CF90C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326943">
              <a:extLst>
                <a:ext uri="{FF2B5EF4-FFF2-40B4-BE49-F238E27FC236}">
                  <a16:creationId xmlns:a16="http://schemas.microsoft.com/office/drawing/2014/main" id="{74471DBA-6C4A-A7D5-36F6-9E206D6DC577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FBEA96B-3CB8-D36F-AEF4-80328F08F24C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8429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25" imgH="426" progId="TCLayout.ActiveDocument.1">
                  <p:embed/>
                </p:oleObj>
              </mc:Choice>
              <mc:Fallback>
                <p:oleObj name="thinkcell Slide" r:id="rId8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BEA96B-3CB8-D36F-AEF4-80328F08F2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21F0A-0DC8-35D7-FE6E-44DFB1B2A2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8" name="Title 17">
            <a:extLst>
              <a:ext uri="{FF2B5EF4-FFF2-40B4-BE49-F238E27FC236}">
                <a16:creationId xmlns:a16="http://schemas.microsoft.com/office/drawing/2014/main" id="{724A523D-E308-456D-001A-5949820479D1}"/>
              </a:ext>
            </a:extLst>
          </p:cNvPr>
          <p:cNvSpPr txBox="1">
            <a:spLocks/>
          </p:cNvSpPr>
          <p:nvPr/>
        </p:nvSpPr>
        <p:spPr>
          <a:xfrm>
            <a:off x="554736" y="18237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BR" sz="2000" dirty="0"/>
              <a:t>Acreditamos que as bolsas são o ponto de partida para desenvolver talentos da UFRJ e construir uma rede de alumni que impacte o Brasil e fortaleça a universidade</a:t>
            </a:r>
          </a:p>
        </p:txBody>
      </p:sp>
      <p:cxnSp>
        <p:nvCxnSpPr>
          <p:cNvPr id="81" name="Google Shape;713;g3337748aba8_0_0">
            <a:extLst>
              <a:ext uri="{FF2B5EF4-FFF2-40B4-BE49-F238E27FC236}">
                <a16:creationId xmlns:a16="http://schemas.microsoft.com/office/drawing/2014/main" id="{F71EC49F-469B-8BC6-7829-3A195E715BA4}"/>
              </a:ext>
            </a:extLst>
          </p:cNvPr>
          <p:cNvCxnSpPr>
            <a:cxnSpLocks/>
          </p:cNvCxnSpPr>
          <p:nvPr/>
        </p:nvCxnSpPr>
        <p:spPr>
          <a:xfrm flipV="1">
            <a:off x="554736" y="3061316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AB4F9D4-4235-EB0B-C2B0-D33819FA761B}"/>
              </a:ext>
            </a:extLst>
          </p:cNvPr>
          <p:cNvGrpSpPr/>
          <p:nvPr/>
        </p:nvGrpSpPr>
        <p:grpSpPr>
          <a:xfrm>
            <a:off x="547688" y="1153480"/>
            <a:ext cx="11087603" cy="366256"/>
            <a:chOff x="547688" y="1448893"/>
            <a:chExt cx="11087603" cy="366256"/>
          </a:xfrm>
        </p:grpSpPr>
        <p:cxnSp>
          <p:nvCxnSpPr>
            <p:cNvPr id="31" name="LineBasicStrong 32">
              <a:extLst>
                <a:ext uri="{FF2B5EF4-FFF2-40B4-BE49-F238E27FC236}">
                  <a16:creationId xmlns:a16="http://schemas.microsoft.com/office/drawing/2014/main" id="{77ADBDB3-8B92-D1AB-8C8A-43A0DBD1F22D}"/>
                </a:ext>
              </a:extLst>
            </p:cNvPr>
            <p:cNvCxnSpPr>
              <a:cxnSpLocks/>
            </p:cNvCxnSpPr>
            <p:nvPr>
              <p:custDataLst>
                <p:tags r:id="rId3"/>
              </p:custDataLst>
            </p:nvPr>
          </p:nvCxnSpPr>
          <p:spPr>
            <a:xfrm>
              <a:off x="2593732" y="1813561"/>
              <a:ext cx="2855713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8A54359-EAAE-B9DF-BF19-626AD8CC9CD8}"/>
                </a:ext>
              </a:extLst>
            </p:cNvPr>
            <p:cNvSpPr/>
            <p:nvPr/>
          </p:nvSpPr>
          <p:spPr>
            <a:xfrm>
              <a:off x="2593732" y="1448893"/>
              <a:ext cx="2791641" cy="36176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>
                  <a:solidFill>
                    <a:schemeClr val="tx1"/>
                  </a:solidFill>
                </a:rPr>
                <a:t>Tipo de contribuição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D6AE3F0-926B-B698-7272-975D7FA14281}"/>
                </a:ext>
              </a:extLst>
            </p:cNvPr>
            <p:cNvSpPr/>
            <p:nvPr/>
          </p:nvSpPr>
          <p:spPr>
            <a:xfrm>
              <a:off x="8178166" y="1448893"/>
              <a:ext cx="3456755" cy="36176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Descrição</a:t>
              </a:r>
            </a:p>
          </p:txBody>
        </p:sp>
        <p:cxnSp>
          <p:nvCxnSpPr>
            <p:cNvPr id="35" name="LineBasicStrong 32">
              <a:extLst>
                <a:ext uri="{FF2B5EF4-FFF2-40B4-BE49-F238E27FC236}">
                  <a16:creationId xmlns:a16="http://schemas.microsoft.com/office/drawing/2014/main" id="{0327FD88-486C-B44C-D610-805379899B77}"/>
                </a:ext>
              </a:extLst>
            </p:cNvPr>
            <p:cNvCxnSpPr>
              <a:cxnSpLocks/>
            </p:cNvCxnSpPr>
            <p:nvPr>
              <p:custDataLst>
                <p:tags r:id="rId4"/>
              </p:custDataLst>
            </p:nvPr>
          </p:nvCxnSpPr>
          <p:spPr>
            <a:xfrm>
              <a:off x="8178166" y="1813561"/>
              <a:ext cx="3457125" cy="1588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LineBasicStrong 32">
              <a:extLst>
                <a:ext uri="{FF2B5EF4-FFF2-40B4-BE49-F238E27FC236}">
                  <a16:creationId xmlns:a16="http://schemas.microsoft.com/office/drawing/2014/main" id="{DD62F82D-36BF-C99E-6AFE-D6CBBE272F11}"/>
                </a:ext>
              </a:extLst>
            </p:cNvPr>
            <p:cNvCxnSpPr>
              <a:cxnSpLocks/>
            </p:cNvCxnSpPr>
            <p:nvPr>
              <p:custDataLst>
                <p:tags r:id="rId5"/>
              </p:custDataLst>
            </p:nvPr>
          </p:nvCxnSpPr>
          <p:spPr>
            <a:xfrm>
              <a:off x="547688" y="1813561"/>
              <a:ext cx="1762459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CB5E6AC-0459-C620-5011-D87217F4C4B7}"/>
                </a:ext>
              </a:extLst>
            </p:cNvPr>
            <p:cNvSpPr/>
            <p:nvPr/>
          </p:nvSpPr>
          <p:spPr>
            <a:xfrm>
              <a:off x="547689" y="1448893"/>
              <a:ext cx="1760174" cy="36176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>
                  <a:solidFill>
                    <a:schemeClr val="tx1"/>
                  </a:solidFill>
                </a:rPr>
                <a:t>Projeto apoiado</a:t>
              </a:r>
            </a:p>
          </p:txBody>
        </p:sp>
        <p:cxnSp>
          <p:nvCxnSpPr>
            <p:cNvPr id="34" name="LineBasicStrong 32">
              <a:extLst>
                <a:ext uri="{FF2B5EF4-FFF2-40B4-BE49-F238E27FC236}">
                  <a16:creationId xmlns:a16="http://schemas.microsoft.com/office/drawing/2014/main" id="{5D9164EC-DB10-0549-D6CF-97D5F6BE9205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>
            <a:xfrm>
              <a:off x="5733030" y="1813561"/>
              <a:ext cx="2154666" cy="1588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CF7657C-FB8D-EB74-8A89-94C87292120A}"/>
                </a:ext>
              </a:extLst>
            </p:cNvPr>
            <p:cNvSpPr/>
            <p:nvPr/>
          </p:nvSpPr>
          <p:spPr>
            <a:xfrm>
              <a:off x="5733030" y="1448893"/>
              <a:ext cx="2154502" cy="36176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>
                  <a:solidFill>
                    <a:schemeClr val="tx1"/>
                  </a:solidFill>
                </a:rPr>
                <a:t>Valor de doação </a:t>
              </a:r>
              <a:r>
                <a:rPr lang="pt-BR" sz="1600">
                  <a:solidFill>
                    <a:schemeClr val="tx1"/>
                  </a:solidFill>
                </a:rPr>
                <a:t>(R$)</a:t>
              </a:r>
            </a:p>
          </p:txBody>
        </p:sp>
      </p:grpSp>
      <p:cxnSp>
        <p:nvCxnSpPr>
          <p:cNvPr id="84" name="Google Shape;713;g3337748aba8_0_0">
            <a:extLst>
              <a:ext uri="{FF2B5EF4-FFF2-40B4-BE49-F238E27FC236}">
                <a16:creationId xmlns:a16="http://schemas.microsoft.com/office/drawing/2014/main" id="{E80F732A-0611-2FDB-388A-CCFB85CF86F2}"/>
              </a:ext>
            </a:extLst>
          </p:cNvPr>
          <p:cNvCxnSpPr>
            <a:cxnSpLocks/>
          </p:cNvCxnSpPr>
          <p:nvPr/>
        </p:nvCxnSpPr>
        <p:spPr>
          <a:xfrm flipV="1">
            <a:off x="554736" y="4602896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CC72254-5062-BE74-9B89-68C2ABEC33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554452" y="7188588"/>
            <a:ext cx="8855207" cy="1653683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759BA44C-8B45-C2C3-C3F5-A1567B088426}"/>
              </a:ext>
            </a:extLst>
          </p:cNvPr>
          <p:cNvGrpSpPr/>
          <p:nvPr/>
        </p:nvGrpSpPr>
        <p:grpSpPr>
          <a:xfrm>
            <a:off x="547687" y="4772389"/>
            <a:ext cx="11087234" cy="1202590"/>
            <a:chOff x="547687" y="5048948"/>
            <a:chExt cx="11087234" cy="120259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80EA491-E4A5-43E5-730B-A6AD7CD36D3B}"/>
                </a:ext>
              </a:extLst>
            </p:cNvPr>
            <p:cNvSpPr/>
            <p:nvPr/>
          </p:nvSpPr>
          <p:spPr>
            <a:xfrm>
              <a:off x="8178166" y="5165887"/>
              <a:ext cx="3456755" cy="968712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 dirty="0">
                  <a:solidFill>
                    <a:schemeClr val="tx1"/>
                  </a:solidFill>
                </a:rPr>
                <a:t>Com </a:t>
              </a:r>
              <a:r>
                <a:rPr lang="pt-BR" sz="1300" b="1" dirty="0">
                  <a:solidFill>
                    <a:schemeClr val="tx1"/>
                  </a:solidFill>
                </a:rPr>
                <a:t>37 doações</a:t>
              </a:r>
              <a:r>
                <a:rPr lang="pt-BR" sz="1300" dirty="0">
                  <a:solidFill>
                    <a:schemeClr val="tx1"/>
                  </a:solidFill>
                </a:rPr>
                <a:t>, garantimos </a:t>
              </a:r>
              <a:r>
                <a:rPr lang="pt-BR" sz="1300" b="1" dirty="0">
                  <a:solidFill>
                    <a:schemeClr val="tx1"/>
                  </a:solidFill>
                </a:rPr>
                <a:t>dois alunos  apoiados pra sempre</a:t>
              </a:r>
              <a:r>
                <a:rPr lang="pt-BR" sz="1300" dirty="0">
                  <a:solidFill>
                    <a:schemeClr val="tx1"/>
                  </a:solidFill>
                </a:rPr>
                <a:t>, um em cada programa</a:t>
              </a:r>
              <a:endParaRPr lang="pt-BR" sz="13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EFC07C4-6C66-3C82-231D-DAFF687B79BD}"/>
                </a:ext>
              </a:extLst>
            </p:cNvPr>
            <p:cNvGrpSpPr/>
            <p:nvPr/>
          </p:nvGrpSpPr>
          <p:grpSpPr>
            <a:xfrm>
              <a:off x="547687" y="5128220"/>
              <a:ext cx="1762459" cy="1044046"/>
              <a:chOff x="547688" y="2901587"/>
              <a:chExt cx="1762459" cy="1044046"/>
            </a:xfrm>
          </p:grpSpPr>
          <p:pic>
            <p:nvPicPr>
              <p:cNvPr id="99" name="Gráfico 85" descr="Lâmpada">
                <a:extLst>
                  <a:ext uri="{FF2B5EF4-FFF2-40B4-BE49-F238E27FC236}">
                    <a16:creationId xmlns:a16="http://schemas.microsoft.com/office/drawing/2014/main" id="{1173D991-3BF7-53F3-F1B3-3726EFB36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75654" y="3192811"/>
                <a:ext cx="510606" cy="461599"/>
              </a:xfrm>
              <a:prstGeom prst="rect">
                <a:avLst/>
              </a:prstGeom>
            </p:spPr>
          </p:pic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8111D22-BA1A-F0FB-C2C2-BF379A00D44A}"/>
                  </a:ext>
                </a:extLst>
              </p:cNvPr>
              <p:cNvSpPr/>
              <p:nvPr/>
            </p:nvSpPr>
            <p:spPr>
              <a:xfrm>
                <a:off x="547688" y="2901587"/>
                <a:ext cx="1762459" cy="1044046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1600" b="1" dirty="0">
                    <a:solidFill>
                      <a:schemeClr val="tx1"/>
                    </a:solidFill>
                  </a:rPr>
                  <a:t>Apoie ambos</a:t>
                </a:r>
              </a:p>
            </p:txBody>
          </p: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DE5CFD7-D609-939D-36FD-A6867018A3B1}"/>
                </a:ext>
              </a:extLst>
            </p:cNvPr>
            <p:cNvSpPr/>
            <p:nvPr/>
          </p:nvSpPr>
          <p:spPr>
            <a:xfrm>
              <a:off x="2593732" y="5403188"/>
              <a:ext cx="2855713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dirty="0">
                  <a:solidFill>
                    <a:schemeClr val="tx1"/>
                  </a:solidFill>
                </a:rPr>
                <a:t>Cota para bolsas perpétuas nos dois programas</a:t>
              </a:r>
              <a:endParaRPr lang="pt-BR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D53B343-CEF5-C673-3CBE-7577AC3D6884}"/>
                </a:ext>
              </a:extLst>
            </p:cNvPr>
            <p:cNvGrpSpPr/>
            <p:nvPr/>
          </p:nvGrpSpPr>
          <p:grpSpPr>
            <a:xfrm>
              <a:off x="5730747" y="5048948"/>
              <a:ext cx="2163833" cy="1202590"/>
              <a:chOff x="5730747" y="5048948"/>
              <a:chExt cx="2163833" cy="120259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96E4727-7C35-7AF3-E3EC-49FC64EC713E}"/>
                  </a:ext>
                </a:extLst>
              </p:cNvPr>
              <p:cNvSpPr/>
              <p:nvPr/>
            </p:nvSpPr>
            <p:spPr>
              <a:xfrm>
                <a:off x="5733030" y="504894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dirty="0">
                    <a:solidFill>
                      <a:schemeClr val="tx1"/>
                    </a:solidFill>
                  </a:rPr>
                  <a:t>Semestral</a:t>
                </a:r>
                <a:endParaRPr lang="pt-BR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E4B2242-FF3C-FB52-E5EF-2EF342031A6A}"/>
                  </a:ext>
                </a:extLst>
              </p:cNvPr>
              <p:cNvSpPr/>
              <p:nvPr/>
            </p:nvSpPr>
            <p:spPr>
              <a:xfrm>
                <a:off x="7023610" y="504894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b="1" dirty="0">
                    <a:solidFill>
                      <a:schemeClr val="tx1"/>
                    </a:solidFill>
                  </a:rPr>
                  <a:t>15k</a:t>
                </a:r>
              </a:p>
            </p:txBody>
          </p:sp>
          <p:cxnSp>
            <p:nvCxnSpPr>
              <p:cNvPr id="89" name="Google Shape;713;g3337748aba8_0_0">
                <a:extLst>
                  <a:ext uri="{FF2B5EF4-FFF2-40B4-BE49-F238E27FC236}">
                    <a16:creationId xmlns:a16="http://schemas.microsoft.com/office/drawing/2014/main" id="{AE47576C-76CE-60C4-B87A-DEAC08087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0747" y="5652582"/>
                <a:ext cx="2154502" cy="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85000"/>
                  </a:schemeClr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1C00AC2-9005-5486-7A4C-EF639BE8308F}"/>
                  </a:ext>
                </a:extLst>
              </p:cNvPr>
              <p:cNvSpPr/>
              <p:nvPr/>
            </p:nvSpPr>
            <p:spPr>
              <a:xfrm>
                <a:off x="5733030" y="575742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dirty="0">
                    <a:solidFill>
                      <a:schemeClr val="tx1"/>
                    </a:solidFill>
                  </a:rPr>
                  <a:t>Anual</a:t>
                </a:r>
                <a:endParaRPr lang="pt-BR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1A742E2-43E7-2925-6A7A-7743680E72F6}"/>
                  </a:ext>
                </a:extLst>
              </p:cNvPr>
              <p:cNvSpPr/>
              <p:nvPr/>
            </p:nvSpPr>
            <p:spPr>
              <a:xfrm>
                <a:off x="7023610" y="575742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b="1" dirty="0">
                    <a:solidFill>
                      <a:schemeClr val="tx1"/>
                    </a:solidFill>
                  </a:rPr>
                  <a:t>30k</a:t>
                </a:r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A026F57-6FCD-1FCE-A1BD-4AC6F8BB1659}"/>
              </a:ext>
            </a:extLst>
          </p:cNvPr>
          <p:cNvGrpSpPr/>
          <p:nvPr/>
        </p:nvGrpSpPr>
        <p:grpSpPr>
          <a:xfrm>
            <a:off x="604180" y="3230811"/>
            <a:ext cx="11028458" cy="1202590"/>
            <a:chOff x="604180" y="3396109"/>
            <a:chExt cx="11028458" cy="120259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B3DF325-2646-F2BF-E6FA-6FA9751ED5E0}"/>
                </a:ext>
              </a:extLst>
            </p:cNvPr>
            <p:cNvGrpSpPr/>
            <p:nvPr/>
          </p:nvGrpSpPr>
          <p:grpSpPr>
            <a:xfrm>
              <a:off x="604180" y="3560040"/>
              <a:ext cx="1755411" cy="874729"/>
              <a:chOff x="604180" y="2685273"/>
              <a:chExt cx="1755411" cy="874729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C7A1679-EE90-136F-E4D2-A38EC5BBF5F6}"/>
                  </a:ext>
                </a:extLst>
              </p:cNvPr>
              <p:cNvSpPr/>
              <p:nvPr/>
            </p:nvSpPr>
            <p:spPr>
              <a:xfrm>
                <a:off x="604180" y="2685273"/>
                <a:ext cx="1755411" cy="874729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1600" b="1" dirty="0">
                    <a:solidFill>
                      <a:schemeClr val="tx1"/>
                    </a:solidFill>
                  </a:rPr>
                  <a:t>Bolsa Trampolim</a:t>
                </a:r>
              </a:p>
            </p:txBody>
          </p:sp>
          <p:pic>
            <p:nvPicPr>
              <p:cNvPr id="97" name="Google Shape;401;p6">
                <a:extLst>
                  <a:ext uri="{FF2B5EF4-FFF2-40B4-BE49-F238E27FC236}">
                    <a16:creationId xmlns:a16="http://schemas.microsoft.com/office/drawing/2014/main" id="{DD22DDA7-AE50-112B-2750-77572ABE4424}"/>
                  </a:ext>
                </a:extLst>
              </p:cNvPr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655907" y="2933905"/>
                <a:ext cx="448987" cy="4058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199BBA-39DD-0435-9CCE-BDA99F071077}"/>
                </a:ext>
              </a:extLst>
            </p:cNvPr>
            <p:cNvSpPr/>
            <p:nvPr/>
          </p:nvSpPr>
          <p:spPr>
            <a:xfrm>
              <a:off x="2591449" y="3750349"/>
              <a:ext cx="284866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 dirty="0">
                  <a:solidFill>
                    <a:schemeClr val="tx1"/>
                  </a:solidFill>
                </a:rPr>
                <a:t>Cota de bolsa perpétua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1EF9286-EA02-96BA-F453-EED0653A55F7}"/>
                </a:ext>
              </a:extLst>
            </p:cNvPr>
            <p:cNvSpPr/>
            <p:nvPr/>
          </p:nvSpPr>
          <p:spPr>
            <a:xfrm>
              <a:off x="8175883" y="3750349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 dirty="0">
                  <a:solidFill>
                    <a:schemeClr val="tx1"/>
                  </a:solidFill>
                </a:rPr>
                <a:t>Com </a:t>
              </a:r>
              <a:r>
                <a:rPr lang="pt-BR" sz="1300" b="1" dirty="0">
                  <a:solidFill>
                    <a:schemeClr val="tx1"/>
                  </a:solidFill>
                </a:rPr>
                <a:t>66 doações </a:t>
              </a:r>
              <a:r>
                <a:rPr lang="pt-BR" sz="1300" dirty="0">
                  <a:solidFill>
                    <a:schemeClr val="tx1"/>
                  </a:solidFill>
                </a:rPr>
                <a:t>garantimos um </a:t>
              </a:r>
              <a:r>
                <a:rPr lang="pt-BR" sz="1300" b="1" dirty="0">
                  <a:solidFill>
                    <a:schemeClr val="tx1"/>
                  </a:solidFill>
                </a:rPr>
                <a:t>aluno apoiado para sempre</a:t>
              </a:r>
              <a:r>
                <a:rPr lang="pt-BR" sz="1300" dirty="0">
                  <a:solidFill>
                    <a:schemeClr val="tx1"/>
                  </a:solidFill>
                </a:rPr>
                <a:t> 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6D3B70A-73C6-B9B1-2DA3-75F8BE0F754F}"/>
                </a:ext>
              </a:extLst>
            </p:cNvPr>
            <p:cNvGrpSpPr/>
            <p:nvPr/>
          </p:nvGrpSpPr>
          <p:grpSpPr>
            <a:xfrm>
              <a:off x="5730747" y="3396109"/>
              <a:ext cx="2163833" cy="1202590"/>
              <a:chOff x="5730747" y="5048948"/>
              <a:chExt cx="2163833" cy="120259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FD11CA4-A824-98D7-0E76-1C18F5E7176A}"/>
                  </a:ext>
                </a:extLst>
              </p:cNvPr>
              <p:cNvSpPr/>
              <p:nvPr/>
            </p:nvSpPr>
            <p:spPr>
              <a:xfrm>
                <a:off x="5733030" y="504894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dirty="0">
                    <a:solidFill>
                      <a:schemeClr val="tx1"/>
                    </a:solidFill>
                  </a:rPr>
                  <a:t>Semestral</a:t>
                </a:r>
                <a:endParaRPr lang="pt-BR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68D0023-EF30-5969-2946-CCE789B8A5FA}"/>
                  </a:ext>
                </a:extLst>
              </p:cNvPr>
              <p:cNvSpPr/>
              <p:nvPr/>
            </p:nvSpPr>
            <p:spPr>
              <a:xfrm>
                <a:off x="7023610" y="504894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b="1" dirty="0">
                    <a:solidFill>
                      <a:schemeClr val="tx1"/>
                    </a:solidFill>
                  </a:rPr>
                  <a:t>10k</a:t>
                </a:r>
              </a:p>
            </p:txBody>
          </p:sp>
          <p:cxnSp>
            <p:nvCxnSpPr>
              <p:cNvPr id="47" name="Google Shape;713;g3337748aba8_0_0">
                <a:extLst>
                  <a:ext uri="{FF2B5EF4-FFF2-40B4-BE49-F238E27FC236}">
                    <a16:creationId xmlns:a16="http://schemas.microsoft.com/office/drawing/2014/main" id="{D419ED65-89FC-019A-72F5-BA0C7F45E4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0747" y="5652582"/>
                <a:ext cx="2154502" cy="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85000"/>
                  </a:schemeClr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8499774-A2FE-FFA0-D596-422EF888C3B8}"/>
                  </a:ext>
                </a:extLst>
              </p:cNvPr>
              <p:cNvSpPr/>
              <p:nvPr/>
            </p:nvSpPr>
            <p:spPr>
              <a:xfrm>
                <a:off x="5733030" y="575742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dirty="0">
                    <a:solidFill>
                      <a:schemeClr val="tx1"/>
                    </a:solidFill>
                  </a:rPr>
                  <a:t>Anual</a:t>
                </a:r>
                <a:endParaRPr lang="pt-BR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165FFB1-113A-E2E2-C131-32CFC0EA022A}"/>
                  </a:ext>
                </a:extLst>
              </p:cNvPr>
              <p:cNvSpPr/>
              <p:nvPr/>
            </p:nvSpPr>
            <p:spPr>
              <a:xfrm>
                <a:off x="7023610" y="575742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b="1" dirty="0">
                    <a:solidFill>
                      <a:schemeClr val="tx1"/>
                    </a:solidFill>
                  </a:rPr>
                  <a:t>20k</a:t>
                </a: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BE2A42-76FC-CC49-906C-BCE500A9B134}"/>
              </a:ext>
            </a:extLst>
          </p:cNvPr>
          <p:cNvGrpSpPr/>
          <p:nvPr/>
        </p:nvGrpSpPr>
        <p:grpSpPr>
          <a:xfrm>
            <a:off x="547688" y="1689231"/>
            <a:ext cx="11087233" cy="1202590"/>
            <a:chOff x="547688" y="1934070"/>
            <a:chExt cx="11087233" cy="120259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A7346C5-8543-2E95-2675-723F88365EF7}"/>
                </a:ext>
              </a:extLst>
            </p:cNvPr>
            <p:cNvGrpSpPr/>
            <p:nvPr/>
          </p:nvGrpSpPr>
          <p:grpSpPr>
            <a:xfrm>
              <a:off x="547688" y="2267849"/>
              <a:ext cx="1762459" cy="535033"/>
              <a:chOff x="547688" y="2062242"/>
              <a:chExt cx="1762459" cy="53503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A7FC617-3D33-940F-AE81-880D2820FAE1}"/>
                  </a:ext>
                </a:extLst>
              </p:cNvPr>
              <p:cNvSpPr/>
              <p:nvPr/>
            </p:nvSpPr>
            <p:spPr>
              <a:xfrm>
                <a:off x="547688" y="2062242"/>
                <a:ext cx="1762459" cy="535033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1600" b="1" dirty="0">
                    <a:solidFill>
                      <a:schemeClr val="tx1"/>
                    </a:solidFill>
                  </a:rPr>
                  <a:t>Bolsa    Reditus</a:t>
                </a:r>
              </a:p>
            </p:txBody>
          </p:sp>
          <p:pic>
            <p:nvPicPr>
              <p:cNvPr id="98" name="Gráfico 77" descr="Livros">
                <a:extLst>
                  <a:ext uri="{FF2B5EF4-FFF2-40B4-BE49-F238E27FC236}">
                    <a16:creationId xmlns:a16="http://schemas.microsoft.com/office/drawing/2014/main" id="{0ECC7D61-07AE-0C57-6D59-39FB27824C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04180" y="2156683"/>
                <a:ext cx="448987" cy="405895"/>
              </a:xfrm>
              <a:prstGeom prst="rect">
                <a:avLst/>
              </a:prstGeom>
            </p:spPr>
          </p:pic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58FD071-7899-6209-CDFA-4C4E30745919}"/>
                </a:ext>
              </a:extLst>
            </p:cNvPr>
            <p:cNvSpPr/>
            <p:nvPr/>
          </p:nvSpPr>
          <p:spPr>
            <a:xfrm>
              <a:off x="2593732" y="2288310"/>
              <a:ext cx="2855713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 dirty="0">
                  <a:solidFill>
                    <a:schemeClr val="tx1"/>
                  </a:solidFill>
                </a:rPr>
                <a:t>Cota de bolsa perpétua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E512473-52B4-14BE-832B-50F88CE5A3A1}"/>
                </a:ext>
              </a:extLst>
            </p:cNvPr>
            <p:cNvSpPr/>
            <p:nvPr/>
          </p:nvSpPr>
          <p:spPr>
            <a:xfrm>
              <a:off x="8178166" y="2288310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 dirty="0">
                  <a:solidFill>
                    <a:schemeClr val="tx1"/>
                  </a:solidFill>
                </a:rPr>
                <a:t>Com </a:t>
              </a:r>
              <a:r>
                <a:rPr lang="pt-BR" sz="1300" b="1" dirty="0">
                  <a:solidFill>
                    <a:schemeClr val="tx1"/>
                  </a:solidFill>
                </a:rPr>
                <a:t>40 doações </a:t>
              </a:r>
              <a:r>
                <a:rPr lang="pt-BR" sz="1300" dirty="0">
                  <a:solidFill>
                    <a:schemeClr val="tx1"/>
                  </a:solidFill>
                </a:rPr>
                <a:t>garantimos um </a:t>
              </a:r>
              <a:r>
                <a:rPr lang="pt-BR" sz="1300" b="1" dirty="0">
                  <a:solidFill>
                    <a:schemeClr val="tx1"/>
                  </a:solidFill>
                </a:rPr>
                <a:t>aluno apoiado para sempre</a:t>
              </a:r>
              <a:r>
                <a:rPr lang="pt-BR" sz="1300" dirty="0">
                  <a:solidFill>
                    <a:schemeClr val="tx1"/>
                  </a:solidFill>
                </a:rPr>
                <a:t> 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AF1430F-32F9-796B-021B-7B435002E1C3}"/>
                </a:ext>
              </a:extLst>
            </p:cNvPr>
            <p:cNvGrpSpPr/>
            <p:nvPr/>
          </p:nvGrpSpPr>
          <p:grpSpPr>
            <a:xfrm>
              <a:off x="5730747" y="1934070"/>
              <a:ext cx="2163833" cy="1202590"/>
              <a:chOff x="5730747" y="5048948"/>
              <a:chExt cx="2163833" cy="120259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1631E1A-749B-65B9-E452-A0DD0E7DFD0E}"/>
                  </a:ext>
                </a:extLst>
              </p:cNvPr>
              <p:cNvSpPr/>
              <p:nvPr/>
            </p:nvSpPr>
            <p:spPr>
              <a:xfrm>
                <a:off x="5733030" y="504894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dirty="0">
                    <a:solidFill>
                      <a:schemeClr val="tx1"/>
                    </a:solidFill>
                  </a:rPr>
                  <a:t>Semestral</a:t>
                </a:r>
                <a:endParaRPr lang="pt-BR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2FBCACC-E68B-047F-CDF3-2A0BD7BC7648}"/>
                  </a:ext>
                </a:extLst>
              </p:cNvPr>
              <p:cNvSpPr/>
              <p:nvPr/>
            </p:nvSpPr>
            <p:spPr>
              <a:xfrm>
                <a:off x="7023610" y="504894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b="1" dirty="0">
                    <a:solidFill>
                      <a:schemeClr val="tx1"/>
                    </a:solidFill>
                  </a:rPr>
                  <a:t>6k</a:t>
                </a:r>
              </a:p>
            </p:txBody>
          </p:sp>
          <p:cxnSp>
            <p:nvCxnSpPr>
              <p:cNvPr id="64" name="Google Shape;713;g3337748aba8_0_0">
                <a:extLst>
                  <a:ext uri="{FF2B5EF4-FFF2-40B4-BE49-F238E27FC236}">
                    <a16:creationId xmlns:a16="http://schemas.microsoft.com/office/drawing/2014/main" id="{C29A4DDF-B112-2B48-9797-3C1B06BA2B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0747" y="5652582"/>
                <a:ext cx="2154502" cy="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85000"/>
                  </a:schemeClr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3C152A2-7D44-2A47-3E44-D0C34EF836BE}"/>
                  </a:ext>
                </a:extLst>
              </p:cNvPr>
              <p:cNvSpPr/>
              <p:nvPr/>
            </p:nvSpPr>
            <p:spPr>
              <a:xfrm>
                <a:off x="5733030" y="575742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dirty="0">
                    <a:solidFill>
                      <a:schemeClr val="tx1"/>
                    </a:solidFill>
                  </a:rPr>
                  <a:t>Anual</a:t>
                </a:r>
                <a:endParaRPr lang="pt-BR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C247D85-B7F3-5B0C-9B7C-05A42423C1FF}"/>
                  </a:ext>
                </a:extLst>
              </p:cNvPr>
              <p:cNvSpPr/>
              <p:nvPr/>
            </p:nvSpPr>
            <p:spPr>
              <a:xfrm>
                <a:off x="7023610" y="5757428"/>
                <a:ext cx="870970" cy="494110"/>
              </a:xfrm>
              <a:prstGeom prst="rect">
                <a:avLst/>
              </a:prstGeom>
              <a:noFill/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b="1" dirty="0">
                    <a:solidFill>
                      <a:schemeClr val="tx1"/>
                    </a:solidFill>
                  </a:rPr>
                  <a:t>12k</a:t>
                </a:r>
              </a:p>
            </p:txBody>
          </p:sp>
        </p:grpSp>
      </p:grpSp>
      <p:sp>
        <p:nvSpPr>
          <p:cNvPr id="4" name="Nota">
            <a:extLst>
              <a:ext uri="{FF2B5EF4-FFF2-40B4-BE49-F238E27FC236}">
                <a16:creationId xmlns:a16="http://schemas.microsoft.com/office/drawing/2014/main" id="{66ADBF6B-47C2-0372-30D7-BB8FB187BE6C}"/>
              </a:ext>
            </a:extLst>
          </p:cNvPr>
          <p:cNvSpPr txBox="1"/>
          <p:nvPr/>
        </p:nvSpPr>
        <p:spPr>
          <a:xfrm>
            <a:off x="554736" y="6260039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0C172D"/>
                </a:solidFill>
                <a:latin typeface="Arial"/>
              </a:rPr>
              <a:t>Nota: </a:t>
            </a:r>
            <a:r>
              <a:rPr lang="en-US" sz="800" dirty="0">
                <a:solidFill>
                  <a:srgbClr val="0C172D"/>
                </a:solidFill>
              </a:rPr>
              <a:t>Falar que </a:t>
            </a:r>
            <a:r>
              <a:rPr lang="en-US" sz="800" dirty="0" err="1">
                <a:solidFill>
                  <a:srgbClr val="0C172D"/>
                </a:solidFill>
              </a:rPr>
              <a:t>caso</a:t>
            </a:r>
            <a:r>
              <a:rPr lang="en-US" sz="800" dirty="0">
                <a:solidFill>
                  <a:srgbClr val="0C172D"/>
                </a:solidFill>
              </a:rPr>
              <a:t> </a:t>
            </a:r>
            <a:r>
              <a:rPr lang="en-US" sz="800" dirty="0" err="1">
                <a:solidFill>
                  <a:srgbClr val="0C172D"/>
                </a:solidFill>
              </a:rPr>
              <a:t>uma</a:t>
            </a:r>
            <a:r>
              <a:rPr lang="en-US" sz="800" dirty="0">
                <a:solidFill>
                  <a:srgbClr val="0C172D"/>
                </a:solidFill>
              </a:rPr>
              <a:t> </a:t>
            </a:r>
            <a:r>
              <a:rPr lang="en-US" sz="800" dirty="0" err="1">
                <a:solidFill>
                  <a:srgbClr val="0C172D"/>
                </a:solidFill>
              </a:rPr>
              <a:t>cota</a:t>
            </a:r>
            <a:r>
              <a:rPr lang="en-US" sz="800" dirty="0">
                <a:solidFill>
                  <a:srgbClr val="0C172D"/>
                </a:solidFill>
              </a:rPr>
              <a:t> </a:t>
            </a:r>
            <a:r>
              <a:rPr lang="en-US" sz="800" dirty="0" err="1">
                <a:solidFill>
                  <a:srgbClr val="0C172D"/>
                </a:solidFill>
              </a:rPr>
              <a:t>não</a:t>
            </a:r>
            <a:r>
              <a:rPr lang="en-US" sz="800" dirty="0">
                <a:solidFill>
                  <a:srgbClr val="0C172D"/>
                </a:solidFill>
              </a:rPr>
              <a:t> </a:t>
            </a:r>
            <a:r>
              <a:rPr lang="en-US" sz="800" dirty="0" err="1">
                <a:solidFill>
                  <a:srgbClr val="0C172D"/>
                </a:solidFill>
              </a:rPr>
              <a:t>seja</a:t>
            </a:r>
            <a:r>
              <a:rPr lang="en-US" sz="800" dirty="0">
                <a:solidFill>
                  <a:srgbClr val="0C172D"/>
                </a:solidFill>
              </a:rPr>
              <a:t> complete a </a:t>
            </a:r>
            <a:r>
              <a:rPr lang="en-US" sz="800" dirty="0" err="1">
                <a:solidFill>
                  <a:srgbClr val="0C172D"/>
                </a:solidFill>
              </a:rPr>
              <a:t>doação</a:t>
            </a:r>
            <a:r>
              <a:rPr lang="en-US" sz="800" dirty="0">
                <a:solidFill>
                  <a:srgbClr val="0C172D"/>
                </a:solidFill>
              </a:rPr>
              <a:t> </a:t>
            </a:r>
            <a:r>
              <a:rPr lang="en-US" sz="800" dirty="0" err="1">
                <a:solidFill>
                  <a:srgbClr val="0C172D"/>
                </a:solidFill>
              </a:rPr>
              <a:t>vai</a:t>
            </a:r>
            <a:r>
              <a:rPr lang="en-US" sz="800" dirty="0">
                <a:solidFill>
                  <a:srgbClr val="0C172D"/>
                </a:solidFill>
              </a:rPr>
              <a:t> pro </a:t>
            </a:r>
            <a:r>
              <a:rPr lang="en-US" sz="800" dirty="0" err="1">
                <a:solidFill>
                  <a:srgbClr val="0C172D"/>
                </a:solidFill>
              </a:rPr>
              <a:t>endownment</a:t>
            </a:r>
            <a:endParaRPr sz="800" b="0" dirty="0">
              <a:solidFill>
                <a:srgbClr val="0C172D"/>
              </a:solidFill>
              <a:latin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B3F2B8-CB92-7D48-938B-F8DE5096C417}"/>
              </a:ext>
            </a:extLst>
          </p:cNvPr>
          <p:cNvSpPr/>
          <p:nvPr/>
        </p:nvSpPr>
        <p:spPr>
          <a:xfrm>
            <a:off x="8330566" y="7266453"/>
            <a:ext cx="3456755" cy="9687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288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800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pt-BR" sz="1300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780784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01F5-61CC-16A9-66B0-7A5D5D8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btfpColumnIndicatorGroup2">
            <a:extLst>
              <a:ext uri="{FF2B5EF4-FFF2-40B4-BE49-F238E27FC236}">
                <a16:creationId xmlns:a16="http://schemas.microsoft.com/office/drawing/2014/main" id="{46047BD3-7FBE-1C38-D7AE-C4891600D35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8" name="btfpColumnGapBlocker728763">
              <a:extLst>
                <a:ext uri="{FF2B5EF4-FFF2-40B4-BE49-F238E27FC236}">
                  <a16:creationId xmlns:a16="http://schemas.microsoft.com/office/drawing/2014/main" id="{455109B2-F3E6-5D5D-B68D-D2041C77A722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btfpColumnGapBlocker391006">
              <a:extLst>
                <a:ext uri="{FF2B5EF4-FFF2-40B4-BE49-F238E27FC236}">
                  <a16:creationId xmlns:a16="http://schemas.microsoft.com/office/drawing/2014/main" id="{CD47D47C-4629-4B7F-5E03-7D68075F8918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btfpColumnIndicator711501">
              <a:extLst>
                <a:ext uri="{FF2B5EF4-FFF2-40B4-BE49-F238E27FC236}">
                  <a16:creationId xmlns:a16="http://schemas.microsoft.com/office/drawing/2014/main" id="{EFEB93CA-0148-55AF-81FB-74CE7BDE8403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558411">
              <a:extLst>
                <a:ext uri="{FF2B5EF4-FFF2-40B4-BE49-F238E27FC236}">
                  <a16:creationId xmlns:a16="http://schemas.microsoft.com/office/drawing/2014/main" id="{A41BDBC9-707C-B924-2A25-641355FB4854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btfpColumnIndicatorGroup1">
            <a:extLst>
              <a:ext uri="{FF2B5EF4-FFF2-40B4-BE49-F238E27FC236}">
                <a16:creationId xmlns:a16="http://schemas.microsoft.com/office/drawing/2014/main" id="{704A0675-44D1-3ADC-1B75-8F62BDB12EF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7" name="btfpColumnGapBlocker637755">
              <a:extLst>
                <a:ext uri="{FF2B5EF4-FFF2-40B4-BE49-F238E27FC236}">
                  <a16:creationId xmlns:a16="http://schemas.microsoft.com/office/drawing/2014/main" id="{ADDCC2F1-27EB-21DE-677E-EC44DC85821E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777797">
              <a:extLst>
                <a:ext uri="{FF2B5EF4-FFF2-40B4-BE49-F238E27FC236}">
                  <a16:creationId xmlns:a16="http://schemas.microsoft.com/office/drawing/2014/main" id="{E6CAEB2A-8FBC-9A94-490B-814726059D1C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btfpColumnIndicator881320">
              <a:extLst>
                <a:ext uri="{FF2B5EF4-FFF2-40B4-BE49-F238E27FC236}">
                  <a16:creationId xmlns:a16="http://schemas.microsoft.com/office/drawing/2014/main" id="{F77A9B58-9E5F-5F58-9883-E1FC544710CF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326943">
              <a:extLst>
                <a:ext uri="{FF2B5EF4-FFF2-40B4-BE49-F238E27FC236}">
                  <a16:creationId xmlns:a16="http://schemas.microsoft.com/office/drawing/2014/main" id="{58D7E166-769A-75E4-F5AA-C7CC8290638F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9334326-2A36-8CBB-00B9-6E64C7980E0B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25" imgH="426" progId="TCLayout.ActiveDocument.1">
                  <p:embed/>
                </p:oleObj>
              </mc:Choice>
              <mc:Fallback>
                <p:oleObj name="thinkcell Slide" r:id="rId8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BEA96B-3CB8-D36F-AEF4-80328F08F2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DC62E-0AA9-FE32-1AD0-CC35102872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8" name="Title 17">
            <a:extLst>
              <a:ext uri="{FF2B5EF4-FFF2-40B4-BE49-F238E27FC236}">
                <a16:creationId xmlns:a16="http://schemas.microsoft.com/office/drawing/2014/main" id="{C2593435-E146-37A7-0303-A0A86766EDC8}"/>
              </a:ext>
            </a:extLst>
          </p:cNvPr>
          <p:cNvSpPr txBox="1">
            <a:spLocks/>
          </p:cNvSpPr>
          <p:nvPr/>
        </p:nvSpPr>
        <p:spPr>
          <a:xfrm>
            <a:off x="554736" y="18237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BR" sz="2000" dirty="0"/>
              <a:t>Acreditamos que as bolsas são o ponto de partida para desenvolver talentos da UFRJ e construir uma rede de alumni que impacte o Brasil e fortaleça a universidade</a:t>
            </a:r>
          </a:p>
        </p:txBody>
      </p:sp>
      <p:cxnSp>
        <p:nvCxnSpPr>
          <p:cNvPr id="81" name="Google Shape;713;g3337748aba8_0_0">
            <a:extLst>
              <a:ext uri="{FF2B5EF4-FFF2-40B4-BE49-F238E27FC236}">
                <a16:creationId xmlns:a16="http://schemas.microsoft.com/office/drawing/2014/main" id="{547116D6-190D-CA68-9A4A-BCFD1BBB1940}"/>
              </a:ext>
            </a:extLst>
          </p:cNvPr>
          <p:cNvCxnSpPr>
            <a:cxnSpLocks/>
          </p:cNvCxnSpPr>
          <p:nvPr/>
        </p:nvCxnSpPr>
        <p:spPr>
          <a:xfrm flipV="1">
            <a:off x="554736" y="3061316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BasicStrong 32">
            <a:extLst>
              <a:ext uri="{FF2B5EF4-FFF2-40B4-BE49-F238E27FC236}">
                <a16:creationId xmlns:a16="http://schemas.microsoft.com/office/drawing/2014/main" id="{407DEBAB-EDC6-DFC1-DD86-57E99CFE8E9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2593732" y="1518148"/>
            <a:ext cx="2855713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4486595-2FAC-186A-24EC-722D69275653}"/>
              </a:ext>
            </a:extLst>
          </p:cNvPr>
          <p:cNvSpPr/>
          <p:nvPr/>
        </p:nvSpPr>
        <p:spPr>
          <a:xfrm>
            <a:off x="2593732" y="1153480"/>
            <a:ext cx="2791641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Tipo de contribuição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D9567E-9D12-F202-B257-AC759517047A}"/>
              </a:ext>
            </a:extLst>
          </p:cNvPr>
          <p:cNvSpPr/>
          <p:nvPr/>
        </p:nvSpPr>
        <p:spPr>
          <a:xfrm>
            <a:off x="8178166" y="1153480"/>
            <a:ext cx="3456755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 dirty="0">
                <a:solidFill>
                  <a:schemeClr val="tx1"/>
                </a:solidFill>
              </a:rPr>
              <a:t>Descrição</a:t>
            </a:r>
          </a:p>
        </p:txBody>
      </p:sp>
      <p:cxnSp>
        <p:nvCxnSpPr>
          <p:cNvPr id="35" name="LineBasicStrong 32">
            <a:extLst>
              <a:ext uri="{FF2B5EF4-FFF2-40B4-BE49-F238E27FC236}">
                <a16:creationId xmlns:a16="http://schemas.microsoft.com/office/drawing/2014/main" id="{35BDBAB5-D7A1-B7E9-56B6-3AA24C983E23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8178166" y="1518148"/>
            <a:ext cx="3457125" cy="1588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LineBasicStrong 32">
            <a:extLst>
              <a:ext uri="{FF2B5EF4-FFF2-40B4-BE49-F238E27FC236}">
                <a16:creationId xmlns:a16="http://schemas.microsoft.com/office/drawing/2014/main" id="{C43939F1-89E6-DAF5-B310-EF7E257D827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47688" y="1518148"/>
            <a:ext cx="1762459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3133847-E126-D825-6AD5-FC73E5A50FAF}"/>
              </a:ext>
            </a:extLst>
          </p:cNvPr>
          <p:cNvSpPr/>
          <p:nvPr/>
        </p:nvSpPr>
        <p:spPr>
          <a:xfrm>
            <a:off x="547689" y="1153480"/>
            <a:ext cx="1760174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Projeto apoiado</a:t>
            </a:r>
          </a:p>
        </p:txBody>
      </p:sp>
      <p:cxnSp>
        <p:nvCxnSpPr>
          <p:cNvPr id="34" name="LineBasicStrong 32">
            <a:extLst>
              <a:ext uri="{FF2B5EF4-FFF2-40B4-BE49-F238E27FC236}">
                <a16:creationId xmlns:a16="http://schemas.microsoft.com/office/drawing/2014/main" id="{6F7E218F-6C23-F7FD-E18F-815E8765F952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733030" y="1518148"/>
            <a:ext cx="2154666" cy="1588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38AB2E6-8BD3-032A-C918-84300C5A7D08}"/>
              </a:ext>
            </a:extLst>
          </p:cNvPr>
          <p:cNvSpPr/>
          <p:nvPr/>
        </p:nvSpPr>
        <p:spPr>
          <a:xfrm>
            <a:off x="5733030" y="1153480"/>
            <a:ext cx="2154502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Valor de doação </a:t>
            </a:r>
            <a:r>
              <a:rPr lang="pt-BR" sz="1600">
                <a:solidFill>
                  <a:schemeClr val="tx1"/>
                </a:solidFill>
              </a:rPr>
              <a:t>(R$)</a:t>
            </a:r>
          </a:p>
        </p:txBody>
      </p:sp>
      <p:cxnSp>
        <p:nvCxnSpPr>
          <p:cNvPr id="84" name="Google Shape;713;g3337748aba8_0_0">
            <a:extLst>
              <a:ext uri="{FF2B5EF4-FFF2-40B4-BE49-F238E27FC236}">
                <a16:creationId xmlns:a16="http://schemas.microsoft.com/office/drawing/2014/main" id="{0BC4F5A9-EA8D-15B7-CE3A-2D37DFD88698}"/>
              </a:ext>
            </a:extLst>
          </p:cNvPr>
          <p:cNvCxnSpPr>
            <a:cxnSpLocks/>
          </p:cNvCxnSpPr>
          <p:nvPr/>
        </p:nvCxnSpPr>
        <p:spPr>
          <a:xfrm flipV="1">
            <a:off x="554736" y="4602896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7E95EA1-7D88-91A4-91D8-7430225504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554452" y="7188588"/>
            <a:ext cx="8855207" cy="1653683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9AEC54D6-91D0-FC58-76A4-3A3A7DA8FA9E}"/>
              </a:ext>
            </a:extLst>
          </p:cNvPr>
          <p:cNvSpPr/>
          <p:nvPr/>
        </p:nvSpPr>
        <p:spPr>
          <a:xfrm>
            <a:off x="8178166" y="4889328"/>
            <a:ext cx="3456755" cy="9687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Com </a:t>
            </a:r>
            <a:r>
              <a:rPr lang="pt-BR" sz="1300" b="1" dirty="0">
                <a:solidFill>
                  <a:schemeClr val="tx1"/>
                </a:solidFill>
              </a:rPr>
              <a:t>37 doações</a:t>
            </a:r>
            <a:r>
              <a:rPr lang="pt-BR" sz="1300" dirty="0">
                <a:solidFill>
                  <a:schemeClr val="tx1"/>
                </a:solidFill>
              </a:rPr>
              <a:t>, garantimos </a:t>
            </a:r>
            <a:r>
              <a:rPr lang="pt-BR" sz="1300" b="1" dirty="0">
                <a:solidFill>
                  <a:schemeClr val="tx1"/>
                </a:solidFill>
              </a:rPr>
              <a:t>dois alunos  apoiados pra sempre</a:t>
            </a:r>
            <a:r>
              <a:rPr lang="pt-BR" sz="1300" dirty="0">
                <a:solidFill>
                  <a:schemeClr val="tx1"/>
                </a:solidFill>
              </a:rPr>
              <a:t>, um em cada programa</a:t>
            </a:r>
            <a:endParaRPr lang="pt-BR" sz="1300" b="1" dirty="0">
              <a:solidFill>
                <a:schemeClr val="tx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BF3A80-E0CD-4104-8F09-39C2C052E2AE}"/>
              </a:ext>
            </a:extLst>
          </p:cNvPr>
          <p:cNvGrpSpPr/>
          <p:nvPr/>
        </p:nvGrpSpPr>
        <p:grpSpPr>
          <a:xfrm>
            <a:off x="547687" y="4851661"/>
            <a:ext cx="1762459" cy="1044046"/>
            <a:chOff x="547688" y="2901587"/>
            <a:chExt cx="1762459" cy="1044046"/>
          </a:xfrm>
        </p:grpSpPr>
        <p:pic>
          <p:nvPicPr>
            <p:cNvPr id="99" name="Gráfico 85" descr="Lâmpada">
              <a:extLst>
                <a:ext uri="{FF2B5EF4-FFF2-40B4-BE49-F238E27FC236}">
                  <a16:creationId xmlns:a16="http://schemas.microsoft.com/office/drawing/2014/main" id="{21EE0DFA-7142-DFDF-53C9-0C991CB19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75654" y="3192811"/>
              <a:ext cx="510606" cy="461599"/>
            </a:xfrm>
            <a:prstGeom prst="rect">
              <a:avLst/>
            </a:prstGeom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23690F3-CE5F-8DAF-03F4-A12541C6D4EE}"/>
                </a:ext>
              </a:extLst>
            </p:cNvPr>
            <p:cNvSpPr/>
            <p:nvPr/>
          </p:nvSpPr>
          <p:spPr>
            <a:xfrm>
              <a:off x="547688" y="2901587"/>
              <a:ext cx="1762459" cy="1044046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Apoie ambos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457FF838-AC11-A0ED-D919-03AF2BD51931}"/>
              </a:ext>
            </a:extLst>
          </p:cNvPr>
          <p:cNvSpPr/>
          <p:nvPr/>
        </p:nvSpPr>
        <p:spPr>
          <a:xfrm>
            <a:off x="2593732" y="5126629"/>
            <a:ext cx="2855713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dirty="0">
                <a:solidFill>
                  <a:schemeClr val="tx1"/>
                </a:solidFill>
              </a:rPr>
              <a:t>Cota para bolsas perpétuas nos dois programas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2E5478-F7C0-9891-82B1-F67C71A3491B}"/>
              </a:ext>
            </a:extLst>
          </p:cNvPr>
          <p:cNvSpPr/>
          <p:nvPr/>
        </p:nvSpPr>
        <p:spPr>
          <a:xfrm>
            <a:off x="6374796" y="5126629"/>
            <a:ext cx="870970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b="1" dirty="0">
                <a:solidFill>
                  <a:schemeClr val="tx1"/>
                </a:solidFill>
              </a:rPr>
              <a:t>30k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DE02E4-545E-1CD0-5E01-BA62B98711D1}"/>
              </a:ext>
            </a:extLst>
          </p:cNvPr>
          <p:cNvGrpSpPr/>
          <p:nvPr/>
        </p:nvGrpSpPr>
        <p:grpSpPr>
          <a:xfrm>
            <a:off x="604180" y="3394742"/>
            <a:ext cx="1755411" cy="874729"/>
            <a:chOff x="604180" y="2685273"/>
            <a:chExt cx="1755411" cy="874729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87CF74-EEE2-1C31-3D2F-85B3979A445D}"/>
                </a:ext>
              </a:extLst>
            </p:cNvPr>
            <p:cNvSpPr/>
            <p:nvPr/>
          </p:nvSpPr>
          <p:spPr>
            <a:xfrm>
              <a:off x="604180" y="2685273"/>
              <a:ext cx="1755411" cy="874729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Bolsa Trampolim</a:t>
              </a:r>
            </a:p>
          </p:txBody>
        </p:sp>
        <p:pic>
          <p:nvPicPr>
            <p:cNvPr id="97" name="Google Shape;401;p6">
              <a:extLst>
                <a:ext uri="{FF2B5EF4-FFF2-40B4-BE49-F238E27FC236}">
                  <a16:creationId xmlns:a16="http://schemas.microsoft.com/office/drawing/2014/main" id="{4780A8FD-E35A-98D4-2803-941A0FF13B50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655907" y="2933905"/>
              <a:ext cx="448987" cy="4058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F02D99E-E5DE-2330-4B59-87D007656B9B}"/>
              </a:ext>
            </a:extLst>
          </p:cNvPr>
          <p:cNvSpPr/>
          <p:nvPr/>
        </p:nvSpPr>
        <p:spPr>
          <a:xfrm>
            <a:off x="2591449" y="3585051"/>
            <a:ext cx="2848665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dirty="0">
                <a:solidFill>
                  <a:schemeClr val="tx1"/>
                </a:solidFill>
              </a:rPr>
              <a:t>Cota de bolsa perpétua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E7E02A-8F3C-D7B8-7C40-15BA9726D798}"/>
              </a:ext>
            </a:extLst>
          </p:cNvPr>
          <p:cNvSpPr/>
          <p:nvPr/>
        </p:nvSpPr>
        <p:spPr>
          <a:xfrm>
            <a:off x="8175883" y="3585051"/>
            <a:ext cx="3456755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Com </a:t>
            </a:r>
            <a:r>
              <a:rPr lang="pt-BR" sz="1300" b="1" dirty="0">
                <a:solidFill>
                  <a:schemeClr val="tx1"/>
                </a:solidFill>
              </a:rPr>
              <a:t>40 doações </a:t>
            </a:r>
            <a:r>
              <a:rPr lang="pt-BR" sz="1300" dirty="0">
                <a:solidFill>
                  <a:schemeClr val="tx1"/>
                </a:solidFill>
              </a:rPr>
              <a:t>garantimos um </a:t>
            </a:r>
            <a:r>
              <a:rPr lang="pt-BR" sz="1300" b="1" dirty="0">
                <a:solidFill>
                  <a:schemeClr val="tx1"/>
                </a:solidFill>
              </a:rPr>
              <a:t>aluno apoiado para sempre</a:t>
            </a:r>
            <a:r>
              <a:rPr lang="pt-BR" sz="13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2E7E7D-1F47-B30B-5E51-445E0BED5753}"/>
              </a:ext>
            </a:extLst>
          </p:cNvPr>
          <p:cNvSpPr/>
          <p:nvPr/>
        </p:nvSpPr>
        <p:spPr>
          <a:xfrm>
            <a:off x="6374796" y="3585051"/>
            <a:ext cx="870970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b="1" dirty="0">
                <a:solidFill>
                  <a:schemeClr val="tx1"/>
                </a:solidFill>
              </a:rPr>
              <a:t>20k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B8CA94-8929-2C53-E507-C52A6032BE3E}"/>
              </a:ext>
            </a:extLst>
          </p:cNvPr>
          <p:cNvGrpSpPr/>
          <p:nvPr/>
        </p:nvGrpSpPr>
        <p:grpSpPr>
          <a:xfrm>
            <a:off x="547688" y="2023010"/>
            <a:ext cx="1762459" cy="535033"/>
            <a:chOff x="547688" y="2062242"/>
            <a:chExt cx="1762459" cy="53503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C4888B-1513-0AF6-8D5B-BB295D77AD22}"/>
                </a:ext>
              </a:extLst>
            </p:cNvPr>
            <p:cNvSpPr/>
            <p:nvPr/>
          </p:nvSpPr>
          <p:spPr>
            <a:xfrm>
              <a:off x="547688" y="2062242"/>
              <a:ext cx="1762459" cy="535033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Bolsa    Reditus</a:t>
              </a:r>
            </a:p>
          </p:txBody>
        </p:sp>
        <p:pic>
          <p:nvPicPr>
            <p:cNvPr id="98" name="Gráfico 77" descr="Livros">
              <a:extLst>
                <a:ext uri="{FF2B5EF4-FFF2-40B4-BE49-F238E27FC236}">
                  <a16:creationId xmlns:a16="http://schemas.microsoft.com/office/drawing/2014/main" id="{F621053A-C7C2-20E7-07F4-8999047F3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04180" y="2156683"/>
              <a:ext cx="448987" cy="405895"/>
            </a:xfrm>
            <a:prstGeom prst="rect">
              <a:avLst/>
            </a:prstGeom>
          </p:spPr>
        </p:pic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02A6744-4CDE-5F04-70BA-0D073C200B8A}"/>
              </a:ext>
            </a:extLst>
          </p:cNvPr>
          <p:cNvSpPr/>
          <p:nvPr/>
        </p:nvSpPr>
        <p:spPr>
          <a:xfrm>
            <a:off x="2593732" y="2043471"/>
            <a:ext cx="2855713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dirty="0">
                <a:solidFill>
                  <a:schemeClr val="tx1"/>
                </a:solidFill>
              </a:rPr>
              <a:t>Cota de bolsa perpétua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67E01D-A80A-5F9C-DA7C-947DA2945BA6}"/>
              </a:ext>
            </a:extLst>
          </p:cNvPr>
          <p:cNvSpPr/>
          <p:nvPr/>
        </p:nvSpPr>
        <p:spPr>
          <a:xfrm>
            <a:off x="8178166" y="2043471"/>
            <a:ext cx="3456755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Com </a:t>
            </a:r>
            <a:r>
              <a:rPr lang="pt-BR" sz="1300" b="1" dirty="0">
                <a:solidFill>
                  <a:schemeClr val="tx1"/>
                </a:solidFill>
              </a:rPr>
              <a:t>24 doações </a:t>
            </a:r>
            <a:r>
              <a:rPr lang="pt-BR" sz="1300" dirty="0">
                <a:solidFill>
                  <a:schemeClr val="tx1"/>
                </a:solidFill>
              </a:rPr>
              <a:t>garantimos um </a:t>
            </a:r>
            <a:r>
              <a:rPr lang="pt-BR" sz="1300" b="1" dirty="0">
                <a:solidFill>
                  <a:schemeClr val="tx1"/>
                </a:solidFill>
              </a:rPr>
              <a:t>aluno apoiado para sempre</a:t>
            </a:r>
            <a:r>
              <a:rPr lang="pt-BR" sz="13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97D7425-1F38-BA41-58F0-1A0CEA37D7B3}"/>
              </a:ext>
            </a:extLst>
          </p:cNvPr>
          <p:cNvSpPr/>
          <p:nvPr/>
        </p:nvSpPr>
        <p:spPr>
          <a:xfrm>
            <a:off x="6374796" y="2043471"/>
            <a:ext cx="870970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b="1" dirty="0">
                <a:solidFill>
                  <a:schemeClr val="tx1"/>
                </a:solidFill>
              </a:rPr>
              <a:t>12k</a:t>
            </a:r>
          </a:p>
        </p:txBody>
      </p:sp>
      <p:sp>
        <p:nvSpPr>
          <p:cNvPr id="4" name="Nota">
            <a:extLst>
              <a:ext uri="{FF2B5EF4-FFF2-40B4-BE49-F238E27FC236}">
                <a16:creationId xmlns:a16="http://schemas.microsoft.com/office/drawing/2014/main" id="{59DD332D-8076-E54B-D450-FDFC8B9867EC}"/>
              </a:ext>
            </a:extLst>
          </p:cNvPr>
          <p:cNvSpPr txBox="1"/>
          <p:nvPr/>
        </p:nvSpPr>
        <p:spPr>
          <a:xfrm>
            <a:off x="554736" y="6260039"/>
            <a:ext cx="110825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buAutoNum type="arabicPeriod"/>
            </a:pPr>
            <a:r>
              <a:rPr lang="pt-BR" sz="800" dirty="0">
                <a:solidFill>
                  <a:srgbClr val="0C172D"/>
                </a:solidFill>
              </a:rPr>
              <a:t>Os valores anuais podem ser pagos em até 12 parcelas mensais, conforme a preferência do doador.</a:t>
            </a:r>
          </a:p>
          <a:p>
            <a:pPr marL="228600" indent="-228600">
              <a:buAutoNum type="arabicPeriod"/>
            </a:pPr>
            <a:r>
              <a:rPr lang="pt-BR" sz="800" dirty="0">
                <a:solidFill>
                  <a:srgbClr val="0C172D"/>
                </a:solidFill>
              </a:rPr>
              <a:t>As doações são direcionadas às bolsas quando a cota é completada. Caso contrário, os recursos são destinados ao </a:t>
            </a:r>
            <a:r>
              <a:rPr lang="pt-BR" sz="800" dirty="0" err="1">
                <a:solidFill>
                  <a:srgbClr val="0C172D"/>
                </a:solidFill>
              </a:rPr>
              <a:t>Endowment</a:t>
            </a:r>
            <a:r>
              <a:rPr lang="pt-BR" sz="800" dirty="0">
                <a:solidFill>
                  <a:srgbClr val="0C172D"/>
                </a:solidFill>
              </a:rPr>
              <a:t> do Reditus e reaplicados nos projetos de forma geral.’</a:t>
            </a:r>
            <a:endParaRPr lang="en-US" sz="800" dirty="0">
              <a:solidFill>
                <a:srgbClr val="0C172D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D8C5F8-0521-A2C1-4286-7216B9D7FD7B}"/>
              </a:ext>
            </a:extLst>
          </p:cNvPr>
          <p:cNvSpPr/>
          <p:nvPr/>
        </p:nvSpPr>
        <p:spPr>
          <a:xfrm>
            <a:off x="8330566" y="7266453"/>
            <a:ext cx="3456755" cy="9687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288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800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pt-BR" sz="1300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59939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E408-2E7B-85B9-96ED-3FB79A46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btfpColumnIndicatorGroup2">
            <a:extLst>
              <a:ext uri="{FF2B5EF4-FFF2-40B4-BE49-F238E27FC236}">
                <a16:creationId xmlns:a16="http://schemas.microsoft.com/office/drawing/2014/main" id="{888F2651-B1BE-9D55-D788-DD8697726B3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8" name="btfpColumnGapBlocker728763">
              <a:extLst>
                <a:ext uri="{FF2B5EF4-FFF2-40B4-BE49-F238E27FC236}">
                  <a16:creationId xmlns:a16="http://schemas.microsoft.com/office/drawing/2014/main" id="{DB409198-62EF-588D-3337-92892B26FE53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btfpColumnGapBlocker391006">
              <a:extLst>
                <a:ext uri="{FF2B5EF4-FFF2-40B4-BE49-F238E27FC236}">
                  <a16:creationId xmlns:a16="http://schemas.microsoft.com/office/drawing/2014/main" id="{1955B5B3-55C0-3CF9-2CAC-CE9E87B7E598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btfpColumnIndicator711501">
              <a:extLst>
                <a:ext uri="{FF2B5EF4-FFF2-40B4-BE49-F238E27FC236}">
                  <a16:creationId xmlns:a16="http://schemas.microsoft.com/office/drawing/2014/main" id="{E0082098-88AA-4C5D-F2F3-DF1BCFBB5018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558411">
              <a:extLst>
                <a:ext uri="{FF2B5EF4-FFF2-40B4-BE49-F238E27FC236}">
                  <a16:creationId xmlns:a16="http://schemas.microsoft.com/office/drawing/2014/main" id="{2CD0A260-3A6B-EF55-F6B2-FA20369F5524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btfpColumnIndicatorGroup1">
            <a:extLst>
              <a:ext uri="{FF2B5EF4-FFF2-40B4-BE49-F238E27FC236}">
                <a16:creationId xmlns:a16="http://schemas.microsoft.com/office/drawing/2014/main" id="{B8014BE7-F31C-2097-27E0-DBA453AD902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7" name="btfpColumnGapBlocker637755">
              <a:extLst>
                <a:ext uri="{FF2B5EF4-FFF2-40B4-BE49-F238E27FC236}">
                  <a16:creationId xmlns:a16="http://schemas.microsoft.com/office/drawing/2014/main" id="{0F84B42B-7AB3-A5CC-028E-FD401535A2F4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777797">
              <a:extLst>
                <a:ext uri="{FF2B5EF4-FFF2-40B4-BE49-F238E27FC236}">
                  <a16:creationId xmlns:a16="http://schemas.microsoft.com/office/drawing/2014/main" id="{A6320909-1C95-95D6-5DE7-83E28E33295A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btfpColumnIndicator881320">
              <a:extLst>
                <a:ext uri="{FF2B5EF4-FFF2-40B4-BE49-F238E27FC236}">
                  <a16:creationId xmlns:a16="http://schemas.microsoft.com/office/drawing/2014/main" id="{7E9CA25A-5B4A-456D-68FF-B465D3E0438A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326943">
              <a:extLst>
                <a:ext uri="{FF2B5EF4-FFF2-40B4-BE49-F238E27FC236}">
                  <a16:creationId xmlns:a16="http://schemas.microsoft.com/office/drawing/2014/main" id="{B428D6F7-6B25-E49E-F627-1A7AC98B5F0B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0AD3C95-6C0D-3E21-08CE-2F9AA0AB31BF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25" imgH="426" progId="TCLayout.ActiveDocument.1">
                  <p:embed/>
                </p:oleObj>
              </mc:Choice>
              <mc:Fallback>
                <p:oleObj name="thinkcell Slide" r:id="rId8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334326-2A36-8CBB-00B9-6E64C7980E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3B61A-E5FC-B277-661B-B6AC4FCDA1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8" name="Title 17">
            <a:extLst>
              <a:ext uri="{FF2B5EF4-FFF2-40B4-BE49-F238E27FC236}">
                <a16:creationId xmlns:a16="http://schemas.microsoft.com/office/drawing/2014/main" id="{1E7680B9-1FFD-1387-B489-942BBC1EF0DB}"/>
              </a:ext>
            </a:extLst>
          </p:cNvPr>
          <p:cNvSpPr txBox="1">
            <a:spLocks/>
          </p:cNvSpPr>
          <p:nvPr/>
        </p:nvSpPr>
        <p:spPr>
          <a:xfrm>
            <a:off x="554736" y="18237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BR" sz="2000" dirty="0"/>
              <a:t>Acreditamos que as bolsas são o ponto de partida para desenvolver talentos da UFRJ e construir uma rede de alumni que impacte o Brasil e fortaleça a universidade</a:t>
            </a:r>
          </a:p>
        </p:txBody>
      </p:sp>
      <p:cxnSp>
        <p:nvCxnSpPr>
          <p:cNvPr id="81" name="Google Shape;713;g3337748aba8_0_0">
            <a:extLst>
              <a:ext uri="{FF2B5EF4-FFF2-40B4-BE49-F238E27FC236}">
                <a16:creationId xmlns:a16="http://schemas.microsoft.com/office/drawing/2014/main" id="{43A12EB8-4CA0-4EC1-5CEF-0E0A551CA1EB}"/>
              </a:ext>
            </a:extLst>
          </p:cNvPr>
          <p:cNvCxnSpPr>
            <a:cxnSpLocks/>
          </p:cNvCxnSpPr>
          <p:nvPr/>
        </p:nvCxnSpPr>
        <p:spPr>
          <a:xfrm flipV="1">
            <a:off x="554736" y="3061316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BasicStrong 32">
            <a:extLst>
              <a:ext uri="{FF2B5EF4-FFF2-40B4-BE49-F238E27FC236}">
                <a16:creationId xmlns:a16="http://schemas.microsoft.com/office/drawing/2014/main" id="{A98314D8-125C-B607-13E6-74B278C9958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2593732" y="1518148"/>
            <a:ext cx="2855713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5C69256-6E11-9FFF-BD47-AAD30865F1B4}"/>
              </a:ext>
            </a:extLst>
          </p:cNvPr>
          <p:cNvSpPr/>
          <p:nvPr/>
        </p:nvSpPr>
        <p:spPr>
          <a:xfrm>
            <a:off x="2593732" y="1153480"/>
            <a:ext cx="2791641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Tipo de contribuição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A39F199-EA51-483F-C848-852070977D61}"/>
              </a:ext>
            </a:extLst>
          </p:cNvPr>
          <p:cNvSpPr/>
          <p:nvPr/>
        </p:nvSpPr>
        <p:spPr>
          <a:xfrm>
            <a:off x="8178166" y="1153480"/>
            <a:ext cx="3456755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 dirty="0">
                <a:solidFill>
                  <a:schemeClr val="tx1"/>
                </a:solidFill>
              </a:rPr>
              <a:t>Descrição</a:t>
            </a:r>
          </a:p>
        </p:txBody>
      </p:sp>
      <p:cxnSp>
        <p:nvCxnSpPr>
          <p:cNvPr id="35" name="LineBasicStrong 32">
            <a:extLst>
              <a:ext uri="{FF2B5EF4-FFF2-40B4-BE49-F238E27FC236}">
                <a16:creationId xmlns:a16="http://schemas.microsoft.com/office/drawing/2014/main" id="{770CA9B9-4F18-FD80-BEAC-C38B2925FE46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8178166" y="1518148"/>
            <a:ext cx="3457125" cy="1588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LineBasicStrong 32">
            <a:extLst>
              <a:ext uri="{FF2B5EF4-FFF2-40B4-BE49-F238E27FC236}">
                <a16:creationId xmlns:a16="http://schemas.microsoft.com/office/drawing/2014/main" id="{38F41E87-CEB0-78E4-8B03-138551CDCD5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47688" y="1518148"/>
            <a:ext cx="1762459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4A7262D-BBD3-5839-7EFD-B8A3C24510A3}"/>
              </a:ext>
            </a:extLst>
          </p:cNvPr>
          <p:cNvSpPr/>
          <p:nvPr/>
        </p:nvSpPr>
        <p:spPr>
          <a:xfrm>
            <a:off x="547689" y="1153480"/>
            <a:ext cx="1760174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Projeto apoiado</a:t>
            </a:r>
          </a:p>
        </p:txBody>
      </p:sp>
      <p:cxnSp>
        <p:nvCxnSpPr>
          <p:cNvPr id="34" name="LineBasicStrong 32">
            <a:extLst>
              <a:ext uri="{FF2B5EF4-FFF2-40B4-BE49-F238E27FC236}">
                <a16:creationId xmlns:a16="http://schemas.microsoft.com/office/drawing/2014/main" id="{F04E91E4-3D2D-53BD-7F6B-11A27849007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733030" y="1518148"/>
            <a:ext cx="2154666" cy="1588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EC6D49C-9EF5-D2B9-34B0-DDEF06117F13}"/>
              </a:ext>
            </a:extLst>
          </p:cNvPr>
          <p:cNvSpPr/>
          <p:nvPr/>
        </p:nvSpPr>
        <p:spPr>
          <a:xfrm>
            <a:off x="5733030" y="1153480"/>
            <a:ext cx="2154502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Valor de doação </a:t>
            </a:r>
            <a:r>
              <a:rPr lang="pt-BR" sz="1600">
                <a:solidFill>
                  <a:schemeClr val="tx1"/>
                </a:solidFill>
              </a:rPr>
              <a:t>(R$)</a:t>
            </a:r>
          </a:p>
        </p:txBody>
      </p:sp>
      <p:cxnSp>
        <p:nvCxnSpPr>
          <p:cNvPr id="84" name="Google Shape;713;g3337748aba8_0_0">
            <a:extLst>
              <a:ext uri="{FF2B5EF4-FFF2-40B4-BE49-F238E27FC236}">
                <a16:creationId xmlns:a16="http://schemas.microsoft.com/office/drawing/2014/main" id="{0EC7C1DB-2B00-B6DE-86A8-2470F1BA3E7B}"/>
              </a:ext>
            </a:extLst>
          </p:cNvPr>
          <p:cNvCxnSpPr>
            <a:cxnSpLocks/>
          </p:cNvCxnSpPr>
          <p:nvPr/>
        </p:nvCxnSpPr>
        <p:spPr>
          <a:xfrm flipV="1">
            <a:off x="554736" y="4602896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ED48CC9-9F6F-60A4-62C1-4B8929F740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554452" y="7188588"/>
            <a:ext cx="8855207" cy="1653683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B49EA22E-4858-A949-6A6B-BB8FEBE2C676}"/>
              </a:ext>
            </a:extLst>
          </p:cNvPr>
          <p:cNvSpPr/>
          <p:nvPr/>
        </p:nvSpPr>
        <p:spPr>
          <a:xfrm>
            <a:off x="8178166" y="4779155"/>
            <a:ext cx="3456755" cy="118905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Com </a:t>
            </a:r>
            <a:r>
              <a:rPr lang="pt-BR" sz="1300" b="1" dirty="0">
                <a:solidFill>
                  <a:schemeClr val="tx1"/>
                </a:solidFill>
              </a:rPr>
              <a:t>40 doações</a:t>
            </a:r>
            <a:r>
              <a:rPr lang="pt-BR" sz="1300" dirty="0">
                <a:solidFill>
                  <a:schemeClr val="tx1"/>
                </a:solidFill>
              </a:rPr>
              <a:t>, garantimos </a:t>
            </a:r>
            <a:r>
              <a:rPr lang="pt-BR" sz="1300" b="1" dirty="0">
                <a:solidFill>
                  <a:schemeClr val="tx1"/>
                </a:solidFill>
              </a:rPr>
              <a:t>dois alunos  apoiados pra sempre</a:t>
            </a:r>
            <a:r>
              <a:rPr lang="pt-BR" sz="1300" dirty="0">
                <a:solidFill>
                  <a:schemeClr val="tx1"/>
                </a:solidFill>
              </a:rPr>
              <a:t>, um em cada programa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Equivale a 30% de uma mensalidade da PUC-Rio em Engenharia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67BCE37-CB71-A92F-8574-8296AFE72995}"/>
              </a:ext>
            </a:extLst>
          </p:cNvPr>
          <p:cNvGrpSpPr/>
          <p:nvPr/>
        </p:nvGrpSpPr>
        <p:grpSpPr>
          <a:xfrm>
            <a:off x="547687" y="4851661"/>
            <a:ext cx="1762459" cy="1044046"/>
            <a:chOff x="547688" y="2901587"/>
            <a:chExt cx="1762459" cy="1044046"/>
          </a:xfrm>
        </p:grpSpPr>
        <p:pic>
          <p:nvPicPr>
            <p:cNvPr id="99" name="Gráfico 85" descr="Lâmpada">
              <a:extLst>
                <a:ext uri="{FF2B5EF4-FFF2-40B4-BE49-F238E27FC236}">
                  <a16:creationId xmlns:a16="http://schemas.microsoft.com/office/drawing/2014/main" id="{16A3D4AF-9EDF-96C7-FFFD-4A87A3EAC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75654" y="3192811"/>
              <a:ext cx="510606" cy="461599"/>
            </a:xfrm>
            <a:prstGeom prst="rect">
              <a:avLst/>
            </a:prstGeom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F32D654-88F4-2B8B-5FB4-144C703326C4}"/>
                </a:ext>
              </a:extLst>
            </p:cNvPr>
            <p:cNvSpPr/>
            <p:nvPr/>
          </p:nvSpPr>
          <p:spPr>
            <a:xfrm>
              <a:off x="547688" y="2901587"/>
              <a:ext cx="1762459" cy="1044046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Apoie ambos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E0471714-C25E-B037-FE08-9351C36DD30E}"/>
              </a:ext>
            </a:extLst>
          </p:cNvPr>
          <p:cNvSpPr/>
          <p:nvPr/>
        </p:nvSpPr>
        <p:spPr>
          <a:xfrm>
            <a:off x="2593732" y="5126629"/>
            <a:ext cx="2855713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dirty="0">
                <a:solidFill>
                  <a:schemeClr val="tx1"/>
                </a:solidFill>
              </a:rPr>
              <a:t>Cota para bolsas perpétuas nos dois programas</a:t>
            </a:r>
            <a:endParaRPr lang="pt-BR" sz="1400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1050CE-D556-01A6-90EB-3295F84BB165}"/>
              </a:ext>
            </a:extLst>
          </p:cNvPr>
          <p:cNvGrpSpPr/>
          <p:nvPr/>
        </p:nvGrpSpPr>
        <p:grpSpPr>
          <a:xfrm>
            <a:off x="604180" y="3394742"/>
            <a:ext cx="1755411" cy="874729"/>
            <a:chOff x="604180" y="2685273"/>
            <a:chExt cx="1755411" cy="874729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CC6FB3E-8C06-7E02-6141-B97730169DD7}"/>
                </a:ext>
              </a:extLst>
            </p:cNvPr>
            <p:cNvSpPr/>
            <p:nvPr/>
          </p:nvSpPr>
          <p:spPr>
            <a:xfrm>
              <a:off x="604180" y="2685273"/>
              <a:ext cx="1755411" cy="874729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Bolsa Trampolim</a:t>
              </a:r>
            </a:p>
          </p:txBody>
        </p:sp>
        <p:pic>
          <p:nvPicPr>
            <p:cNvPr id="97" name="Google Shape;401;p6">
              <a:extLst>
                <a:ext uri="{FF2B5EF4-FFF2-40B4-BE49-F238E27FC236}">
                  <a16:creationId xmlns:a16="http://schemas.microsoft.com/office/drawing/2014/main" id="{383C969E-19BF-A034-FF95-873337455E30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655907" y="2933905"/>
              <a:ext cx="448987" cy="4058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DBA334E-CE5A-0FF8-A42C-520455B8E93B}"/>
              </a:ext>
            </a:extLst>
          </p:cNvPr>
          <p:cNvSpPr/>
          <p:nvPr/>
        </p:nvSpPr>
        <p:spPr>
          <a:xfrm>
            <a:off x="2591449" y="3585051"/>
            <a:ext cx="2848665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dirty="0">
                <a:solidFill>
                  <a:schemeClr val="tx1"/>
                </a:solidFill>
              </a:rPr>
              <a:t>Cota de bolsa perpétua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888156-F2EE-0067-CCB4-5C52D6A5938D}"/>
              </a:ext>
            </a:extLst>
          </p:cNvPr>
          <p:cNvSpPr/>
          <p:nvPr/>
        </p:nvSpPr>
        <p:spPr>
          <a:xfrm>
            <a:off x="8175883" y="3310081"/>
            <a:ext cx="3456755" cy="104405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Com </a:t>
            </a:r>
            <a:r>
              <a:rPr lang="pt-BR" sz="1300" b="1" dirty="0">
                <a:solidFill>
                  <a:schemeClr val="tx1"/>
                </a:solidFill>
              </a:rPr>
              <a:t>40 doações </a:t>
            </a:r>
            <a:r>
              <a:rPr lang="pt-BR" sz="1300" dirty="0">
                <a:solidFill>
                  <a:schemeClr val="tx1"/>
                </a:solidFill>
              </a:rPr>
              <a:t>garantimos um </a:t>
            </a:r>
            <a:r>
              <a:rPr lang="pt-BR" sz="1300" b="1" dirty="0">
                <a:solidFill>
                  <a:schemeClr val="tx1"/>
                </a:solidFill>
              </a:rPr>
              <a:t>aluno apoiado para sempre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Equivale a 22% de uma mensalidade da PUC-Rio em Engenharia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935C3E-9D3C-AC20-A562-079DB10B7C1B}"/>
              </a:ext>
            </a:extLst>
          </p:cNvPr>
          <p:cNvGrpSpPr/>
          <p:nvPr/>
        </p:nvGrpSpPr>
        <p:grpSpPr>
          <a:xfrm>
            <a:off x="547688" y="2022112"/>
            <a:ext cx="1762459" cy="535033"/>
            <a:chOff x="547688" y="2062242"/>
            <a:chExt cx="1762459" cy="53503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6744DDB-95F2-3DB0-8785-E7DF8E29C0C1}"/>
                </a:ext>
              </a:extLst>
            </p:cNvPr>
            <p:cNvSpPr/>
            <p:nvPr/>
          </p:nvSpPr>
          <p:spPr>
            <a:xfrm>
              <a:off x="547688" y="2062242"/>
              <a:ext cx="1762459" cy="535033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Bolsa    Reditus</a:t>
              </a:r>
            </a:p>
          </p:txBody>
        </p:sp>
        <p:pic>
          <p:nvPicPr>
            <p:cNvPr id="98" name="Gráfico 77" descr="Livros">
              <a:extLst>
                <a:ext uri="{FF2B5EF4-FFF2-40B4-BE49-F238E27FC236}">
                  <a16:creationId xmlns:a16="http://schemas.microsoft.com/office/drawing/2014/main" id="{C7016E63-FD1F-AC0E-6D1A-44E26C211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04180" y="2156683"/>
              <a:ext cx="448987" cy="405895"/>
            </a:xfrm>
            <a:prstGeom prst="rect">
              <a:avLst/>
            </a:prstGeom>
          </p:spPr>
        </p:pic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F5BBCBB-C5A1-C823-619C-708E08B7B3A2}"/>
              </a:ext>
            </a:extLst>
          </p:cNvPr>
          <p:cNvSpPr/>
          <p:nvPr/>
        </p:nvSpPr>
        <p:spPr>
          <a:xfrm>
            <a:off x="2593732" y="2043471"/>
            <a:ext cx="2855713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dirty="0">
                <a:solidFill>
                  <a:schemeClr val="tx1"/>
                </a:solidFill>
              </a:rPr>
              <a:t>Cota de bolsa perpétua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A62BD1-CB62-7A98-DA8F-63782A4DDAF9}"/>
              </a:ext>
            </a:extLst>
          </p:cNvPr>
          <p:cNvSpPr/>
          <p:nvPr/>
        </p:nvSpPr>
        <p:spPr>
          <a:xfrm>
            <a:off x="8178166" y="1771676"/>
            <a:ext cx="3456755" cy="103770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Com </a:t>
            </a:r>
            <a:r>
              <a:rPr lang="pt-BR" sz="1300" b="1" dirty="0">
                <a:solidFill>
                  <a:schemeClr val="tx1"/>
                </a:solidFill>
              </a:rPr>
              <a:t>25 doações </a:t>
            </a:r>
            <a:r>
              <a:rPr lang="pt-BR" sz="1300" dirty="0">
                <a:solidFill>
                  <a:schemeClr val="tx1"/>
                </a:solidFill>
              </a:rPr>
              <a:t>garantimos um </a:t>
            </a:r>
            <a:r>
              <a:rPr lang="pt-BR" sz="1300" b="1" dirty="0">
                <a:solidFill>
                  <a:schemeClr val="tx1"/>
                </a:solidFill>
              </a:rPr>
              <a:t>aluno apoiado para sempre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Equivale a 14% de uma mensalidade da PUC-Rio em Engenharia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194BB02-20FE-F65A-A17F-4FB735906103}"/>
              </a:ext>
            </a:extLst>
          </p:cNvPr>
          <p:cNvSpPr/>
          <p:nvPr/>
        </p:nvSpPr>
        <p:spPr>
          <a:xfrm>
            <a:off x="5732866" y="1766704"/>
            <a:ext cx="2154666" cy="10458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b="1" dirty="0">
                <a:solidFill>
                  <a:schemeClr val="tx1"/>
                </a:solidFill>
              </a:rPr>
              <a:t>800 p</a:t>
            </a:r>
            <a:r>
              <a:rPr lang="en-US" b="1" dirty="0">
                <a:solidFill>
                  <a:schemeClr val="tx1"/>
                </a:solidFill>
              </a:rPr>
              <a:t>/ </a:t>
            </a:r>
            <a:r>
              <a:rPr lang="pt-BR" b="1" dirty="0">
                <a:solidFill>
                  <a:schemeClr val="tx1"/>
                </a:solidFill>
              </a:rPr>
              <a:t>mês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sz="1100" dirty="0">
                <a:solidFill>
                  <a:schemeClr val="tx1"/>
                </a:solidFill>
              </a:rPr>
              <a:t>por 1 ano</a:t>
            </a:r>
          </a:p>
        </p:txBody>
      </p:sp>
      <p:sp>
        <p:nvSpPr>
          <p:cNvPr id="4" name="Nota">
            <a:extLst>
              <a:ext uri="{FF2B5EF4-FFF2-40B4-BE49-F238E27FC236}">
                <a16:creationId xmlns:a16="http://schemas.microsoft.com/office/drawing/2014/main" id="{B8D42122-BF7E-DD20-3294-A7FB842D89AE}"/>
              </a:ext>
            </a:extLst>
          </p:cNvPr>
          <p:cNvSpPr txBox="1"/>
          <p:nvPr/>
        </p:nvSpPr>
        <p:spPr>
          <a:xfrm>
            <a:off x="554736" y="6260039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800" dirty="0">
                <a:solidFill>
                  <a:srgbClr val="0C172D"/>
                </a:solidFill>
              </a:rPr>
              <a:t>As doações são direcionadas às bolsas quando a cota é completada. Caso contrário, os recursos são destinados ao </a:t>
            </a:r>
            <a:r>
              <a:rPr lang="pt-BR" sz="800" dirty="0" err="1">
                <a:solidFill>
                  <a:srgbClr val="0C172D"/>
                </a:solidFill>
              </a:rPr>
              <a:t>Endowment</a:t>
            </a:r>
            <a:r>
              <a:rPr lang="pt-BR" sz="800" dirty="0">
                <a:solidFill>
                  <a:srgbClr val="0C172D"/>
                </a:solidFill>
              </a:rPr>
              <a:t> do Reditus e reaplicados nos projetos de forma geral.’</a:t>
            </a:r>
            <a:endParaRPr lang="en-US" sz="800" dirty="0">
              <a:solidFill>
                <a:srgbClr val="0C172D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696DCC-747A-6225-ABCC-D9137EC4B75E}"/>
              </a:ext>
            </a:extLst>
          </p:cNvPr>
          <p:cNvSpPr/>
          <p:nvPr/>
        </p:nvSpPr>
        <p:spPr>
          <a:xfrm>
            <a:off x="8330566" y="7266453"/>
            <a:ext cx="3456755" cy="9687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288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chemeClr val="tx1"/>
                </a:solidFill>
              </a:rPr>
              <a:t>800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pt-BR" sz="13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7D378-2015-F35A-9851-344D8C116E7B}"/>
              </a:ext>
            </a:extLst>
          </p:cNvPr>
          <p:cNvSpPr/>
          <p:nvPr/>
        </p:nvSpPr>
        <p:spPr>
          <a:xfrm>
            <a:off x="5732866" y="3585051"/>
            <a:ext cx="2154666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b="1" dirty="0">
                <a:solidFill>
                  <a:schemeClr val="tx1"/>
                </a:solidFill>
              </a:rPr>
              <a:t>1.250 p</a:t>
            </a:r>
            <a:r>
              <a:rPr lang="en-US" b="1" dirty="0">
                <a:solidFill>
                  <a:schemeClr val="tx1"/>
                </a:solidFill>
              </a:rPr>
              <a:t>/ </a:t>
            </a:r>
            <a:r>
              <a:rPr lang="pt-BR" b="1" dirty="0">
                <a:solidFill>
                  <a:schemeClr val="tx1"/>
                </a:solidFill>
              </a:rPr>
              <a:t>mês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sz="1100" dirty="0">
                <a:solidFill>
                  <a:schemeClr val="tx1"/>
                </a:solidFill>
              </a:rPr>
              <a:t>por  1 ano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2314FA-8BE8-014A-EB44-6D02AAD23C92}"/>
              </a:ext>
            </a:extLst>
          </p:cNvPr>
          <p:cNvSpPr/>
          <p:nvPr/>
        </p:nvSpPr>
        <p:spPr>
          <a:xfrm>
            <a:off x="5732866" y="5126629"/>
            <a:ext cx="2154666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b="1" dirty="0">
                <a:solidFill>
                  <a:schemeClr val="tx1"/>
                </a:solidFill>
              </a:rPr>
              <a:t>1.750 p</a:t>
            </a:r>
            <a:r>
              <a:rPr lang="en-US" b="1" dirty="0">
                <a:solidFill>
                  <a:schemeClr val="tx1"/>
                </a:solidFill>
              </a:rPr>
              <a:t>/ </a:t>
            </a:r>
            <a:r>
              <a:rPr lang="pt-BR" b="1" dirty="0">
                <a:solidFill>
                  <a:schemeClr val="tx1"/>
                </a:solidFill>
              </a:rPr>
              <a:t>mês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sz="1100" dirty="0">
                <a:solidFill>
                  <a:schemeClr val="tx1"/>
                </a:solidFill>
              </a:rPr>
              <a:t>por 1 ano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166058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5D7A-67A5-2624-BE26-4C60A143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btfpColumnIndicatorGroup2">
            <a:extLst>
              <a:ext uri="{FF2B5EF4-FFF2-40B4-BE49-F238E27FC236}">
                <a16:creationId xmlns:a16="http://schemas.microsoft.com/office/drawing/2014/main" id="{280A8F04-4BF7-85C0-7BBF-E341B0EA9AF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8" name="btfpColumnGapBlocker728763">
              <a:extLst>
                <a:ext uri="{FF2B5EF4-FFF2-40B4-BE49-F238E27FC236}">
                  <a16:creationId xmlns:a16="http://schemas.microsoft.com/office/drawing/2014/main" id="{B5A54506-7385-7CDA-B377-B203257D05FD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btfpColumnGapBlocker391006">
              <a:extLst>
                <a:ext uri="{FF2B5EF4-FFF2-40B4-BE49-F238E27FC236}">
                  <a16:creationId xmlns:a16="http://schemas.microsoft.com/office/drawing/2014/main" id="{85D3AF3B-DAA9-3435-1CEB-7D62B2FD455A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btfpColumnIndicator711501">
              <a:extLst>
                <a:ext uri="{FF2B5EF4-FFF2-40B4-BE49-F238E27FC236}">
                  <a16:creationId xmlns:a16="http://schemas.microsoft.com/office/drawing/2014/main" id="{E671C078-04C1-520C-677B-D084FB529062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558411">
              <a:extLst>
                <a:ext uri="{FF2B5EF4-FFF2-40B4-BE49-F238E27FC236}">
                  <a16:creationId xmlns:a16="http://schemas.microsoft.com/office/drawing/2014/main" id="{A1D948AB-53F8-DF18-5FB3-7E6A10BF7B23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btfpColumnIndicatorGroup1">
            <a:extLst>
              <a:ext uri="{FF2B5EF4-FFF2-40B4-BE49-F238E27FC236}">
                <a16:creationId xmlns:a16="http://schemas.microsoft.com/office/drawing/2014/main" id="{BECF0A91-6D9E-A98D-1A19-FB2C53678F3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7" name="btfpColumnGapBlocker637755">
              <a:extLst>
                <a:ext uri="{FF2B5EF4-FFF2-40B4-BE49-F238E27FC236}">
                  <a16:creationId xmlns:a16="http://schemas.microsoft.com/office/drawing/2014/main" id="{292271B8-3CD0-5CB9-47E8-399971A862DF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777797">
              <a:extLst>
                <a:ext uri="{FF2B5EF4-FFF2-40B4-BE49-F238E27FC236}">
                  <a16:creationId xmlns:a16="http://schemas.microsoft.com/office/drawing/2014/main" id="{A2D0187C-69D6-FC33-8833-F12D77F6FD83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btfpColumnIndicator881320">
              <a:extLst>
                <a:ext uri="{FF2B5EF4-FFF2-40B4-BE49-F238E27FC236}">
                  <a16:creationId xmlns:a16="http://schemas.microsoft.com/office/drawing/2014/main" id="{8FECBB7C-D879-5B49-D682-2AE60C3AC440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326943">
              <a:extLst>
                <a:ext uri="{FF2B5EF4-FFF2-40B4-BE49-F238E27FC236}">
                  <a16:creationId xmlns:a16="http://schemas.microsoft.com/office/drawing/2014/main" id="{6E8055B5-7B61-4729-3996-A634F98167B6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989906F-85D2-8CE9-B602-4C7F915296B3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25" imgH="426" progId="TCLayout.ActiveDocument.1">
                  <p:embed/>
                </p:oleObj>
              </mc:Choice>
              <mc:Fallback>
                <p:oleObj name="thinkcell Slide" r:id="rId8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BEA96B-3CB8-D36F-AEF4-80328F08F2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4CA559E-26FF-A3B1-D91C-67B6B153F48B}"/>
              </a:ext>
            </a:extLst>
          </p:cNvPr>
          <p:cNvGrpSpPr/>
          <p:nvPr/>
        </p:nvGrpSpPr>
        <p:grpSpPr>
          <a:xfrm>
            <a:off x="2593732" y="3812288"/>
            <a:ext cx="9041189" cy="494110"/>
            <a:chOff x="2593732" y="2938816"/>
            <a:chExt cx="9041189" cy="49411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FBFE91A-4259-70E6-0357-13474EBFD3B6}"/>
                </a:ext>
              </a:extLst>
            </p:cNvPr>
            <p:cNvSpPr/>
            <p:nvPr/>
          </p:nvSpPr>
          <p:spPr>
            <a:xfrm>
              <a:off x="2593732" y="2938816"/>
              <a:ext cx="2855713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 dirty="0">
                  <a:solidFill>
                    <a:schemeClr val="tx1"/>
                  </a:solidFill>
                </a:rPr>
                <a:t>Financiamento de </a:t>
              </a:r>
              <a:r>
                <a:rPr lang="en-US" sz="1400" i="1" dirty="0">
                  <a:solidFill>
                    <a:schemeClr val="tx1"/>
                  </a:solidFill>
                </a:rPr>
                <a:t>n</a:t>
              </a:r>
              <a:r>
                <a:rPr lang="en-US" sz="1400" i="1" noProof="0" dirty="0" err="1">
                  <a:solidFill>
                    <a:schemeClr val="tx1"/>
                  </a:solidFill>
                </a:rPr>
                <a:t>aming</a:t>
              </a:r>
              <a:r>
                <a:rPr lang="en-US" sz="1400" i="1" noProof="0" dirty="0">
                  <a:solidFill>
                    <a:schemeClr val="tx1"/>
                  </a:solidFill>
                </a:rPr>
                <a:t> </a:t>
              </a:r>
              <a:r>
                <a:rPr lang="en-US" sz="1400" i="1" dirty="0">
                  <a:solidFill>
                    <a:schemeClr val="tx1"/>
                  </a:solidFill>
                </a:rPr>
                <a:t>r</a:t>
              </a:r>
              <a:r>
                <a:rPr lang="en-US" sz="1400" i="1" noProof="0" dirty="0" err="1">
                  <a:solidFill>
                    <a:schemeClr val="tx1"/>
                  </a:solidFill>
                </a:rPr>
                <a:t>ights</a:t>
              </a:r>
              <a:r>
                <a:rPr lang="en-US" sz="1400" i="1" noProof="0" dirty="0">
                  <a:solidFill>
                    <a:schemeClr val="tx1"/>
                  </a:solidFill>
                </a:rPr>
                <a:t> 2026</a:t>
              </a:r>
              <a:endParaRPr lang="pt-BR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EA1871B-D5E6-D25D-F791-16CDC092C2E8}"/>
                </a:ext>
              </a:extLst>
            </p:cNvPr>
            <p:cNvSpPr/>
            <p:nvPr/>
          </p:nvSpPr>
          <p:spPr>
            <a:xfrm>
              <a:off x="8178166" y="2938816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Patrocínio </a:t>
              </a:r>
              <a:r>
                <a:rPr lang="pt-BR" sz="1300" b="1">
                  <a:solidFill>
                    <a:schemeClr val="tx1"/>
                  </a:solidFill>
                </a:rPr>
                <a:t>integral </a:t>
              </a:r>
              <a:r>
                <a:rPr lang="pt-BR" sz="1300">
                  <a:solidFill>
                    <a:schemeClr val="tx1"/>
                  </a:solidFill>
                </a:rPr>
                <a:t>do </a:t>
              </a:r>
              <a:r>
                <a:rPr lang="pt-BR" sz="1300" b="1">
                  <a:solidFill>
                    <a:schemeClr val="tx1"/>
                  </a:solidFill>
                </a:rPr>
                <a:t>Edital de Inovação</a:t>
              </a:r>
              <a:r>
                <a:rPr lang="pt-BR" sz="1300">
                  <a:solidFill>
                    <a:schemeClr val="tx1"/>
                  </a:solidFill>
                </a:rPr>
                <a:t>, com direito aos </a:t>
              </a:r>
              <a:r>
                <a:rPr lang="pt-BR" sz="1300" b="1" i="1" err="1">
                  <a:solidFill>
                    <a:schemeClr val="tx1"/>
                  </a:solidFill>
                </a:rPr>
                <a:t>naming</a:t>
              </a:r>
              <a:r>
                <a:rPr lang="pt-BR" sz="1300" b="1" i="1">
                  <a:solidFill>
                    <a:schemeClr val="tx1"/>
                  </a:solidFill>
                </a:rPr>
                <a:t> </a:t>
              </a:r>
              <a:r>
                <a:rPr lang="pt-BR" sz="1300" b="1" i="1" err="1">
                  <a:solidFill>
                    <a:schemeClr val="tx1"/>
                  </a:solidFill>
                </a:rPr>
                <a:t>rights</a:t>
              </a:r>
              <a:r>
                <a:rPr lang="pt-BR" sz="1300" b="1" i="1">
                  <a:solidFill>
                    <a:schemeClr val="tx1"/>
                  </a:solidFill>
                </a:rPr>
                <a:t> </a:t>
              </a:r>
              <a:r>
                <a:rPr lang="pt-BR" sz="1300">
                  <a:solidFill>
                    <a:schemeClr val="tx1"/>
                  </a:solidFill>
                </a:rPr>
                <a:t>da edição</a:t>
              </a:r>
              <a:endParaRPr lang="pt-BR" sz="1300" b="1">
                <a:solidFill>
                  <a:schemeClr val="tx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B94B109-CAF7-8AA0-0BBE-C3C0CD6519FE}"/>
                </a:ext>
              </a:extLst>
            </p:cNvPr>
            <p:cNvSpPr/>
            <p:nvPr/>
          </p:nvSpPr>
          <p:spPr>
            <a:xfrm>
              <a:off x="5733030" y="2938816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b="1" dirty="0">
                  <a:solidFill>
                    <a:schemeClr val="tx1"/>
                  </a:solidFill>
                </a:rPr>
                <a:t>50k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D48F059-5D7D-0141-C44E-E7C95CB7F067}"/>
              </a:ext>
            </a:extLst>
          </p:cNvPr>
          <p:cNvGrpSpPr/>
          <p:nvPr/>
        </p:nvGrpSpPr>
        <p:grpSpPr>
          <a:xfrm>
            <a:off x="547687" y="3924445"/>
            <a:ext cx="1762459" cy="1044046"/>
            <a:chOff x="547688" y="2901587"/>
            <a:chExt cx="1762459" cy="1044046"/>
          </a:xfrm>
        </p:grpSpPr>
        <p:pic>
          <p:nvPicPr>
            <p:cNvPr id="99" name="Gráfico 85" descr="Lâmpada">
              <a:extLst>
                <a:ext uri="{FF2B5EF4-FFF2-40B4-BE49-F238E27FC236}">
                  <a16:creationId xmlns:a16="http://schemas.microsoft.com/office/drawing/2014/main" id="{B8DB0D4D-05B4-F64C-CC12-39AB543A9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5654" y="3192811"/>
              <a:ext cx="510606" cy="461599"/>
            </a:xfrm>
            <a:prstGeom prst="rect">
              <a:avLst/>
            </a:prstGeom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DB534B2-748D-CCA9-21AF-E236EFE60F58}"/>
                </a:ext>
              </a:extLst>
            </p:cNvPr>
            <p:cNvSpPr/>
            <p:nvPr/>
          </p:nvSpPr>
          <p:spPr>
            <a:xfrm>
              <a:off x="547688" y="2901587"/>
              <a:ext cx="1762459" cy="1044046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Apoie ambos</a:t>
              </a: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2437A-A88B-87E9-C85A-8946AAF699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8" name="Title 17">
            <a:extLst>
              <a:ext uri="{FF2B5EF4-FFF2-40B4-BE49-F238E27FC236}">
                <a16:creationId xmlns:a16="http://schemas.microsoft.com/office/drawing/2014/main" id="{217C683A-6785-FBF4-B40B-D20B0DA1C78C}"/>
              </a:ext>
            </a:extLst>
          </p:cNvPr>
          <p:cNvSpPr txBox="1">
            <a:spLocks/>
          </p:cNvSpPr>
          <p:nvPr/>
        </p:nvSpPr>
        <p:spPr>
          <a:xfrm>
            <a:off x="554736" y="18237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BR" sz="2000" dirty="0"/>
              <a:t>Cotas propostas – </a:t>
            </a:r>
            <a:r>
              <a:rPr lang="pt-BR" sz="2000" dirty="0">
                <a:highlight>
                  <a:srgbClr val="FFFF00"/>
                </a:highlight>
              </a:rPr>
              <a:t>preliminar</a:t>
            </a:r>
            <a:r>
              <a:rPr lang="pt-BR" sz="2000" dirty="0"/>
              <a:t> </a:t>
            </a:r>
          </a:p>
        </p:txBody>
      </p:sp>
      <p:cxnSp>
        <p:nvCxnSpPr>
          <p:cNvPr id="81" name="Google Shape;713;g3337748aba8_0_0">
            <a:extLst>
              <a:ext uri="{FF2B5EF4-FFF2-40B4-BE49-F238E27FC236}">
                <a16:creationId xmlns:a16="http://schemas.microsoft.com/office/drawing/2014/main" id="{0631F0E8-BFC4-5CC3-411A-01070CC39D3A}"/>
              </a:ext>
            </a:extLst>
          </p:cNvPr>
          <p:cNvCxnSpPr>
            <a:cxnSpLocks/>
          </p:cNvCxnSpPr>
          <p:nvPr/>
        </p:nvCxnSpPr>
        <p:spPr>
          <a:xfrm flipV="1">
            <a:off x="554736" y="2689538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BasicStrong 32">
            <a:extLst>
              <a:ext uri="{FF2B5EF4-FFF2-40B4-BE49-F238E27FC236}">
                <a16:creationId xmlns:a16="http://schemas.microsoft.com/office/drawing/2014/main" id="{A0774159-7E85-55F9-7B29-320BB3B76E8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2593732" y="1813561"/>
            <a:ext cx="2855713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5848265-CB54-17DB-CC1A-82CF860E8614}"/>
              </a:ext>
            </a:extLst>
          </p:cNvPr>
          <p:cNvSpPr/>
          <p:nvPr/>
        </p:nvSpPr>
        <p:spPr>
          <a:xfrm>
            <a:off x="2593732" y="1448893"/>
            <a:ext cx="2791641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Tipo de contribuição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07412D-BE72-A87C-8D4A-707E5999FE21}"/>
              </a:ext>
            </a:extLst>
          </p:cNvPr>
          <p:cNvSpPr/>
          <p:nvPr/>
        </p:nvSpPr>
        <p:spPr>
          <a:xfrm>
            <a:off x="8178166" y="1448893"/>
            <a:ext cx="3456755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Descrição</a:t>
            </a:r>
          </a:p>
        </p:txBody>
      </p:sp>
      <p:cxnSp>
        <p:nvCxnSpPr>
          <p:cNvPr id="35" name="LineBasicStrong 32">
            <a:extLst>
              <a:ext uri="{FF2B5EF4-FFF2-40B4-BE49-F238E27FC236}">
                <a16:creationId xmlns:a16="http://schemas.microsoft.com/office/drawing/2014/main" id="{15B55A58-2F6C-0B7B-0AE2-BA117B9297B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8178166" y="1813561"/>
            <a:ext cx="3457125" cy="1588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LineBasicStrong 32">
            <a:extLst>
              <a:ext uri="{FF2B5EF4-FFF2-40B4-BE49-F238E27FC236}">
                <a16:creationId xmlns:a16="http://schemas.microsoft.com/office/drawing/2014/main" id="{99145F78-5417-AC85-B848-43FA390FDE70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47688" y="1813561"/>
            <a:ext cx="1762459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69DEC57-E4F6-7521-D240-FD8E5DACC7AE}"/>
              </a:ext>
            </a:extLst>
          </p:cNvPr>
          <p:cNvSpPr/>
          <p:nvPr/>
        </p:nvSpPr>
        <p:spPr>
          <a:xfrm>
            <a:off x="547689" y="1448893"/>
            <a:ext cx="1760174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Projeto apoiado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F47F5ED-3D29-B3C1-9773-77BBDA30F944}"/>
              </a:ext>
            </a:extLst>
          </p:cNvPr>
          <p:cNvGrpSpPr/>
          <p:nvPr/>
        </p:nvGrpSpPr>
        <p:grpSpPr>
          <a:xfrm>
            <a:off x="547688" y="2062242"/>
            <a:ext cx="1762459" cy="535033"/>
            <a:chOff x="547688" y="2062242"/>
            <a:chExt cx="1762459" cy="53503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E6D842A-7F03-416D-66C1-DCB770397EE8}"/>
                </a:ext>
              </a:extLst>
            </p:cNvPr>
            <p:cNvSpPr/>
            <p:nvPr/>
          </p:nvSpPr>
          <p:spPr>
            <a:xfrm>
              <a:off x="547688" y="2062242"/>
              <a:ext cx="1762459" cy="535033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Bolsa    Reditus</a:t>
              </a:r>
            </a:p>
          </p:txBody>
        </p:sp>
        <p:pic>
          <p:nvPicPr>
            <p:cNvPr id="98" name="Gráfico 77" descr="Livros">
              <a:extLst>
                <a:ext uri="{FF2B5EF4-FFF2-40B4-BE49-F238E27FC236}">
                  <a16:creationId xmlns:a16="http://schemas.microsoft.com/office/drawing/2014/main" id="{AEAAE06A-8353-0E3E-A4AA-5BCD0EF1B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04180" y="2156683"/>
              <a:ext cx="448987" cy="405895"/>
            </a:xfrm>
            <a:prstGeom prst="rect">
              <a:avLst/>
            </a:prstGeom>
          </p:spPr>
        </p:pic>
      </p:grpSp>
      <p:cxnSp>
        <p:nvCxnSpPr>
          <p:cNvPr id="34" name="LineBasicStrong 32">
            <a:extLst>
              <a:ext uri="{FF2B5EF4-FFF2-40B4-BE49-F238E27FC236}">
                <a16:creationId xmlns:a16="http://schemas.microsoft.com/office/drawing/2014/main" id="{FCE93B58-42A0-4C48-E41A-0D7B86762CB5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733030" y="1813561"/>
            <a:ext cx="2154666" cy="1588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C9D64EC-1DE8-04D5-2724-E6B765B2D914}"/>
              </a:ext>
            </a:extLst>
          </p:cNvPr>
          <p:cNvSpPr/>
          <p:nvPr/>
        </p:nvSpPr>
        <p:spPr>
          <a:xfrm>
            <a:off x="5733030" y="1448893"/>
            <a:ext cx="2154502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Valor de doação </a:t>
            </a:r>
            <a:r>
              <a:rPr lang="pt-BR" sz="1600">
                <a:solidFill>
                  <a:schemeClr val="tx1"/>
                </a:solidFill>
              </a:rPr>
              <a:t>(R$)</a:t>
            </a:r>
          </a:p>
        </p:txBody>
      </p:sp>
      <p:cxnSp>
        <p:nvCxnSpPr>
          <p:cNvPr id="89" name="Google Shape;713;g3337748aba8_0_0">
            <a:extLst>
              <a:ext uri="{FF2B5EF4-FFF2-40B4-BE49-F238E27FC236}">
                <a16:creationId xmlns:a16="http://schemas.microsoft.com/office/drawing/2014/main" id="{CFBA9C80-30A4-6D35-1BB1-F619667273DD}"/>
              </a:ext>
            </a:extLst>
          </p:cNvPr>
          <p:cNvCxnSpPr>
            <a:cxnSpLocks/>
          </p:cNvCxnSpPr>
          <p:nvPr/>
        </p:nvCxnSpPr>
        <p:spPr>
          <a:xfrm>
            <a:off x="2665167" y="4414734"/>
            <a:ext cx="8977313" cy="1188"/>
          </a:xfrm>
          <a:prstGeom prst="straightConnector1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1A3A6DF-D8CC-CEDA-73A6-E9C8FF5B90B0}"/>
              </a:ext>
            </a:extLst>
          </p:cNvPr>
          <p:cNvGrpSpPr/>
          <p:nvPr/>
        </p:nvGrpSpPr>
        <p:grpSpPr>
          <a:xfrm>
            <a:off x="604180" y="2685273"/>
            <a:ext cx="1755411" cy="874729"/>
            <a:chOff x="604180" y="2685273"/>
            <a:chExt cx="1755411" cy="874729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E1FE379-4078-30D2-3CBD-6713B870980F}"/>
                </a:ext>
              </a:extLst>
            </p:cNvPr>
            <p:cNvSpPr/>
            <p:nvPr/>
          </p:nvSpPr>
          <p:spPr>
            <a:xfrm>
              <a:off x="604180" y="2685273"/>
              <a:ext cx="1755411" cy="874729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 dirty="0">
                  <a:solidFill>
                    <a:schemeClr val="tx1"/>
                  </a:solidFill>
                </a:rPr>
                <a:t>Bolsa Trampolim</a:t>
              </a:r>
            </a:p>
          </p:txBody>
        </p:sp>
        <p:pic>
          <p:nvPicPr>
            <p:cNvPr id="97" name="Google Shape;401;p6">
              <a:extLst>
                <a:ext uri="{FF2B5EF4-FFF2-40B4-BE49-F238E27FC236}">
                  <a16:creationId xmlns:a16="http://schemas.microsoft.com/office/drawing/2014/main" id="{BBFB26AC-8F0B-1D19-2E05-743E1AC52556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55907" y="2933905"/>
              <a:ext cx="448987" cy="4058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A79FAC-5102-CA49-3CBA-82589F5433DE}"/>
              </a:ext>
            </a:extLst>
          </p:cNvPr>
          <p:cNvGrpSpPr/>
          <p:nvPr/>
        </p:nvGrpSpPr>
        <p:grpSpPr>
          <a:xfrm>
            <a:off x="2591449" y="2813606"/>
            <a:ext cx="9041189" cy="494110"/>
            <a:chOff x="2600780" y="4074496"/>
            <a:chExt cx="9041189" cy="4941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9C57CC-6FE3-695F-F1BC-265B5A897655}"/>
                </a:ext>
              </a:extLst>
            </p:cNvPr>
            <p:cNvSpPr/>
            <p:nvPr/>
          </p:nvSpPr>
          <p:spPr>
            <a:xfrm>
              <a:off x="2600780" y="4074496"/>
              <a:ext cx="284866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 dirty="0">
                  <a:solidFill>
                    <a:schemeClr val="tx1"/>
                  </a:solidFill>
                </a:rPr>
                <a:t>Cota de bolsa perpétua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C24BDF-48E7-3F7C-9BB9-4C80F5124BA7}"/>
                </a:ext>
              </a:extLst>
            </p:cNvPr>
            <p:cNvSpPr/>
            <p:nvPr/>
          </p:nvSpPr>
          <p:spPr>
            <a:xfrm>
              <a:off x="8185214" y="4074496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 dirty="0">
                  <a:solidFill>
                    <a:schemeClr val="tx1"/>
                  </a:solidFill>
                </a:rPr>
                <a:t>Com </a:t>
              </a:r>
              <a:r>
                <a:rPr lang="pt-BR" sz="1300" b="1" dirty="0">
                  <a:solidFill>
                    <a:schemeClr val="tx1"/>
                  </a:solidFill>
                </a:rPr>
                <a:t>20 doações </a:t>
              </a:r>
              <a:r>
                <a:rPr lang="pt-BR" sz="1300" dirty="0">
                  <a:solidFill>
                    <a:schemeClr val="tx1"/>
                  </a:solidFill>
                </a:rPr>
                <a:t>garantimos um </a:t>
              </a:r>
              <a:r>
                <a:rPr lang="pt-BR" sz="1300" b="1" dirty="0">
                  <a:solidFill>
                    <a:schemeClr val="tx1"/>
                  </a:solidFill>
                </a:rPr>
                <a:t>aluno apoiado para sempre</a:t>
              </a:r>
              <a:r>
                <a:rPr lang="pt-BR" sz="13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4E302DB-D3D3-3ECB-E26A-5CB65FEF56DC}"/>
                </a:ext>
              </a:extLst>
            </p:cNvPr>
            <p:cNvSpPr/>
            <p:nvPr/>
          </p:nvSpPr>
          <p:spPr>
            <a:xfrm>
              <a:off x="5740078" y="4074496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b="1" dirty="0">
                  <a:solidFill>
                    <a:schemeClr val="tx1"/>
                  </a:solidFill>
                </a:rPr>
                <a:t>40k</a:t>
              </a:r>
            </a:p>
          </p:txBody>
        </p:sp>
      </p:grpSp>
      <p:cxnSp>
        <p:nvCxnSpPr>
          <p:cNvPr id="84" name="Google Shape;713;g3337748aba8_0_0">
            <a:extLst>
              <a:ext uri="{FF2B5EF4-FFF2-40B4-BE49-F238E27FC236}">
                <a16:creationId xmlns:a16="http://schemas.microsoft.com/office/drawing/2014/main" id="{0E36C080-A6C5-2FBF-96EA-8AC6BD1F9D88}"/>
              </a:ext>
            </a:extLst>
          </p:cNvPr>
          <p:cNvCxnSpPr>
            <a:cxnSpLocks/>
          </p:cNvCxnSpPr>
          <p:nvPr/>
        </p:nvCxnSpPr>
        <p:spPr>
          <a:xfrm flipV="1">
            <a:off x="554736" y="3560002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E9B38F0E-1BA3-8325-A217-B269D501A833}"/>
              </a:ext>
            </a:extLst>
          </p:cNvPr>
          <p:cNvGrpSpPr/>
          <p:nvPr/>
        </p:nvGrpSpPr>
        <p:grpSpPr>
          <a:xfrm>
            <a:off x="2593732" y="4514783"/>
            <a:ext cx="9041189" cy="494705"/>
            <a:chOff x="2593732" y="3506655"/>
            <a:chExt cx="9041189" cy="494705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F52851F-534E-2403-E29E-F436EEFA58E1}"/>
                </a:ext>
              </a:extLst>
            </p:cNvPr>
            <p:cNvSpPr/>
            <p:nvPr/>
          </p:nvSpPr>
          <p:spPr>
            <a:xfrm>
              <a:off x="2593732" y="3507250"/>
              <a:ext cx="2855713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>
                  <a:solidFill>
                    <a:schemeClr val="tx1"/>
                  </a:solidFill>
                </a:rPr>
                <a:t>Patrono de projeto no Edital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9B9A50C-CDB6-82DC-8F3D-6954D6A3652F}"/>
                </a:ext>
              </a:extLst>
            </p:cNvPr>
            <p:cNvSpPr/>
            <p:nvPr/>
          </p:nvSpPr>
          <p:spPr>
            <a:xfrm>
              <a:off x="8178166" y="3507250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Doação </a:t>
              </a:r>
              <a:r>
                <a:rPr lang="pt-BR" sz="1300" b="1">
                  <a:solidFill>
                    <a:schemeClr val="tx1"/>
                  </a:solidFill>
                </a:rPr>
                <a:t>direta, </a:t>
              </a:r>
              <a:r>
                <a:rPr lang="pt-BR" sz="1300">
                  <a:solidFill>
                    <a:schemeClr val="tx1"/>
                  </a:solidFill>
                </a:rPr>
                <a:t>com garantia de </a:t>
              </a:r>
              <a:r>
                <a:rPr lang="pt-BR" sz="1300" b="1">
                  <a:solidFill>
                    <a:schemeClr val="tx1"/>
                  </a:solidFill>
                </a:rPr>
                <a:t>título de Patrono </a:t>
              </a:r>
              <a:r>
                <a:rPr lang="pt-BR" sz="1300">
                  <a:solidFill>
                    <a:schemeClr val="tx1"/>
                  </a:solidFill>
                </a:rPr>
                <a:t>de </a:t>
              </a:r>
              <a:r>
                <a:rPr lang="pt-BR" sz="1300" b="1">
                  <a:solidFill>
                    <a:schemeClr val="tx1"/>
                  </a:solidFill>
                </a:rPr>
                <a:t>pelo menos um projeto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0FE6F7E-411F-78F6-0FEA-A9F599A34B59}"/>
                </a:ext>
              </a:extLst>
            </p:cNvPr>
            <p:cNvSpPr/>
            <p:nvPr/>
          </p:nvSpPr>
          <p:spPr>
            <a:xfrm>
              <a:off x="5740078" y="3506655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200">
                  <a:solidFill>
                    <a:schemeClr val="tx1"/>
                  </a:solidFill>
                </a:rPr>
                <a:t>A partir de</a:t>
              </a:r>
              <a:r>
                <a:rPr lang="pt-BR" sz="1200" b="1">
                  <a:solidFill>
                    <a:schemeClr val="tx1"/>
                  </a:solidFill>
                </a:rPr>
                <a:t> </a:t>
              </a:r>
              <a:r>
                <a:rPr lang="pt-BR" b="1">
                  <a:solidFill>
                    <a:schemeClr val="tx1"/>
                  </a:solidFill>
                </a:rPr>
                <a:t>50k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F5137BD-E9FF-41AD-0D33-1802C3AEBC73}"/>
              </a:ext>
            </a:extLst>
          </p:cNvPr>
          <p:cNvGrpSpPr/>
          <p:nvPr/>
        </p:nvGrpSpPr>
        <p:grpSpPr>
          <a:xfrm>
            <a:off x="2593732" y="2072259"/>
            <a:ext cx="9041189" cy="494110"/>
            <a:chOff x="2593732" y="1803136"/>
            <a:chExt cx="9041189" cy="49411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54EDD0-25FD-2B07-FEA8-6D079D2F8437}"/>
                </a:ext>
              </a:extLst>
            </p:cNvPr>
            <p:cNvSpPr/>
            <p:nvPr/>
          </p:nvSpPr>
          <p:spPr>
            <a:xfrm>
              <a:off x="2593732" y="1803136"/>
              <a:ext cx="2855713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 dirty="0">
                  <a:solidFill>
                    <a:schemeClr val="tx1"/>
                  </a:solidFill>
                </a:rPr>
                <a:t>Cota de bolsa perpétua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BF7CF24-FDFC-624E-F4D1-A85EBCEACDBF}"/>
                </a:ext>
              </a:extLst>
            </p:cNvPr>
            <p:cNvSpPr/>
            <p:nvPr/>
          </p:nvSpPr>
          <p:spPr>
            <a:xfrm>
              <a:off x="8178166" y="1803136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 dirty="0">
                  <a:solidFill>
                    <a:schemeClr val="tx1"/>
                  </a:solidFill>
                </a:rPr>
                <a:t>Com </a:t>
              </a:r>
              <a:r>
                <a:rPr lang="pt-BR" sz="1300" b="1" dirty="0">
                  <a:solidFill>
                    <a:schemeClr val="tx1"/>
                  </a:solidFill>
                </a:rPr>
                <a:t>10 doações </a:t>
              </a:r>
              <a:r>
                <a:rPr lang="pt-BR" sz="1300" dirty="0">
                  <a:solidFill>
                    <a:schemeClr val="tx1"/>
                  </a:solidFill>
                </a:rPr>
                <a:t>garantimos um </a:t>
              </a:r>
              <a:r>
                <a:rPr lang="pt-BR" sz="1300" b="1" dirty="0">
                  <a:solidFill>
                    <a:schemeClr val="tx1"/>
                  </a:solidFill>
                </a:rPr>
                <a:t>aluno apoiado para sempre</a:t>
              </a:r>
              <a:r>
                <a:rPr lang="pt-BR" sz="13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9A82FF6-9102-0853-A189-25CB67BD2EF6}"/>
                </a:ext>
              </a:extLst>
            </p:cNvPr>
            <p:cNvSpPr/>
            <p:nvPr/>
          </p:nvSpPr>
          <p:spPr>
            <a:xfrm>
              <a:off x="5733030" y="1803136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b="1" dirty="0">
                  <a:solidFill>
                    <a:schemeClr val="tx1"/>
                  </a:solidFill>
                </a:rPr>
                <a:t>5k semestralmente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b="1" dirty="0">
                  <a:solidFill>
                    <a:schemeClr val="tx1"/>
                  </a:solidFill>
                </a:rPr>
                <a:t>10k anualmente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8E2D8DA-CC20-7EFB-B842-C871DAE4D8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5882" y="5217873"/>
            <a:ext cx="8855207" cy="16536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009533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24A7DD-16E0-6B04-E33B-6965077A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89CF5C9C-E891-0698-72F9-2BF8DBE49F2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7" name="btfpColumnGapBlocker826622">
              <a:extLst>
                <a:ext uri="{FF2B5EF4-FFF2-40B4-BE49-F238E27FC236}">
                  <a16:creationId xmlns:a16="http://schemas.microsoft.com/office/drawing/2014/main" id="{3241B57B-B23D-DD46-0AAC-93408EB5BF9D}"/>
                </a:ext>
              </a:extLst>
            </p:cNvPr>
            <p:cNvSpPr/>
            <p:nvPr/>
          </p:nvSpPr>
          <p:spPr>
            <a:xfrm>
              <a:off x="11633200" y="692658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btfpColumnGapBlocker265361">
              <a:extLst>
                <a:ext uri="{FF2B5EF4-FFF2-40B4-BE49-F238E27FC236}">
                  <a16:creationId xmlns:a16="http://schemas.microsoft.com/office/drawing/2014/main" id="{0F0FC7BE-108D-1E30-CC2D-37C31354EB74}"/>
                </a:ext>
              </a:extLst>
            </p:cNvPr>
            <p:cNvSpPr/>
            <p:nvPr/>
          </p:nvSpPr>
          <p:spPr>
            <a:xfrm>
              <a:off x="0" y="692658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3" name="btfpColumnIndicator981900">
              <a:extLst>
                <a:ext uri="{FF2B5EF4-FFF2-40B4-BE49-F238E27FC236}">
                  <a16:creationId xmlns:a16="http://schemas.microsoft.com/office/drawing/2014/main" id="{687F39C9-B1A8-C285-F7BF-10AC941817BB}"/>
                </a:ext>
              </a:extLst>
            </p:cNvPr>
            <p:cNvCxnSpPr/>
            <p:nvPr/>
          </p:nvCxnSpPr>
          <p:spPr>
            <a:xfrm flipV="1">
              <a:off x="11633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317092">
              <a:extLst>
                <a:ext uri="{FF2B5EF4-FFF2-40B4-BE49-F238E27FC236}">
                  <a16:creationId xmlns:a16="http://schemas.microsoft.com/office/drawing/2014/main" id="{B9410283-A724-C6AB-CD02-94CBEBBB88A7}"/>
                </a:ext>
              </a:extLst>
            </p:cNvPr>
            <p:cNvCxnSpPr/>
            <p:nvPr/>
          </p:nvCxnSpPr>
          <p:spPr>
            <a:xfrm flipV="1">
              <a:off x="5461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A688FA8A-0FE3-1AEF-9561-F3B109A6991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6" name="btfpColumnGapBlocker872849">
              <a:extLst>
                <a:ext uri="{FF2B5EF4-FFF2-40B4-BE49-F238E27FC236}">
                  <a16:creationId xmlns:a16="http://schemas.microsoft.com/office/drawing/2014/main" id="{7140506A-0757-97A5-1E4F-B3751F1DF1B6}"/>
                </a:ext>
              </a:extLst>
            </p:cNvPr>
            <p:cNvSpPr/>
            <p:nvPr/>
          </p:nvSpPr>
          <p:spPr>
            <a:xfrm>
              <a:off x="11633200" y="-205740"/>
              <a:ext cx="5588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btfpColumnGapBlocker952179">
              <a:extLst>
                <a:ext uri="{FF2B5EF4-FFF2-40B4-BE49-F238E27FC236}">
                  <a16:creationId xmlns:a16="http://schemas.microsoft.com/office/drawing/2014/main" id="{423D4C51-E4BC-8D7B-2A53-402AF70FBACB}"/>
                </a:ext>
              </a:extLst>
            </p:cNvPr>
            <p:cNvSpPr/>
            <p:nvPr/>
          </p:nvSpPr>
          <p:spPr>
            <a:xfrm>
              <a:off x="0" y="-205740"/>
              <a:ext cx="5461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2" name="btfpColumnIndicator932779">
              <a:extLst>
                <a:ext uri="{FF2B5EF4-FFF2-40B4-BE49-F238E27FC236}">
                  <a16:creationId xmlns:a16="http://schemas.microsoft.com/office/drawing/2014/main" id="{D23C3F2E-DAD9-B92A-6270-62C2B18CC070}"/>
                </a:ext>
              </a:extLst>
            </p:cNvPr>
            <p:cNvCxnSpPr/>
            <p:nvPr/>
          </p:nvCxnSpPr>
          <p:spPr>
            <a:xfrm flipV="1">
              <a:off x="11633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btfpColumnIndicator597257">
              <a:extLst>
                <a:ext uri="{FF2B5EF4-FFF2-40B4-BE49-F238E27FC236}">
                  <a16:creationId xmlns:a16="http://schemas.microsoft.com/office/drawing/2014/main" id="{ABF20A62-2249-5619-60C1-2693AE7FB3C4}"/>
                </a:ext>
              </a:extLst>
            </p:cNvPr>
            <p:cNvCxnSpPr/>
            <p:nvPr/>
          </p:nvCxnSpPr>
          <p:spPr>
            <a:xfrm flipV="1">
              <a:off x="5461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0AA285-A3EE-0740-A7E7-FBC6C5E85C96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" imgW="425" imgH="426" progId="TCLayout.ActiveDocument.1">
                  <p:embed/>
                </p:oleObj>
              </mc:Choice>
              <mc:Fallback>
                <p:oleObj name="thinkcell Slide" r:id="rId10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0AA285-A3EE-0740-A7E7-FBC6C5E85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076279F5-650E-1C60-C86E-DE05D4518853}"/>
              </a:ext>
            </a:extLst>
          </p:cNvPr>
          <p:cNvGrpSpPr/>
          <p:nvPr/>
        </p:nvGrpSpPr>
        <p:grpSpPr>
          <a:xfrm>
            <a:off x="2593732" y="5153209"/>
            <a:ext cx="9041189" cy="494110"/>
            <a:chOff x="2593732" y="2938816"/>
            <a:chExt cx="9041189" cy="49411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C0C6BA1-B3D4-9747-0F95-4D33A67978DA}"/>
                </a:ext>
              </a:extLst>
            </p:cNvPr>
            <p:cNvSpPr/>
            <p:nvPr/>
          </p:nvSpPr>
          <p:spPr>
            <a:xfrm>
              <a:off x="2593732" y="2938816"/>
              <a:ext cx="2855713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>
                  <a:solidFill>
                    <a:schemeClr val="tx1"/>
                  </a:solidFill>
                </a:rPr>
                <a:t>Financiamento de </a:t>
              </a:r>
              <a:r>
                <a:rPr lang="en-US" sz="1400" i="1">
                  <a:solidFill>
                    <a:schemeClr val="tx1"/>
                  </a:solidFill>
                </a:rPr>
                <a:t>n</a:t>
              </a:r>
              <a:r>
                <a:rPr lang="en-US" sz="1400" i="1" noProof="0" err="1">
                  <a:solidFill>
                    <a:schemeClr val="tx1"/>
                  </a:solidFill>
                </a:rPr>
                <a:t>aming</a:t>
              </a:r>
              <a:r>
                <a:rPr lang="en-US" sz="1400" i="1" noProof="0">
                  <a:solidFill>
                    <a:schemeClr val="tx1"/>
                  </a:solidFill>
                </a:rPr>
                <a:t> </a:t>
              </a:r>
              <a:r>
                <a:rPr lang="en-US" sz="1400" i="1">
                  <a:solidFill>
                    <a:schemeClr val="tx1"/>
                  </a:solidFill>
                </a:rPr>
                <a:t>r</a:t>
              </a:r>
              <a:r>
                <a:rPr lang="en-US" sz="1400" i="1" noProof="0" err="1">
                  <a:solidFill>
                    <a:schemeClr val="tx1"/>
                  </a:solidFill>
                </a:rPr>
                <a:t>ights</a:t>
              </a:r>
              <a:r>
                <a:rPr lang="en-US" sz="1400" i="1" noProof="0">
                  <a:solidFill>
                    <a:schemeClr val="tx1"/>
                  </a:solidFill>
                </a:rPr>
                <a:t> 2026</a:t>
              </a:r>
              <a:endParaRPr lang="pt-BR" sz="1400" i="1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8A5089F-D9F4-B5BB-0683-EC89D1FEB5D9}"/>
                </a:ext>
              </a:extLst>
            </p:cNvPr>
            <p:cNvSpPr/>
            <p:nvPr/>
          </p:nvSpPr>
          <p:spPr>
            <a:xfrm>
              <a:off x="8178166" y="2938816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Patrocínio </a:t>
              </a:r>
              <a:r>
                <a:rPr lang="pt-BR" sz="1300" b="1">
                  <a:solidFill>
                    <a:schemeClr val="tx1"/>
                  </a:solidFill>
                </a:rPr>
                <a:t>integral </a:t>
              </a:r>
              <a:r>
                <a:rPr lang="pt-BR" sz="1300">
                  <a:solidFill>
                    <a:schemeClr val="tx1"/>
                  </a:solidFill>
                </a:rPr>
                <a:t>do </a:t>
              </a:r>
              <a:r>
                <a:rPr lang="pt-BR" sz="1300" b="1">
                  <a:solidFill>
                    <a:schemeClr val="tx1"/>
                  </a:solidFill>
                </a:rPr>
                <a:t>Edital de Inovação</a:t>
              </a:r>
              <a:r>
                <a:rPr lang="pt-BR" sz="1300">
                  <a:solidFill>
                    <a:schemeClr val="tx1"/>
                  </a:solidFill>
                </a:rPr>
                <a:t>, com direito aos </a:t>
              </a:r>
              <a:r>
                <a:rPr lang="pt-BR" sz="1300" b="1" i="1" err="1">
                  <a:solidFill>
                    <a:schemeClr val="tx1"/>
                  </a:solidFill>
                </a:rPr>
                <a:t>naming</a:t>
              </a:r>
              <a:r>
                <a:rPr lang="pt-BR" sz="1300" b="1" i="1">
                  <a:solidFill>
                    <a:schemeClr val="tx1"/>
                  </a:solidFill>
                </a:rPr>
                <a:t> </a:t>
              </a:r>
              <a:r>
                <a:rPr lang="pt-BR" sz="1300" b="1" i="1" err="1">
                  <a:solidFill>
                    <a:schemeClr val="tx1"/>
                  </a:solidFill>
                </a:rPr>
                <a:t>rights</a:t>
              </a:r>
              <a:r>
                <a:rPr lang="pt-BR" sz="1300" b="1" i="1">
                  <a:solidFill>
                    <a:schemeClr val="tx1"/>
                  </a:solidFill>
                </a:rPr>
                <a:t> </a:t>
              </a:r>
              <a:r>
                <a:rPr lang="pt-BR" sz="1300">
                  <a:solidFill>
                    <a:schemeClr val="tx1"/>
                  </a:solidFill>
                </a:rPr>
                <a:t>da edição</a:t>
              </a:r>
              <a:endParaRPr lang="pt-BR" sz="1300" b="1">
                <a:solidFill>
                  <a:schemeClr val="tx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6F913CE-7C36-0479-EA71-CFDFCCCA2010}"/>
                </a:ext>
              </a:extLst>
            </p:cNvPr>
            <p:cNvSpPr/>
            <p:nvPr/>
          </p:nvSpPr>
          <p:spPr>
            <a:xfrm>
              <a:off x="5733030" y="2938816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b="1">
                  <a:solidFill>
                    <a:schemeClr val="tx1"/>
                  </a:solidFill>
                </a:rPr>
                <a:t>500k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E892A6A-15F6-2B30-0A97-142198C41E73}"/>
              </a:ext>
            </a:extLst>
          </p:cNvPr>
          <p:cNvGrpSpPr/>
          <p:nvPr/>
        </p:nvGrpSpPr>
        <p:grpSpPr>
          <a:xfrm>
            <a:off x="547687" y="5265366"/>
            <a:ext cx="1762459" cy="1044046"/>
            <a:chOff x="547688" y="2901587"/>
            <a:chExt cx="1762459" cy="1044046"/>
          </a:xfrm>
        </p:grpSpPr>
        <p:pic>
          <p:nvPicPr>
            <p:cNvPr id="99" name="Gráfico 85" descr="Lâmpada">
              <a:extLst>
                <a:ext uri="{FF2B5EF4-FFF2-40B4-BE49-F238E27FC236}">
                  <a16:creationId xmlns:a16="http://schemas.microsoft.com/office/drawing/2014/main" id="{BE92DE0B-B5FE-CE04-7FE5-FC2DFDBA0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5654" y="3192811"/>
              <a:ext cx="510606" cy="461599"/>
            </a:xfrm>
            <a:prstGeom prst="rect">
              <a:avLst/>
            </a:prstGeom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B9A4BF0-30D7-0697-B01B-1F62465ED216}"/>
                </a:ext>
              </a:extLst>
            </p:cNvPr>
            <p:cNvSpPr/>
            <p:nvPr/>
          </p:nvSpPr>
          <p:spPr>
            <a:xfrm>
              <a:off x="547688" y="2901587"/>
              <a:ext cx="1762459" cy="1044046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600" b="1">
                  <a:solidFill>
                    <a:schemeClr val="tx1"/>
                  </a:solidFill>
                </a:rPr>
                <a:t>Edital de Inovação</a:t>
              </a: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7109D-AB8F-1C11-B1ED-F7C04DD280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8" name="Title 17">
            <a:extLst>
              <a:ext uri="{FF2B5EF4-FFF2-40B4-BE49-F238E27FC236}">
                <a16:creationId xmlns:a16="http://schemas.microsoft.com/office/drawing/2014/main" id="{82F83FDC-22FC-65D6-831F-2E89EAD95A25}"/>
              </a:ext>
            </a:extLst>
          </p:cNvPr>
          <p:cNvSpPr txBox="1">
            <a:spLocks/>
          </p:cNvSpPr>
          <p:nvPr/>
        </p:nvSpPr>
        <p:spPr>
          <a:xfrm>
            <a:off x="554736" y="18237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r>
              <a:rPr lang="pt-BR" sz="2000"/>
              <a:t>Há várias maneiras de contribuir com doações para o Reditus, englobando diferentes projetos e quantia doada pelos doadores</a:t>
            </a:r>
          </a:p>
        </p:txBody>
      </p:sp>
      <p:cxnSp>
        <p:nvCxnSpPr>
          <p:cNvPr id="81" name="Google Shape;713;g3337748aba8_0_0">
            <a:extLst>
              <a:ext uri="{FF2B5EF4-FFF2-40B4-BE49-F238E27FC236}">
                <a16:creationId xmlns:a16="http://schemas.microsoft.com/office/drawing/2014/main" id="{A253FF77-DC21-9999-C063-EF43B11168C3}"/>
              </a:ext>
            </a:extLst>
          </p:cNvPr>
          <p:cNvCxnSpPr>
            <a:cxnSpLocks/>
          </p:cNvCxnSpPr>
          <p:nvPr/>
        </p:nvCxnSpPr>
        <p:spPr>
          <a:xfrm flipV="1">
            <a:off x="554736" y="3630283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BasicStrong 32">
            <a:extLst>
              <a:ext uri="{FF2B5EF4-FFF2-40B4-BE49-F238E27FC236}">
                <a16:creationId xmlns:a16="http://schemas.microsoft.com/office/drawing/2014/main" id="{B679180E-F7F3-E17A-3D96-BB12C09F9E32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2593732" y="1582796"/>
            <a:ext cx="2855713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A7C9D17-2FBB-0DC3-56E9-F127525F487C}"/>
              </a:ext>
            </a:extLst>
          </p:cNvPr>
          <p:cNvSpPr/>
          <p:nvPr/>
        </p:nvSpPr>
        <p:spPr>
          <a:xfrm>
            <a:off x="2593732" y="1218128"/>
            <a:ext cx="2791641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Tipo de contribuição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C12332-F5FA-5559-1F8E-08ACE32A62A5}"/>
              </a:ext>
            </a:extLst>
          </p:cNvPr>
          <p:cNvSpPr/>
          <p:nvPr/>
        </p:nvSpPr>
        <p:spPr>
          <a:xfrm>
            <a:off x="8178166" y="1218128"/>
            <a:ext cx="3456755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Descrição</a:t>
            </a:r>
          </a:p>
        </p:txBody>
      </p:sp>
      <p:cxnSp>
        <p:nvCxnSpPr>
          <p:cNvPr id="35" name="LineBasicStrong 32">
            <a:extLst>
              <a:ext uri="{FF2B5EF4-FFF2-40B4-BE49-F238E27FC236}">
                <a16:creationId xmlns:a16="http://schemas.microsoft.com/office/drawing/2014/main" id="{705BE7A4-B71A-CD40-CC6B-81E3AE403043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8178166" y="1582796"/>
            <a:ext cx="3457125" cy="1588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LineBasicStrong 32">
            <a:extLst>
              <a:ext uri="{FF2B5EF4-FFF2-40B4-BE49-F238E27FC236}">
                <a16:creationId xmlns:a16="http://schemas.microsoft.com/office/drawing/2014/main" id="{8C94A16E-BB7C-D109-4D4A-81E90D3C1DEF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47688" y="1582796"/>
            <a:ext cx="1762459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B2253BB2-A887-7954-CFE3-DA957B847EDB}"/>
              </a:ext>
            </a:extLst>
          </p:cNvPr>
          <p:cNvSpPr/>
          <p:nvPr/>
        </p:nvSpPr>
        <p:spPr>
          <a:xfrm>
            <a:off x="547689" y="1218128"/>
            <a:ext cx="1760174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Projeto apoiado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7BAC5B2-B93B-069E-945C-0FF2C67DCB70}"/>
              </a:ext>
            </a:extLst>
          </p:cNvPr>
          <p:cNvSpPr/>
          <p:nvPr/>
        </p:nvSpPr>
        <p:spPr>
          <a:xfrm>
            <a:off x="547688" y="2133564"/>
            <a:ext cx="1762459" cy="104262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Bolsa    Reditus</a:t>
            </a:r>
          </a:p>
        </p:txBody>
      </p:sp>
      <p:pic>
        <p:nvPicPr>
          <p:cNvPr id="98" name="Gráfico 77" descr="Livros">
            <a:extLst>
              <a:ext uri="{FF2B5EF4-FFF2-40B4-BE49-F238E27FC236}">
                <a16:creationId xmlns:a16="http://schemas.microsoft.com/office/drawing/2014/main" id="{F82B83CB-AA9F-04D5-389F-350F7254E4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4180" y="2481803"/>
            <a:ext cx="448987" cy="405895"/>
          </a:xfrm>
          <a:prstGeom prst="rect">
            <a:avLst/>
          </a:prstGeom>
        </p:spPr>
      </p:pic>
      <p:cxnSp>
        <p:nvCxnSpPr>
          <p:cNvPr id="34" name="LineBasicStrong 32">
            <a:extLst>
              <a:ext uri="{FF2B5EF4-FFF2-40B4-BE49-F238E27FC236}">
                <a16:creationId xmlns:a16="http://schemas.microsoft.com/office/drawing/2014/main" id="{63C1477C-9E19-A8B1-AB7D-C786F16F38B5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733030" y="1582796"/>
            <a:ext cx="2154666" cy="1588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5F820DE3-5C12-42BA-F4C0-C389FBE60795}"/>
              </a:ext>
            </a:extLst>
          </p:cNvPr>
          <p:cNvSpPr/>
          <p:nvPr/>
        </p:nvSpPr>
        <p:spPr>
          <a:xfrm>
            <a:off x="5733030" y="1218128"/>
            <a:ext cx="2154502" cy="36176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Valor de doação </a:t>
            </a:r>
            <a:r>
              <a:rPr lang="pt-BR" sz="1600">
                <a:solidFill>
                  <a:schemeClr val="tx1"/>
                </a:solidFill>
              </a:rPr>
              <a:t>(R$)</a:t>
            </a:r>
          </a:p>
        </p:txBody>
      </p:sp>
      <p:cxnSp>
        <p:nvCxnSpPr>
          <p:cNvPr id="89" name="Google Shape;713;g3337748aba8_0_0">
            <a:extLst>
              <a:ext uri="{FF2B5EF4-FFF2-40B4-BE49-F238E27FC236}">
                <a16:creationId xmlns:a16="http://schemas.microsoft.com/office/drawing/2014/main" id="{0593AD1F-B3E3-4B25-F1D6-24D65519FF92}"/>
              </a:ext>
            </a:extLst>
          </p:cNvPr>
          <p:cNvCxnSpPr>
            <a:cxnSpLocks/>
          </p:cNvCxnSpPr>
          <p:nvPr/>
        </p:nvCxnSpPr>
        <p:spPr>
          <a:xfrm>
            <a:off x="2665167" y="5755655"/>
            <a:ext cx="8977313" cy="1188"/>
          </a:xfrm>
          <a:prstGeom prst="straightConnector1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D0496789-F223-1A8A-031F-02757D6520BC}"/>
              </a:ext>
            </a:extLst>
          </p:cNvPr>
          <p:cNvSpPr/>
          <p:nvPr/>
        </p:nvSpPr>
        <p:spPr>
          <a:xfrm>
            <a:off x="604180" y="3947096"/>
            <a:ext cx="1755411" cy="87472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>
                <a:solidFill>
                  <a:schemeClr val="tx1"/>
                </a:solidFill>
              </a:rPr>
              <a:t>Bolsa Trampolim</a:t>
            </a:r>
          </a:p>
        </p:txBody>
      </p:sp>
      <p:pic>
        <p:nvPicPr>
          <p:cNvPr id="97" name="Google Shape;401;p6">
            <a:extLst>
              <a:ext uri="{FF2B5EF4-FFF2-40B4-BE49-F238E27FC236}">
                <a16:creationId xmlns:a16="http://schemas.microsoft.com/office/drawing/2014/main" id="{F7E1DEC7-13A9-06FA-E6C3-C9FDA8B4C6BB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55907" y="4181513"/>
            <a:ext cx="448987" cy="4058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4C93556-C08D-39C7-A6CC-4DB8593C17CC}"/>
              </a:ext>
            </a:extLst>
          </p:cNvPr>
          <p:cNvGrpSpPr/>
          <p:nvPr/>
        </p:nvGrpSpPr>
        <p:grpSpPr>
          <a:xfrm>
            <a:off x="2599123" y="4440401"/>
            <a:ext cx="9041189" cy="494110"/>
            <a:chOff x="2600780" y="4642930"/>
            <a:chExt cx="9041189" cy="49411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C441A9F-056E-1B55-BA9D-E43BFD220F7C}"/>
                </a:ext>
              </a:extLst>
            </p:cNvPr>
            <p:cNvSpPr/>
            <p:nvPr/>
          </p:nvSpPr>
          <p:spPr>
            <a:xfrm>
              <a:off x="2600780" y="4642930"/>
              <a:ext cx="284866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>
                  <a:solidFill>
                    <a:schemeClr val="tx1"/>
                  </a:solidFill>
                </a:rPr>
                <a:t>Doação direta para bolsa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5F7598-7D68-BA93-20EC-286B9D6F685C}"/>
                </a:ext>
              </a:extLst>
            </p:cNvPr>
            <p:cNvSpPr/>
            <p:nvPr/>
          </p:nvSpPr>
          <p:spPr>
            <a:xfrm>
              <a:off x="8185214" y="4642930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A partir de </a:t>
              </a:r>
              <a:r>
                <a:rPr lang="pt-BR" sz="1300" b="1">
                  <a:solidFill>
                    <a:schemeClr val="tx1"/>
                  </a:solidFill>
                </a:rPr>
                <a:t>75k</a:t>
              </a:r>
              <a:r>
                <a:rPr lang="pt-BR" sz="1300">
                  <a:solidFill>
                    <a:schemeClr val="tx1"/>
                  </a:solidFill>
                </a:rPr>
                <a:t>, doação com </a:t>
              </a:r>
              <a:r>
                <a:rPr lang="pt-BR" sz="1300" b="1">
                  <a:solidFill>
                    <a:schemeClr val="tx1"/>
                  </a:solidFill>
                </a:rPr>
                <a:t>50% </a:t>
              </a:r>
              <a:r>
                <a:rPr lang="pt-BR" sz="1300">
                  <a:solidFill>
                    <a:schemeClr val="tx1"/>
                  </a:solidFill>
                </a:rPr>
                <a:t>destinado para o </a:t>
              </a:r>
              <a:r>
                <a:rPr lang="pt-BR" sz="1300" b="1">
                  <a:solidFill>
                    <a:schemeClr val="tx1"/>
                  </a:solidFill>
                </a:rPr>
                <a:t>novo projeto </a:t>
              </a:r>
              <a:r>
                <a:rPr lang="pt-BR" sz="1300">
                  <a:solidFill>
                    <a:schemeClr val="tx1"/>
                  </a:solidFill>
                </a:rPr>
                <a:t>e </a:t>
              </a:r>
              <a:r>
                <a:rPr lang="pt-BR" sz="1300" b="1">
                  <a:solidFill>
                    <a:schemeClr val="tx1"/>
                  </a:solidFill>
                </a:rPr>
                <a:t>50% </a:t>
              </a:r>
              <a:r>
                <a:rPr lang="pt-BR" sz="1300">
                  <a:solidFill>
                    <a:schemeClr val="tx1"/>
                  </a:solidFill>
                </a:rPr>
                <a:t>para o </a:t>
              </a:r>
              <a:r>
                <a:rPr lang="pt-BR" sz="1300" b="1">
                  <a:solidFill>
                    <a:schemeClr val="tx1"/>
                  </a:solidFill>
                </a:rPr>
                <a:t>Fundo </a:t>
              </a:r>
              <a:r>
                <a:rPr lang="pt-BR" sz="1300" b="1" err="1">
                  <a:solidFill>
                    <a:schemeClr val="tx1"/>
                  </a:solidFill>
                </a:rPr>
                <a:t>Endowment</a:t>
              </a:r>
              <a:endParaRPr lang="pt-BR" sz="1300" b="1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6EF3035-1B9C-C7B4-10F1-7D10395C4627}"/>
                </a:ext>
              </a:extLst>
            </p:cNvPr>
            <p:cNvSpPr/>
            <p:nvPr/>
          </p:nvSpPr>
          <p:spPr>
            <a:xfrm>
              <a:off x="5740077" y="4642930"/>
              <a:ext cx="2146829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b="1">
                  <a:solidFill>
                    <a:schemeClr val="tx1"/>
                  </a:solidFill>
                </a:rPr>
                <a:t>37,5k¹-150k</a:t>
              </a:r>
              <a:endParaRPr lang="pt-BR" sz="130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BEBD03-1A96-D02B-590E-A8F14FF36ADA}"/>
              </a:ext>
            </a:extLst>
          </p:cNvPr>
          <p:cNvGrpSpPr/>
          <p:nvPr/>
        </p:nvGrpSpPr>
        <p:grpSpPr>
          <a:xfrm>
            <a:off x="2591449" y="3754351"/>
            <a:ext cx="9041189" cy="494110"/>
            <a:chOff x="2600780" y="4074496"/>
            <a:chExt cx="9041189" cy="4941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54C5214-83CF-8A28-E014-3C648F942D2E}"/>
                </a:ext>
              </a:extLst>
            </p:cNvPr>
            <p:cNvSpPr/>
            <p:nvPr/>
          </p:nvSpPr>
          <p:spPr>
            <a:xfrm>
              <a:off x="2600780" y="4074496"/>
              <a:ext cx="284866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>
                  <a:solidFill>
                    <a:schemeClr val="tx1"/>
                  </a:solidFill>
                </a:rPr>
                <a:t>Financiamento de bolsa perpétua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C54B8B6-BA9B-6299-75C5-98BD26949BDB}"/>
                </a:ext>
              </a:extLst>
            </p:cNvPr>
            <p:cNvSpPr/>
            <p:nvPr/>
          </p:nvSpPr>
          <p:spPr>
            <a:xfrm>
              <a:off x="8185214" y="4074496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Financiamento de </a:t>
              </a:r>
              <a:r>
                <a:rPr lang="pt-BR" sz="1300" b="1">
                  <a:solidFill>
                    <a:schemeClr val="tx1"/>
                  </a:solidFill>
                </a:rPr>
                <a:t>bolsa de intercâmbio </a:t>
              </a:r>
              <a:r>
                <a:rPr lang="pt-BR" sz="1300">
                  <a:solidFill>
                    <a:schemeClr val="tx1"/>
                  </a:solidFill>
                </a:rPr>
                <a:t>por </a:t>
              </a:r>
              <a:r>
                <a:rPr lang="pt-BR" sz="1300" b="1">
                  <a:solidFill>
                    <a:schemeClr val="tx1"/>
                  </a:solidFill>
                </a:rPr>
                <a:t>pelo menos 15 anos (1 aluno/ano)</a:t>
              </a:r>
              <a:endParaRPr lang="pt-BR" sz="130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D14FFF9-02EA-0BF8-1C51-B41B1A292B9D}"/>
                </a:ext>
              </a:extLst>
            </p:cNvPr>
            <p:cNvSpPr/>
            <p:nvPr/>
          </p:nvSpPr>
          <p:spPr>
            <a:xfrm>
              <a:off x="5740078" y="4074496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b="1">
                  <a:solidFill>
                    <a:schemeClr val="tx1"/>
                  </a:solidFill>
                </a:rPr>
                <a:t>800k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10CA6D3-0EF1-3965-EE00-DD0B5D013D2C}"/>
              </a:ext>
            </a:extLst>
          </p:cNvPr>
          <p:cNvSpPr/>
          <p:nvPr/>
        </p:nvSpPr>
        <p:spPr>
          <a:xfrm>
            <a:off x="487349" y="1688922"/>
            <a:ext cx="2046044" cy="4941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600" b="1" err="1">
                <a:solidFill>
                  <a:schemeClr val="tx1"/>
                </a:solidFill>
              </a:rPr>
              <a:t>Endowment</a:t>
            </a:r>
            <a:r>
              <a:rPr lang="pt-BR" sz="1600" b="1">
                <a:solidFill>
                  <a:schemeClr val="tx1"/>
                </a:solidFill>
              </a:rPr>
              <a:t> (geral)</a:t>
            </a:r>
          </a:p>
        </p:txBody>
      </p:sp>
      <p:pic>
        <p:nvPicPr>
          <p:cNvPr id="28" name="CustomIcon">
            <a:extLst>
              <a:ext uri="{FF2B5EF4-FFF2-40B4-BE49-F238E27FC236}">
                <a16:creationId xmlns:a16="http://schemas.microsoft.com/office/drawing/2014/main" id="{317DB641-2FC2-37AB-287C-4EA5202D0ED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1511" y="1724177"/>
            <a:ext cx="423600" cy="42360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88331AA-98C9-0161-5A59-F35D68F5C57F}"/>
              </a:ext>
            </a:extLst>
          </p:cNvPr>
          <p:cNvGrpSpPr/>
          <p:nvPr/>
        </p:nvGrpSpPr>
        <p:grpSpPr>
          <a:xfrm>
            <a:off x="2591449" y="1688922"/>
            <a:ext cx="9041189" cy="494110"/>
            <a:chOff x="2593732" y="5778610"/>
            <a:chExt cx="9041189" cy="4941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F1A7ED-0962-DB9B-CFAB-DF59BF53C747}"/>
                </a:ext>
              </a:extLst>
            </p:cNvPr>
            <p:cNvSpPr/>
            <p:nvPr/>
          </p:nvSpPr>
          <p:spPr>
            <a:xfrm>
              <a:off x="2593732" y="5778610"/>
              <a:ext cx="299553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>
                  <a:solidFill>
                    <a:schemeClr val="tx1"/>
                  </a:solidFill>
                </a:rPr>
                <a:t>Doação para o </a:t>
              </a:r>
              <a:r>
                <a:rPr lang="pt-BR" sz="1400" err="1">
                  <a:solidFill>
                    <a:schemeClr val="tx1"/>
                  </a:solidFill>
                </a:rPr>
                <a:t>endowment</a:t>
              </a:r>
              <a:r>
                <a:rPr lang="pt-BR" sz="1400">
                  <a:solidFill>
                    <a:schemeClr val="tx1"/>
                  </a:solidFill>
                </a:rPr>
                <a:t> para uso perpétuo em diversos programas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8267F8-706B-C727-42CC-6F3A7C9F559A}"/>
                </a:ext>
              </a:extLst>
            </p:cNvPr>
            <p:cNvSpPr/>
            <p:nvPr/>
          </p:nvSpPr>
          <p:spPr>
            <a:xfrm>
              <a:off x="8178166" y="5778610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Investimento no fundo cujos rendimentos serão utilizados em </a:t>
              </a:r>
              <a:r>
                <a:rPr lang="pt-BR" sz="1300" b="1">
                  <a:solidFill>
                    <a:schemeClr val="tx1"/>
                  </a:solidFill>
                </a:rPr>
                <a:t>projetos do Reditus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03F975-3E32-BB1E-65CE-82E70B658468}"/>
                </a:ext>
              </a:extLst>
            </p:cNvPr>
            <p:cNvSpPr/>
            <p:nvPr/>
          </p:nvSpPr>
          <p:spPr>
            <a:xfrm>
              <a:off x="5733030" y="5778610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400">
                  <a:solidFill>
                    <a:schemeClr val="tx1"/>
                  </a:solidFill>
                </a:rPr>
                <a:t>Valor desejado</a:t>
              </a:r>
              <a:endParaRPr lang="pt-BR" sz="20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84" name="Google Shape;713;g3337748aba8_0_0">
            <a:extLst>
              <a:ext uri="{FF2B5EF4-FFF2-40B4-BE49-F238E27FC236}">
                <a16:creationId xmlns:a16="http://schemas.microsoft.com/office/drawing/2014/main" id="{54A0549A-873B-5C77-5731-E317784ABF04}"/>
              </a:ext>
            </a:extLst>
          </p:cNvPr>
          <p:cNvCxnSpPr>
            <a:cxnSpLocks/>
          </p:cNvCxnSpPr>
          <p:nvPr/>
        </p:nvCxnSpPr>
        <p:spPr>
          <a:xfrm flipV="1">
            <a:off x="554736" y="5047196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oogle Shape;713;g3337748aba8_0_0">
            <a:extLst>
              <a:ext uri="{FF2B5EF4-FFF2-40B4-BE49-F238E27FC236}">
                <a16:creationId xmlns:a16="http://schemas.microsoft.com/office/drawing/2014/main" id="{7FE2D604-76CF-24CC-6879-F558250B8EB9}"/>
              </a:ext>
            </a:extLst>
          </p:cNvPr>
          <p:cNvCxnSpPr>
            <a:cxnSpLocks/>
          </p:cNvCxnSpPr>
          <p:nvPr/>
        </p:nvCxnSpPr>
        <p:spPr>
          <a:xfrm>
            <a:off x="2658119" y="4338146"/>
            <a:ext cx="8977313" cy="1188"/>
          </a:xfrm>
          <a:prstGeom prst="straightConnector1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BF1037B-6A34-5F0B-2787-0F66CB1A4C70}"/>
              </a:ext>
            </a:extLst>
          </p:cNvPr>
          <p:cNvGrpSpPr/>
          <p:nvPr/>
        </p:nvGrpSpPr>
        <p:grpSpPr>
          <a:xfrm>
            <a:off x="2593732" y="5855704"/>
            <a:ext cx="9041189" cy="494705"/>
            <a:chOff x="2593732" y="3506655"/>
            <a:chExt cx="9041189" cy="494705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321A378-FCFD-CE38-E241-2B22DD0CF4C9}"/>
                </a:ext>
              </a:extLst>
            </p:cNvPr>
            <p:cNvSpPr/>
            <p:nvPr/>
          </p:nvSpPr>
          <p:spPr>
            <a:xfrm>
              <a:off x="2593732" y="3507250"/>
              <a:ext cx="2855713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>
                  <a:solidFill>
                    <a:schemeClr val="tx1"/>
                  </a:solidFill>
                </a:rPr>
                <a:t>Patrono de projeto no Edital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B49DEBB-5981-C9A0-C7BC-862A714DB7CF}"/>
                </a:ext>
              </a:extLst>
            </p:cNvPr>
            <p:cNvSpPr/>
            <p:nvPr/>
          </p:nvSpPr>
          <p:spPr>
            <a:xfrm>
              <a:off x="8178166" y="3507250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Doação </a:t>
              </a:r>
              <a:r>
                <a:rPr lang="pt-BR" sz="1300" b="1">
                  <a:solidFill>
                    <a:schemeClr val="tx1"/>
                  </a:solidFill>
                </a:rPr>
                <a:t>direta, </a:t>
              </a:r>
              <a:r>
                <a:rPr lang="pt-BR" sz="1300">
                  <a:solidFill>
                    <a:schemeClr val="tx1"/>
                  </a:solidFill>
                </a:rPr>
                <a:t>com garantia de </a:t>
              </a:r>
              <a:r>
                <a:rPr lang="pt-BR" sz="1300" b="1">
                  <a:solidFill>
                    <a:schemeClr val="tx1"/>
                  </a:solidFill>
                </a:rPr>
                <a:t>título de Patrono </a:t>
              </a:r>
              <a:r>
                <a:rPr lang="pt-BR" sz="1300">
                  <a:solidFill>
                    <a:schemeClr val="tx1"/>
                  </a:solidFill>
                </a:rPr>
                <a:t>de </a:t>
              </a:r>
              <a:r>
                <a:rPr lang="pt-BR" sz="1300" b="1">
                  <a:solidFill>
                    <a:schemeClr val="tx1"/>
                  </a:solidFill>
                </a:rPr>
                <a:t>pelo menos um projeto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AAB2973-7A71-F576-0094-8C6962864925}"/>
                </a:ext>
              </a:extLst>
            </p:cNvPr>
            <p:cNvSpPr/>
            <p:nvPr/>
          </p:nvSpPr>
          <p:spPr>
            <a:xfrm>
              <a:off x="5740078" y="3506655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200">
                  <a:solidFill>
                    <a:schemeClr val="tx1"/>
                  </a:solidFill>
                </a:rPr>
                <a:t>A partir de</a:t>
              </a:r>
              <a:r>
                <a:rPr lang="pt-BR" sz="1200" b="1">
                  <a:solidFill>
                    <a:schemeClr val="tx1"/>
                  </a:solidFill>
                </a:rPr>
                <a:t> </a:t>
              </a:r>
              <a:r>
                <a:rPr lang="pt-BR" b="1">
                  <a:solidFill>
                    <a:schemeClr val="tx1"/>
                  </a:solidFill>
                </a:rPr>
                <a:t>50k</a:t>
              </a:r>
            </a:p>
          </p:txBody>
        </p:sp>
      </p:grpSp>
      <p:cxnSp>
        <p:nvCxnSpPr>
          <p:cNvPr id="30" name="Google Shape;713;g3337748aba8_0_0">
            <a:extLst>
              <a:ext uri="{FF2B5EF4-FFF2-40B4-BE49-F238E27FC236}">
                <a16:creationId xmlns:a16="http://schemas.microsoft.com/office/drawing/2014/main" id="{2B3AB603-818A-B496-144D-7C70F1AF1129}"/>
              </a:ext>
            </a:extLst>
          </p:cNvPr>
          <p:cNvCxnSpPr>
            <a:cxnSpLocks/>
          </p:cNvCxnSpPr>
          <p:nvPr/>
        </p:nvCxnSpPr>
        <p:spPr>
          <a:xfrm flipV="1">
            <a:off x="554736" y="2290206"/>
            <a:ext cx="11080751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4419F4-8BF4-628C-D003-FFABC52209A4}"/>
              </a:ext>
            </a:extLst>
          </p:cNvPr>
          <p:cNvGrpSpPr/>
          <p:nvPr/>
        </p:nvGrpSpPr>
        <p:grpSpPr>
          <a:xfrm>
            <a:off x="2593732" y="2397379"/>
            <a:ext cx="9041189" cy="494110"/>
            <a:chOff x="2593732" y="1803136"/>
            <a:chExt cx="9041189" cy="49411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23AD7EA-9AC7-555E-6B16-3EBABEAAF27A}"/>
                </a:ext>
              </a:extLst>
            </p:cNvPr>
            <p:cNvSpPr/>
            <p:nvPr/>
          </p:nvSpPr>
          <p:spPr>
            <a:xfrm>
              <a:off x="2593732" y="1803136"/>
              <a:ext cx="2855713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>
                  <a:solidFill>
                    <a:schemeClr val="tx1"/>
                  </a:solidFill>
                </a:rPr>
                <a:t>Financiamento de bolsa perpétua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E925AB5-CB68-3672-A9F5-BAE457B7A3EC}"/>
                </a:ext>
              </a:extLst>
            </p:cNvPr>
            <p:cNvSpPr/>
            <p:nvPr/>
          </p:nvSpPr>
          <p:spPr>
            <a:xfrm>
              <a:off x="8178166" y="1803136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Financiamento de </a:t>
              </a:r>
              <a:r>
                <a:rPr lang="pt-BR" sz="1300" b="1">
                  <a:solidFill>
                    <a:schemeClr val="tx1"/>
                  </a:solidFill>
                </a:rPr>
                <a:t>bolsa de estudos </a:t>
              </a:r>
              <a:r>
                <a:rPr lang="pt-BR" sz="1300">
                  <a:solidFill>
                    <a:schemeClr val="tx1"/>
                  </a:solidFill>
                </a:rPr>
                <a:t>por </a:t>
              </a:r>
              <a:r>
                <a:rPr lang="pt-BR" sz="1300" b="1">
                  <a:solidFill>
                    <a:schemeClr val="tx1"/>
                  </a:solidFill>
                </a:rPr>
                <a:t>pelo menos 15 anos (1 aluno/ano)</a:t>
              </a:r>
              <a:endParaRPr lang="pt-BR" sz="130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1B89DC4-131B-291F-AA91-BD2498DEFD29}"/>
                </a:ext>
              </a:extLst>
            </p:cNvPr>
            <p:cNvSpPr/>
            <p:nvPr/>
          </p:nvSpPr>
          <p:spPr>
            <a:xfrm>
              <a:off x="5733030" y="1803136"/>
              <a:ext cx="2154502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b="1">
                  <a:solidFill>
                    <a:schemeClr val="tx1"/>
                  </a:solidFill>
                </a:rPr>
                <a:t>200k</a:t>
              </a:r>
            </a:p>
          </p:txBody>
        </p:sp>
      </p:grpSp>
      <p:sp>
        <p:nvSpPr>
          <p:cNvPr id="19" name="Retângulo 18">
            <a:extLst>
              <a:ext uri="{FF2B5EF4-FFF2-40B4-BE49-F238E27FC236}">
                <a16:creationId xmlns:a16="http://schemas.microsoft.com/office/drawing/2014/main" id="{240A5615-D7F4-98B5-D1A5-DC72B003E402}"/>
              </a:ext>
            </a:extLst>
          </p:cNvPr>
          <p:cNvSpPr/>
          <p:nvPr/>
        </p:nvSpPr>
        <p:spPr>
          <a:xfrm>
            <a:off x="12252499" y="0"/>
            <a:ext cx="2062482" cy="3630283"/>
          </a:xfrm>
          <a:prstGeom prst="rect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pt-BR" sz="1600">
                <a:solidFill>
                  <a:schemeClr val="bg1"/>
                </a:solidFill>
              </a:rPr>
              <a:t>Associados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2E8FD8E3-B5B0-DB7C-7E1C-AC0A00430C5A}"/>
              </a:ext>
            </a:extLst>
          </p:cNvPr>
          <p:cNvGrpSpPr/>
          <p:nvPr/>
        </p:nvGrpSpPr>
        <p:grpSpPr>
          <a:xfrm>
            <a:off x="2599123" y="3062812"/>
            <a:ext cx="9041189" cy="494110"/>
            <a:chOff x="2600780" y="4642930"/>
            <a:chExt cx="9041189" cy="494110"/>
          </a:xfrm>
        </p:grpSpPr>
        <p:sp>
          <p:nvSpPr>
            <p:cNvPr id="9" name="Rectangle 20">
              <a:extLst>
                <a:ext uri="{FF2B5EF4-FFF2-40B4-BE49-F238E27FC236}">
                  <a16:creationId xmlns:a16="http://schemas.microsoft.com/office/drawing/2014/main" id="{16932561-C939-AD55-4C23-197AF70F5DE4}"/>
                </a:ext>
              </a:extLst>
            </p:cNvPr>
            <p:cNvSpPr/>
            <p:nvPr/>
          </p:nvSpPr>
          <p:spPr>
            <a:xfrm>
              <a:off x="2600780" y="4642930"/>
              <a:ext cx="284866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1400">
                  <a:solidFill>
                    <a:schemeClr val="tx1"/>
                  </a:solidFill>
                </a:rPr>
                <a:t>Financiamento de uma bolsa</a:t>
              </a: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02943310-ACE2-93BC-C953-AC0973DA7EB0}"/>
                </a:ext>
              </a:extLst>
            </p:cNvPr>
            <p:cNvSpPr/>
            <p:nvPr/>
          </p:nvSpPr>
          <p:spPr>
            <a:xfrm>
              <a:off x="8185214" y="4642930"/>
              <a:ext cx="3456755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chemeClr val="tx1"/>
                  </a:solidFill>
                </a:rPr>
                <a:t>Doação direta para a </a:t>
              </a:r>
              <a:r>
                <a:rPr lang="pt-BR" sz="1300" b="1">
                  <a:solidFill>
                    <a:schemeClr val="tx1"/>
                  </a:solidFill>
                </a:rPr>
                <a:t>bolsa</a:t>
              </a:r>
            </a:p>
          </p:txBody>
        </p:sp>
        <p:sp>
          <p:nvSpPr>
            <p:cNvPr id="16" name="Rectangle 21">
              <a:extLst>
                <a:ext uri="{FF2B5EF4-FFF2-40B4-BE49-F238E27FC236}">
                  <a16:creationId xmlns:a16="http://schemas.microsoft.com/office/drawing/2014/main" id="{ABD9A0FB-07DC-D80E-3FF8-0E956BC2AA64}"/>
                </a:ext>
              </a:extLst>
            </p:cNvPr>
            <p:cNvSpPr/>
            <p:nvPr/>
          </p:nvSpPr>
          <p:spPr>
            <a:xfrm>
              <a:off x="5740077" y="4642930"/>
              <a:ext cx="2146829" cy="494110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b="1">
                  <a:solidFill>
                    <a:schemeClr val="tx1"/>
                  </a:solidFill>
                </a:rPr>
                <a:t>50k¹</a:t>
              </a:r>
              <a:endParaRPr lang="pt-BR" sz="1300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Google Shape;713;g3337748aba8_0_0">
            <a:extLst>
              <a:ext uri="{FF2B5EF4-FFF2-40B4-BE49-F238E27FC236}">
                <a16:creationId xmlns:a16="http://schemas.microsoft.com/office/drawing/2014/main" id="{5CC81F10-D4DD-AA8E-3D87-A77A880AFFE5}"/>
              </a:ext>
            </a:extLst>
          </p:cNvPr>
          <p:cNvCxnSpPr>
            <a:cxnSpLocks/>
          </p:cNvCxnSpPr>
          <p:nvPr/>
        </p:nvCxnSpPr>
        <p:spPr>
          <a:xfrm>
            <a:off x="2658119" y="2960557"/>
            <a:ext cx="8977313" cy="1188"/>
          </a:xfrm>
          <a:prstGeom prst="straightConnector1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4. Footnote">
            <a:extLst>
              <a:ext uri="{FF2B5EF4-FFF2-40B4-BE49-F238E27FC236}">
                <a16:creationId xmlns:a16="http://schemas.microsoft.com/office/drawing/2014/main" id="{75A7D073-54DC-D635-0673-E146BBFD6C0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6" y="6470420"/>
            <a:ext cx="90058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219075" marR="0" lvl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pt-BR" sz="800">
                <a:cs typeface="Arial" panose="020B0604020202020204" pitchFamily="34" charset="0"/>
              </a:rPr>
              <a:t>Restrito para associados</a:t>
            </a:r>
            <a:endParaRPr lang="en-US" sz="800" kern="1200"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313598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65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BTFPCOLUMNGUIDE" val="Visible"/>
  <p:tag name="MEKKOFORMATS" val="&lt;MekkoFormats&gt;&lt;NumberFormat DecimalSeparator=&quot;.&quot; ThousandSeparator=&quot;,&quot; NegativeNumberFormat=&quot;1&quot; /&gt;&lt;DateFormat CultureID=&quot;1046&quot; FormatString=&quot;dd/MM/yyyy&quot; /&gt;&lt;Font&gt;&lt;Output_Font_Name Default=&quot;Arial&quot; UsePPTTheme=&quot;True&quot; /&gt;&lt;/Font&gt;&lt;/MekkoFormats&gt;"/>
  <p:tag name="BAINFLOWCONTROLSECTIONVIEW" val="True"/>
  <p:tag name="BAINFLOWCONTROLAUTOCOLLAPSESECTIONS" val="True"/>
  <p:tag name="LINKEDPICTURESLINKREMOVED" val="True"/>
  <p:tag name="ICONENCLOSURE" val="False"/>
  <p:tag name="ICONLINEFILL" val="Color [A=255, R=0, G=0, B=0]"/>
  <p:tag name="ICONLINEFILLTHEME" val="Text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  <p:tag name="SLIDELOOKUP" val="20251110182840480256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  <p:tag name="SLIDELOOKUP" val="202511101828459022147477714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0"/>
  <p:tag name="SLIDELOOKUP" val="2025111018284665021474777193-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tw2WTHm9rlo6VYtUXTN1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W6nO5hWDzMbpFQ2c2ft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W6nO5hWDzMbpFQ2c2ft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W6nO5hWDzMbpFQ2c2ft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W6nO5hWDzMbpFQ2c2ft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W6nO5hWDzMbpFQ2c2ft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  <p:tag name="SLIDELOOKUP" val="202511101828509082147477615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  <p:tag name="SLIDELOOKUP" val="202511101828515552147477637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  <p:tag name="SLIDELOOKUP" val="202511101828519662147477614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  <p:tag name="SLIDELOOKUP" val="202511101828527362147477715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  <p:tag name="SLIDELOOKUP" val="202511101828545052147477721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HEIGHT" val="540"/>
  <p:tag name="BTFPWIDTH" val="405"/>
  <p:tag name="BTFPLAYOUTENABLED" val="0"/>
  <p:tag name="BTFPLAYOUTANCHORELEFT" val="True"/>
  <p:tag name="BTFPLAYOUTANCHORERIGHT" val="False"/>
  <p:tag name="BTFPLAYOUTANCHORETOP" val="True"/>
  <p:tag name="BTFPLAYOUTANCHOREBOTTOM" val="Fals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  <p:tag name="SLIDELOOKUP" val="2025111023490148421474777161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  <p:tag name="SLIDELOOKUP" val="202511102349097272147477722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  <p:tag name="SLIDELOOKUP" val="202511281545419744172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8"/>
  <p:tag name="2LEVEL" val="9"/>
  <p:tag name="3LEVEL" val="4.5"/>
  <p:tag name="4LEVEL" val="2.25"/>
  <p:tag name="5LEVEL" val="1.1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8"/>
  <p:tag name="2LEVEL" val="9"/>
  <p:tag name="3LEVEL" val="4.5"/>
  <p:tag name="4LEVEL" val="2.25"/>
  <p:tag name="5LEVEL" val="1.1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8"/>
  <p:tag name="2LEVEL" val="9"/>
  <p:tag name="3LEVEL" val="4.5"/>
  <p:tag name="4LEVEL" val="2.25"/>
  <p:tag name="5LEVEL" val="1.1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8"/>
  <p:tag name="2LEVEL" val="9"/>
  <p:tag name="3LEVEL" val="4.5"/>
  <p:tag name="4LEVEL" val="2.25"/>
  <p:tag name="5LEVEL" val="1.1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8"/>
  <p:tag name="2LEVEL" val="9"/>
  <p:tag name="3LEVEL" val="4.5"/>
  <p:tag name="4LEVEL" val="2.25"/>
  <p:tag name="5LEVEL" val="1.1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8"/>
  <p:tag name="2LEVEL" val="9"/>
  <p:tag name="3LEVEL" val="4.5"/>
  <p:tag name="4LEVEL" val="2.25"/>
  <p:tag name="5LEVEL" val="1.1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  <p:tag name="SLIDELOOKUP" val="2025111100001375021474777171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  <p:tag name="SLIDELOOKUP" val="20251110182840480256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128163329648214747769932"/>
  <p:tag name="BTFPLAYOUTENABLED" val="1"/>
  <p:tag name="BTFPLAYOUTCOLUMNS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128163329648214747769932"/>
  <p:tag name="BTFPLAYOUTENABLED" val="1"/>
  <p:tag name="BTFPLAYOUTCOLUMNS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128163329648214747769932"/>
  <p:tag name="BTFPLAYOUTENABLED" val="1"/>
  <p:tag name="BTFPLAYOUTCOLUMNS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128163329648214747769932"/>
  <p:tag name="BTFPLAYOUTENABLED" val="1"/>
  <p:tag name="BTFPLAYOUTCOLUMNS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128163331202214747770034"/>
  <p:tag name="BTFPLAYOUTENABLED" val="1"/>
  <p:tag name="BTFPLAYOUTCOLUMNS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heme/theme1.xml><?xml version="1.0" encoding="utf-8"?>
<a:theme xmlns:a="http://schemas.openxmlformats.org/drawingml/2006/main" name="1_Black_04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51C2C"/>
      </a:accent1>
      <a:accent2>
        <a:srgbClr val="00A9F4"/>
      </a:accent2>
      <a:accent3>
        <a:srgbClr val="2251FF"/>
      </a:accent3>
      <a:accent4>
        <a:srgbClr val="AAE6F0"/>
      </a:accent4>
      <a:accent5>
        <a:srgbClr val="3C96B4"/>
      </a:accent5>
      <a:accent6>
        <a:srgbClr val="AFC3FF"/>
      </a:accent6>
      <a:hlink>
        <a:srgbClr val="1F40E6"/>
      </a:hlink>
      <a:folHlink>
        <a:srgbClr val="8C5A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17505</TotalTime>
  <Words>2357</Words>
  <Application>Microsoft Office PowerPoint</Application>
  <PresentationFormat>Widescreen</PresentationFormat>
  <Paragraphs>460</Paragraphs>
  <Slides>21</Slides>
  <Notes>6</Notes>
  <HiddenSlides>15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Wingdings</vt:lpstr>
      <vt:lpstr>Open Sans</vt:lpstr>
      <vt:lpstr>Hammersmith One</vt:lpstr>
      <vt:lpstr>Arial</vt:lpstr>
      <vt:lpstr>Quattrocento Sans</vt:lpstr>
      <vt:lpstr>Georgia</vt:lpstr>
      <vt:lpstr>1_Black_04</vt:lpstr>
      <vt:lpstr>thinkcell Slide</vt:lpstr>
      <vt:lpstr>PowerPoint Presentation</vt:lpstr>
      <vt:lpstr>PowerPoint Presentation</vt:lpstr>
      <vt:lpstr>O que é o Instituto Reditus?</vt:lpstr>
      <vt:lpstr>Para alcançar o patamar atual, o Instituto Reditus percorreu diferentes etapas, contando com a dedicação de diversos voluntários movidos pelo sentimento de retribuição</vt:lpstr>
      <vt:lpstr>Operamos com uma governança robusta, liderada por ex-alunos de renome formados na UFRJ e parcerias de peso</vt:lpstr>
      <vt:lpstr>Fundos Endowments no Brasil e seu crescimento</vt:lpstr>
      <vt:lpstr>Pilares e projetos do Instituto Reditus</vt:lpstr>
      <vt:lpstr>Existem 3 principais formas de engajamento de ex-alunos com o Instituto Reditus, com benefícios para nossos doadores</vt:lpstr>
      <vt:lpstr>No entanto, ainda há muito caminho pela frente, e sonhamos em mudar o patamar da educação no Brasil e na UFRJ, assim como os fundos de endowment fazem mundo afora</vt:lpstr>
      <vt:lpstr>PowerPoint Presentation</vt:lpstr>
      <vt:lpstr>PowerPoint Presentation</vt:lpstr>
      <vt:lpstr>PowerPoint Presentation</vt:lpstr>
      <vt:lpstr>PowerPoint Presentation</vt:lpstr>
      <vt:lpstr>Nosso sonho é crescer de R$24M para +R$100M e fazer muito mais pela UFRJ e pelo Brasil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Rodrigo Affonso</dc:creator>
  <cp:lastModifiedBy>Oliveira, Patrick</cp:lastModifiedBy>
  <cp:revision>40</cp:revision>
  <dcterms:created xsi:type="dcterms:W3CDTF">2022-05-22T15:03:50Z</dcterms:created>
  <dcterms:modified xsi:type="dcterms:W3CDTF">2026-10-29T23:55:37Z</dcterms:modified>
</cp:coreProperties>
</file>